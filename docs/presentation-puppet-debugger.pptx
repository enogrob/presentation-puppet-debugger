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78" r:id="rId3"/>
    <p:sldId id="271" r:id="rId4"/>
    <p:sldId id="280" r:id="rId5"/>
    <p:sldId id="263" r:id="rId6"/>
    <p:sldId id="282" r:id="rId7"/>
    <p:sldId id="292" r:id="rId8"/>
    <p:sldId id="281" r:id="rId9"/>
    <p:sldId id="283" r:id="rId10"/>
    <p:sldId id="284" r:id="rId11"/>
    <p:sldId id="289" r:id="rId12"/>
    <p:sldId id="285" r:id="rId13"/>
    <p:sldId id="291" r:id="rId14"/>
    <p:sldId id="290" r:id="rId15"/>
    <p:sldId id="286" r:id="rId16"/>
    <p:sldId id="293" r:id="rId17"/>
    <p:sldId id="294" r:id="rId18"/>
    <p:sldId id="295" r:id="rId19"/>
    <p:sldId id="287" r:id="rId20"/>
    <p:sldId id="296" r:id="rId21"/>
    <p:sldId id="288" r:id="rId22"/>
    <p:sldId id="264" r:id="rId23"/>
    <p:sldId id="275" r:id="rId24"/>
    <p:sldId id="279" r:id="rId25"/>
    <p:sldId id="274" r:id="rId26"/>
    <p:sldId id="269" r:id="rId27"/>
    <p:sldId id="272"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FE3B1A-B1FC-4F51-A658-37CA57EA7B56}" v="1495" dt="2022-05-21T00:25:43.963"/>
    <p1510:client id="{55C757C2-806E-593D-5C96-4B874A25BE8F}" v="837" dt="2022-04-09T06:36:34.914"/>
    <p1510:client id="{929F5F19-8F1C-943E-0222-6D3219759001}" v="4" dt="2022-05-23T08:38:14.443"/>
    <p1510:client id="{CB3B232D-834F-4050-B4AC-178F4ED5BFE4}" v="30" dt="2022-04-09T05:22:22.148"/>
    <p1510:client id="{D2FBED19-5DE7-82BE-1321-448B682F9065}" v="105" dt="2022-05-23T09:04:47.464"/>
    <p1510:client id="{DC5978DF-3958-7532-8038-F262DC8DB3D3}" v="2225" dt="2022-05-22T23:40:28.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4.jpe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3" Type="http://schemas.openxmlformats.org/officeDocument/2006/relationships/image" Target="../media/image16.png"/><Relationship Id="rId18" Type="http://schemas.openxmlformats.org/officeDocument/2006/relationships/image" Target="../media/image21.png"/><Relationship Id="rId26" Type="http://schemas.openxmlformats.org/officeDocument/2006/relationships/image" Target="../media/image29.png"/><Relationship Id="rId39" Type="http://schemas.openxmlformats.org/officeDocument/2006/relationships/image" Target="../media/image42.png"/><Relationship Id="rId21" Type="http://schemas.openxmlformats.org/officeDocument/2006/relationships/image" Target="../media/image24.png"/><Relationship Id="rId34" Type="http://schemas.openxmlformats.org/officeDocument/2006/relationships/image" Target="../media/image37.png"/><Relationship Id="rId42" Type="http://schemas.openxmlformats.org/officeDocument/2006/relationships/image" Target="../media/image45.png"/><Relationship Id="rId47" Type="http://schemas.openxmlformats.org/officeDocument/2006/relationships/image" Target="../media/image50.png"/><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19.png"/><Relationship Id="rId29" Type="http://schemas.openxmlformats.org/officeDocument/2006/relationships/image" Target="../media/image32.png"/><Relationship Id="rId11" Type="http://schemas.openxmlformats.org/officeDocument/2006/relationships/image" Target="../media/image14.png"/><Relationship Id="rId24" Type="http://schemas.openxmlformats.org/officeDocument/2006/relationships/image" Target="../media/image27.png"/><Relationship Id="rId32" Type="http://schemas.openxmlformats.org/officeDocument/2006/relationships/image" Target="../media/image35.jpeg"/><Relationship Id="rId37" Type="http://schemas.openxmlformats.org/officeDocument/2006/relationships/image" Target="../media/image40.png"/><Relationship Id="rId40" Type="http://schemas.openxmlformats.org/officeDocument/2006/relationships/image" Target="../media/image43.png"/><Relationship Id="rId45" Type="http://schemas.openxmlformats.org/officeDocument/2006/relationships/image" Target="../media/image48.png"/><Relationship Id="rId5" Type="http://schemas.openxmlformats.org/officeDocument/2006/relationships/image" Target="../media/image8.png"/><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10" Type="http://schemas.openxmlformats.org/officeDocument/2006/relationships/image" Target="../media/image13.png"/><Relationship Id="rId19" Type="http://schemas.openxmlformats.org/officeDocument/2006/relationships/image" Target="../media/image22.png"/><Relationship Id="rId31" Type="http://schemas.openxmlformats.org/officeDocument/2006/relationships/image" Target="../media/image34.png"/><Relationship Id="rId44" Type="http://schemas.openxmlformats.org/officeDocument/2006/relationships/image" Target="../media/image47.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 Id="rId22" Type="http://schemas.openxmlformats.org/officeDocument/2006/relationships/image" Target="../media/image25.png"/><Relationship Id="rId27" Type="http://schemas.openxmlformats.org/officeDocument/2006/relationships/image" Target="../media/image30.png"/><Relationship Id="rId30" Type="http://schemas.openxmlformats.org/officeDocument/2006/relationships/image" Target="../media/image33.png"/><Relationship Id="rId35" Type="http://schemas.openxmlformats.org/officeDocument/2006/relationships/image" Target="../media/image38.png"/><Relationship Id="rId43" Type="http://schemas.openxmlformats.org/officeDocument/2006/relationships/image" Target="../media/image46.png"/><Relationship Id="rId48" Type="http://schemas.openxmlformats.org/officeDocument/2006/relationships/image" Target="../media/image51.png"/><Relationship Id="rId8" Type="http://schemas.openxmlformats.org/officeDocument/2006/relationships/image" Target="../media/image11.png"/><Relationship Id="rId3" Type="http://schemas.openxmlformats.org/officeDocument/2006/relationships/image" Target="../media/image6.png"/><Relationship Id="rId12" Type="http://schemas.openxmlformats.org/officeDocument/2006/relationships/image" Target="../media/image15.png"/><Relationship Id="rId17" Type="http://schemas.openxmlformats.org/officeDocument/2006/relationships/image" Target="../media/image20.png"/><Relationship Id="rId25" Type="http://schemas.openxmlformats.org/officeDocument/2006/relationships/image" Target="../media/image28.png"/><Relationship Id="rId33" Type="http://schemas.openxmlformats.org/officeDocument/2006/relationships/image" Target="../media/image36.png"/><Relationship Id="rId38" Type="http://schemas.openxmlformats.org/officeDocument/2006/relationships/image" Target="../media/image41.png"/><Relationship Id="rId46" Type="http://schemas.openxmlformats.org/officeDocument/2006/relationships/image" Target="../media/image49.png"/><Relationship Id="rId20" Type="http://schemas.openxmlformats.org/officeDocument/2006/relationships/image" Target="../media/image23.png"/><Relationship Id="rId41" Type="http://schemas.openxmlformats.org/officeDocument/2006/relationships/image" Target="../media/image44.png"/><Relationship Id="rId1" Type="http://schemas.openxmlformats.org/officeDocument/2006/relationships/slideMaster" Target="../slideMasters/slideMaster1.xml"/><Relationship Id="rId6"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9" Type="http://schemas.openxmlformats.org/officeDocument/2006/relationships/image" Target="../media/image90.png"/><Relationship Id="rId21" Type="http://schemas.openxmlformats.org/officeDocument/2006/relationships/image" Target="../media/image72.png"/><Relationship Id="rId34" Type="http://schemas.openxmlformats.org/officeDocument/2006/relationships/image" Target="../media/image85.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4.png"/><Relationship Id="rId38" Type="http://schemas.openxmlformats.org/officeDocument/2006/relationships/image" Target="../media/image89.png"/><Relationship Id="rId2" Type="http://schemas.openxmlformats.org/officeDocument/2006/relationships/image" Target="../media/image5.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80.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3.png"/><Relationship Id="rId37" Type="http://schemas.openxmlformats.org/officeDocument/2006/relationships/image" Target="../media/image88.png"/><Relationship Id="rId40" Type="http://schemas.openxmlformats.org/officeDocument/2006/relationships/image" Target="../media/image91.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9.png"/><Relationship Id="rId36" Type="http://schemas.openxmlformats.org/officeDocument/2006/relationships/image" Target="../media/image87.png"/><Relationship Id="rId10" Type="http://schemas.openxmlformats.org/officeDocument/2006/relationships/image" Target="../media/image61.png"/><Relationship Id="rId19" Type="http://schemas.openxmlformats.org/officeDocument/2006/relationships/image" Target="../media/image70.png"/><Relationship Id="rId31" Type="http://schemas.openxmlformats.org/officeDocument/2006/relationships/image" Target="../media/image82.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 Id="rId27" Type="http://schemas.openxmlformats.org/officeDocument/2006/relationships/image" Target="../media/image78.png"/><Relationship Id="rId30" Type="http://schemas.openxmlformats.org/officeDocument/2006/relationships/image" Target="../media/image81.png"/><Relationship Id="rId35" Type="http://schemas.openxmlformats.org/officeDocument/2006/relationships/image" Target="../media/image86.png"/><Relationship Id="rId8" Type="http://schemas.openxmlformats.org/officeDocument/2006/relationships/image" Target="../media/image59.png"/><Relationship Id="rId3" Type="http://schemas.openxmlformats.org/officeDocument/2006/relationships/image" Target="../media/image54.png"/></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5.png"/><Relationship Id="rId2" Type="http://schemas.openxmlformats.org/officeDocument/2006/relationships/tags" Target="../tags/tag2.xml"/><Relationship Id="rId1" Type="http://schemas.openxmlformats.org/officeDocument/2006/relationships/vmlDrawing" Target="../drawings/vmlDrawing2.vml"/><Relationship Id="rId6" Type="http://schemas.openxmlformats.org/officeDocument/2006/relationships/image" Target="../media/image92.emf"/><Relationship Id="rId5" Type="http://schemas.openxmlformats.org/officeDocument/2006/relationships/image" Target="../media/image3.emf"/><Relationship Id="rId4" Type="http://schemas.openxmlformats.org/officeDocument/2006/relationships/oleObject" Target="../embeddings/oleObject2.bin"/></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3.xml"/><Relationship Id="rId1" Type="http://schemas.openxmlformats.org/officeDocument/2006/relationships/vmlDrawing" Target="../drawings/vmlDrawing3.vml"/><Relationship Id="rId6" Type="http://schemas.openxmlformats.org/officeDocument/2006/relationships/image" Target="../media/image3.emf"/><Relationship Id="rId5" Type="http://schemas.openxmlformats.org/officeDocument/2006/relationships/oleObject" Target="../embeddings/oleObject3.bin"/><Relationship Id="rId4" Type="http://schemas.openxmlformats.org/officeDocument/2006/relationships/image" Target="../media/image93.jpe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4.xml"/><Relationship Id="rId1" Type="http://schemas.openxmlformats.org/officeDocument/2006/relationships/vmlDrawing" Target="../drawings/vmlDrawing4.vml"/><Relationship Id="rId6" Type="http://schemas.openxmlformats.org/officeDocument/2006/relationships/image" Target="../media/image3.emf"/><Relationship Id="rId5" Type="http://schemas.openxmlformats.org/officeDocument/2006/relationships/oleObject" Target="../embeddings/oleObject4.bin"/><Relationship Id="rId4" Type="http://schemas.openxmlformats.org/officeDocument/2006/relationships/image" Target="../media/image94.jpe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inal Slide 1">
    <p:spTree>
      <p:nvGrpSpPr>
        <p:cNvPr id="1" name=""/>
        <p:cNvGrpSpPr/>
        <p:nvPr/>
      </p:nvGrpSpPr>
      <p:grpSpPr>
        <a:xfrm>
          <a:off x="0" y="0"/>
          <a:ext cx="0" cy="0"/>
          <a:chOff x="0" y="0"/>
          <a:chExt cx="0" cy="0"/>
        </a:xfrm>
      </p:grpSpPr>
      <p:pic>
        <p:nvPicPr>
          <p:cNvPr id="3" name="Picture 2" descr="A large bridge over water&#10;&#10;Description automatically generated with low confidence">
            <a:extLst>
              <a:ext uri="{FF2B5EF4-FFF2-40B4-BE49-F238E27FC236}">
                <a16:creationId xmlns:a16="http://schemas.microsoft.com/office/drawing/2014/main" id="{9A528685-8C04-1145-9D0A-EF9DAAB1595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Google Shape;25;p28">
            <a:extLst>
              <a:ext uri="{FF2B5EF4-FFF2-40B4-BE49-F238E27FC236}">
                <a16:creationId xmlns:a16="http://schemas.microsoft.com/office/drawing/2014/main" id="{6ECFDF7F-FB87-7748-AC07-B6F3122D45BA}"/>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TextBox 4">
            <a:extLst>
              <a:ext uri="{FF2B5EF4-FFF2-40B4-BE49-F238E27FC236}">
                <a16:creationId xmlns:a16="http://schemas.microsoft.com/office/drawing/2014/main" id="{D2F69DEB-6CAB-4E4B-8931-E4D5FE7C461F}"/>
              </a:ext>
            </a:extLst>
          </p:cNvPr>
          <p:cNvSpPr txBox="1"/>
          <p:nvPr userDrawn="1"/>
        </p:nvSpPr>
        <p:spPr>
          <a:xfrm>
            <a:off x="1238657" y="3247489"/>
            <a:ext cx="4711715"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solidFill>
                  <a:schemeClr val="bg1"/>
                </a:solidFill>
                <a:latin typeface="Montserrat" pitchFamily="2" charset="77"/>
              </a:rPr>
              <a:t>The quality software development partner who </a:t>
            </a:r>
            <a:r>
              <a:rPr lang="en-US" sz="1800" b="1" i="0">
                <a:solidFill>
                  <a:schemeClr val="bg1"/>
                </a:solidFill>
                <a:latin typeface="Montserrat SemiBold" pitchFamily="2" charset="77"/>
              </a:rPr>
              <a:t>significantly accelerates </a:t>
            </a:r>
            <a:r>
              <a:rPr lang="en-US" sz="1800">
                <a:solidFill>
                  <a:schemeClr val="bg1"/>
                </a:solidFill>
                <a:latin typeface="Montserrat" pitchFamily="2" charset="77"/>
              </a:rPr>
              <a:t>your time-to-market.</a:t>
            </a:r>
          </a:p>
        </p:txBody>
      </p:sp>
      <p:pic>
        <p:nvPicPr>
          <p:cNvPr id="6" name="Picture 5" descr="A picture containing text, clipart&#10;&#10;Description automatically generated">
            <a:extLst>
              <a:ext uri="{FF2B5EF4-FFF2-40B4-BE49-F238E27FC236}">
                <a16:creationId xmlns:a16="http://schemas.microsoft.com/office/drawing/2014/main" id="{49D067D6-3B47-D74F-8213-A28573DF95CA}"/>
              </a:ext>
            </a:extLst>
          </p:cNvPr>
          <p:cNvPicPr>
            <a:picLocks noChangeAspect="1"/>
          </p:cNvPicPr>
          <p:nvPr userDrawn="1"/>
        </p:nvPicPr>
        <p:blipFill>
          <a:blip r:embed="rId3"/>
          <a:stretch>
            <a:fillRect/>
          </a:stretch>
        </p:blipFill>
        <p:spPr>
          <a:xfrm>
            <a:off x="6539168" y="3217993"/>
            <a:ext cx="3695833" cy="1085810"/>
          </a:xfrm>
          <a:prstGeom prst="rect">
            <a:avLst/>
          </a:prstGeom>
        </p:spPr>
      </p:pic>
      <p:cxnSp>
        <p:nvCxnSpPr>
          <p:cNvPr id="7" name="Straight Connector 6">
            <a:extLst>
              <a:ext uri="{FF2B5EF4-FFF2-40B4-BE49-F238E27FC236}">
                <a16:creationId xmlns:a16="http://schemas.microsoft.com/office/drawing/2014/main" id="{BAFADF78-F243-DA4E-9213-71DE7DB60F5E}"/>
              </a:ext>
            </a:extLst>
          </p:cNvPr>
          <p:cNvCxnSpPr/>
          <p:nvPr userDrawn="1"/>
        </p:nvCxnSpPr>
        <p:spPr>
          <a:xfrm>
            <a:off x="6145160" y="3028335"/>
            <a:ext cx="0" cy="127546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ext Placeholder 13">
            <a:extLst>
              <a:ext uri="{FF2B5EF4-FFF2-40B4-BE49-F238E27FC236}">
                <a16:creationId xmlns:a16="http://schemas.microsoft.com/office/drawing/2014/main" id="{FCAD1462-0700-FE40-9673-54DA2A6CB7D8}"/>
              </a:ext>
            </a:extLst>
          </p:cNvPr>
          <p:cNvSpPr>
            <a:spLocks noGrp="1"/>
          </p:cNvSpPr>
          <p:nvPr>
            <p:ph type="body" sz="quarter" idx="10" hasCustomPrompt="1"/>
          </p:nvPr>
        </p:nvSpPr>
        <p:spPr>
          <a:xfrm>
            <a:off x="1247978" y="1641733"/>
            <a:ext cx="5093821" cy="619688"/>
          </a:xfrm>
          <a:prstGeom prst="rect">
            <a:avLst/>
          </a:prstGeom>
        </p:spPr>
        <p:txBody>
          <a:bodyPr/>
          <a:lstStyle>
            <a:lvl1pPr marL="0" indent="0">
              <a:buNone/>
              <a:defRPr sz="4400" b="1" i="0">
                <a:solidFill>
                  <a:schemeClr val="bg1"/>
                </a:solidFill>
                <a:latin typeface="Montserrat" pitchFamily="2" charset="77"/>
              </a:defRPr>
            </a:lvl1pPr>
          </a:lstStyle>
          <a:p>
            <a:pPr lvl="0"/>
            <a:r>
              <a:rPr lang="en-US"/>
              <a:t>Thank you!</a:t>
            </a:r>
          </a:p>
        </p:txBody>
      </p:sp>
    </p:spTree>
    <p:extLst>
      <p:ext uri="{BB962C8B-B14F-4D97-AF65-F5344CB8AC3E}">
        <p14:creationId xmlns:p14="http://schemas.microsoft.com/office/powerpoint/2010/main" val="29881270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Half Slide 3">
    <p:bg>
      <p:bgPr>
        <a:solidFill>
          <a:schemeClr val="lt1"/>
        </a:solidFill>
        <a:effectLst/>
      </p:bgPr>
    </p:bg>
    <p:spTree>
      <p:nvGrpSpPr>
        <p:cNvPr id="1" name=""/>
        <p:cNvGrpSpPr/>
        <p:nvPr/>
      </p:nvGrpSpPr>
      <p:grpSpPr>
        <a:xfrm>
          <a:off x="0" y="0"/>
          <a:ext cx="0" cy="0"/>
          <a:chOff x="0" y="0"/>
          <a:chExt cx="0" cy="0"/>
        </a:xfrm>
      </p:grpSpPr>
      <p:pic>
        <p:nvPicPr>
          <p:cNvPr id="4" name="Picture 3" descr="Graphical user interface, application&#10;&#10;Description automatically generated">
            <a:extLst>
              <a:ext uri="{FF2B5EF4-FFF2-40B4-BE49-F238E27FC236}">
                <a16:creationId xmlns:a16="http://schemas.microsoft.com/office/drawing/2014/main" id="{E0E0EF25-1FAE-2441-BA70-4FA87DD174D6}"/>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3073"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1170957784"/>
      </p:ext>
    </p:extLst>
  </p:cSld>
  <p:clrMapOvr>
    <a:masterClrMapping/>
  </p:clrMapOvr>
  <p:transition spd="med"/>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D41E7699-077A-FF4B-BAE1-A7031F87831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F54E1BBF-55C8-A247-A6B6-E6D6B9C3DC8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6FDB34F8-F6FA-0648-8126-A27A331296F6}"/>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A778E17A-A6A4-BD43-B49F-E4B05AC2B53C}"/>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20931E2B-F3C8-DD4C-9AA1-23119FBE1F96}"/>
              </a:ext>
            </a:extLst>
          </p:cNvPr>
          <p:cNvPicPr>
            <a:picLocks noChangeAspect="1"/>
          </p:cNvPicPr>
          <p:nvPr userDrawn="1"/>
        </p:nvPicPr>
        <p:blipFill>
          <a:blip r:embed="rId2"/>
          <a:stretch>
            <a:fillRect/>
          </a:stretch>
        </p:blipFill>
        <p:spPr>
          <a:xfrm>
            <a:off x="9957920" y="500574"/>
            <a:ext cx="1929313" cy="525202"/>
          </a:xfrm>
          <a:prstGeom prst="rect">
            <a:avLst/>
          </a:prstGeom>
        </p:spPr>
      </p:pic>
    </p:spTree>
    <p:extLst>
      <p:ext uri="{BB962C8B-B14F-4D97-AF65-F5344CB8AC3E}">
        <p14:creationId xmlns:p14="http://schemas.microsoft.com/office/powerpoint/2010/main" val="31676420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ecial - Tech">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49" name="Group 48">
            <a:extLst>
              <a:ext uri="{FF2B5EF4-FFF2-40B4-BE49-F238E27FC236}">
                <a16:creationId xmlns:a16="http://schemas.microsoft.com/office/drawing/2014/main" id="{FB14091C-884B-E540-BCDE-094593186671}"/>
              </a:ext>
            </a:extLst>
          </p:cNvPr>
          <p:cNvGrpSpPr/>
          <p:nvPr userDrawn="1"/>
        </p:nvGrpSpPr>
        <p:grpSpPr>
          <a:xfrm>
            <a:off x="417927" y="1593903"/>
            <a:ext cx="6574659" cy="4489032"/>
            <a:chOff x="417928" y="1593903"/>
            <a:chExt cx="5543586" cy="3785038"/>
          </a:xfrm>
        </p:grpSpPr>
        <p:pic>
          <p:nvPicPr>
            <p:cNvPr id="50" name="Picture 3">
              <a:extLst>
                <a:ext uri="{FF2B5EF4-FFF2-40B4-BE49-F238E27FC236}">
                  <a16:creationId xmlns:a16="http://schemas.microsoft.com/office/drawing/2014/main" id="{D49A4368-89B5-3B4B-B30E-D80FC579EC5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42913" y="1593903"/>
              <a:ext cx="569810" cy="29677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
              <a:extLst>
                <a:ext uri="{FF2B5EF4-FFF2-40B4-BE49-F238E27FC236}">
                  <a16:creationId xmlns:a16="http://schemas.microsoft.com/office/drawing/2014/main" id="{43F6E698-65BE-834A-A633-A76D4AE2F43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279832" y="1630942"/>
              <a:ext cx="616262" cy="30813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7">
              <a:extLst>
                <a:ext uri="{FF2B5EF4-FFF2-40B4-BE49-F238E27FC236}">
                  <a16:creationId xmlns:a16="http://schemas.microsoft.com/office/drawing/2014/main" id="{F89B23E8-4A8D-1940-9811-BF474D813B1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125882" y="1702979"/>
              <a:ext cx="1195306" cy="18770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9" descr="Production-Grade Container Orchestration - Kubernetes">
              <a:extLst>
                <a:ext uri="{FF2B5EF4-FFF2-40B4-BE49-F238E27FC236}">
                  <a16:creationId xmlns:a16="http://schemas.microsoft.com/office/drawing/2014/main" id="{DE670EB5-DEDC-8C40-94A6-1D2F374FF82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527377" y="1654583"/>
              <a:ext cx="1315409" cy="28449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 descr="A gentle introduction to Apache Druid in Google Cloud Platform">
              <a:extLst>
                <a:ext uri="{FF2B5EF4-FFF2-40B4-BE49-F238E27FC236}">
                  <a16:creationId xmlns:a16="http://schemas.microsoft.com/office/drawing/2014/main" id="{7A54A53E-2031-A141-BE51-44DADA5EC26D}"/>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5019477" y="1714464"/>
              <a:ext cx="762000" cy="20574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 descr="The Python Logo | Python Software Foundation">
              <a:extLst>
                <a:ext uri="{FF2B5EF4-FFF2-40B4-BE49-F238E27FC236}">
                  <a16:creationId xmlns:a16="http://schemas.microsoft.com/office/drawing/2014/main" id="{F124501E-AD37-6440-8306-46645B27BE33}"/>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442913" y="1954881"/>
              <a:ext cx="1162926" cy="392802"/>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15" descr="Thousands of MongoDB databases compromised and held to ransom ...">
              <a:extLst>
                <a:ext uri="{FF2B5EF4-FFF2-40B4-BE49-F238E27FC236}">
                  <a16:creationId xmlns:a16="http://schemas.microsoft.com/office/drawing/2014/main" id="{CA3C6776-2610-1844-A3C0-9F8F711D2275}"/>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1368620" y="1733929"/>
              <a:ext cx="1595761" cy="834706"/>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17" descr="Resultado de imagem para react JS logo png">
              <a:extLst>
                <a:ext uri="{FF2B5EF4-FFF2-40B4-BE49-F238E27FC236}">
                  <a16:creationId xmlns:a16="http://schemas.microsoft.com/office/drawing/2014/main" id="{90D22EF9-126B-E149-B0BA-9C4E46BCEB8D}"/>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2825216" y="2017878"/>
              <a:ext cx="1007278" cy="283530"/>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1" descr="Chef Infra | Chef">
              <a:extLst>
                <a:ext uri="{FF2B5EF4-FFF2-40B4-BE49-F238E27FC236}">
                  <a16:creationId xmlns:a16="http://schemas.microsoft.com/office/drawing/2014/main" id="{0F2E467D-9E20-2046-A9ED-0B6BFC6E1887}"/>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3775582" y="1919603"/>
              <a:ext cx="914440" cy="480081"/>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3" descr="Node Js Logo Nodejs - Free vector graphic on Pixabay">
              <a:extLst>
                <a:ext uri="{FF2B5EF4-FFF2-40B4-BE49-F238E27FC236}">
                  <a16:creationId xmlns:a16="http://schemas.microsoft.com/office/drawing/2014/main" id="{070871B2-69A9-494F-A11F-75085939F6E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4802033" y="1876437"/>
              <a:ext cx="1067204" cy="533602"/>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5" descr="Apache HBase – Apache HBase™ Home">
              <a:extLst>
                <a:ext uri="{FF2B5EF4-FFF2-40B4-BE49-F238E27FC236}">
                  <a16:creationId xmlns:a16="http://schemas.microsoft.com/office/drawing/2014/main" id="{A57BBD26-527C-A040-878A-A5F8EE433348}"/>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442913" y="2347683"/>
              <a:ext cx="1162926" cy="296917"/>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7" descr="C++ - Wikipedia">
              <a:extLst>
                <a:ext uri="{FF2B5EF4-FFF2-40B4-BE49-F238E27FC236}">
                  <a16:creationId xmlns:a16="http://schemas.microsoft.com/office/drawing/2014/main" id="{18010AE1-DA1C-504B-84D9-ABE683E35DC2}"/>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1721378" y="2347683"/>
              <a:ext cx="349431" cy="392803"/>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9" descr="Terraform Logos - Terraform by HashiCorp">
              <a:extLst>
                <a:ext uri="{FF2B5EF4-FFF2-40B4-BE49-F238E27FC236}">
                  <a16:creationId xmlns:a16="http://schemas.microsoft.com/office/drawing/2014/main" id="{A7E8293B-A1D9-684A-83BD-A4165EB4CE4E}"/>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249043" y="2406199"/>
              <a:ext cx="1169596" cy="285330"/>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31" descr="Jenkins Artwork">
              <a:extLst>
                <a:ext uri="{FF2B5EF4-FFF2-40B4-BE49-F238E27FC236}">
                  <a16:creationId xmlns:a16="http://schemas.microsoft.com/office/drawing/2014/main" id="{D3386D90-0580-DF45-BF43-1E22355AE6A5}"/>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3517137" y="2330096"/>
              <a:ext cx="954156" cy="477078"/>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33" descr="Resultado de imagem para Javascript logo png">
              <a:extLst>
                <a:ext uri="{FF2B5EF4-FFF2-40B4-BE49-F238E27FC236}">
                  <a16:creationId xmlns:a16="http://schemas.microsoft.com/office/drawing/2014/main" id="{6F9DBB36-8FAD-AD42-BA5A-4A456E6CEDCC}"/>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566826" y="2428595"/>
              <a:ext cx="246464" cy="24646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35" descr="Apache Hadoop – What It Is, What It Does, and Why It Matters? | MapR">
              <a:extLst>
                <a:ext uri="{FF2B5EF4-FFF2-40B4-BE49-F238E27FC236}">
                  <a16:creationId xmlns:a16="http://schemas.microsoft.com/office/drawing/2014/main" id="{37E311B3-7175-424E-8665-A2232A66907B}"/>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875125" y="2142058"/>
              <a:ext cx="1086389" cy="79077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37" descr="Cassandra Logo Horizontal | Tech logos, Logos, Cassandra">
              <a:extLst>
                <a:ext uri="{FF2B5EF4-FFF2-40B4-BE49-F238E27FC236}">
                  <a16:creationId xmlns:a16="http://schemas.microsoft.com/office/drawing/2014/main" id="{C6EAC24F-C0B9-DD4A-9755-A23C4AA0DBC4}"/>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25500" y="2777440"/>
              <a:ext cx="1162926" cy="348878"/>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39" descr="Elastic Branding | Elastic">
              <a:extLst>
                <a:ext uri="{FF2B5EF4-FFF2-40B4-BE49-F238E27FC236}">
                  <a16:creationId xmlns:a16="http://schemas.microsoft.com/office/drawing/2014/main" id="{19123DB9-5D0B-6E40-AD8F-2620D6533C95}"/>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1797465" y="2791064"/>
              <a:ext cx="831117" cy="28353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41" descr="Angular Logo PNG Transparent &amp; SVG Vector - Freebie Supply">
              <a:extLst>
                <a:ext uri="{FF2B5EF4-FFF2-40B4-BE49-F238E27FC236}">
                  <a16:creationId xmlns:a16="http://schemas.microsoft.com/office/drawing/2014/main" id="{6851CE6B-290C-414B-B1C5-32B4458E3C70}"/>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2927677" y="2539007"/>
              <a:ext cx="1073048" cy="804786"/>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43">
              <a:extLst>
                <a:ext uri="{FF2B5EF4-FFF2-40B4-BE49-F238E27FC236}">
                  <a16:creationId xmlns:a16="http://schemas.microsoft.com/office/drawing/2014/main" id="{84253A75-E3A3-D549-8655-2BB5C1EFEE6C}"/>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3898381" y="2276284"/>
              <a:ext cx="1970856" cy="131309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5">
              <a:extLst>
                <a:ext uri="{FF2B5EF4-FFF2-40B4-BE49-F238E27FC236}">
                  <a16:creationId xmlns:a16="http://schemas.microsoft.com/office/drawing/2014/main" id="{B4A06958-C340-5340-BB67-31C67F14745F}"/>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441876" y="3125872"/>
              <a:ext cx="299950" cy="274092"/>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7" descr="Redis - Wikipedia">
              <a:extLst>
                <a:ext uri="{FF2B5EF4-FFF2-40B4-BE49-F238E27FC236}">
                  <a16:creationId xmlns:a16="http://schemas.microsoft.com/office/drawing/2014/main" id="{01C82DA1-7FB0-1D45-98BA-6E24E8530053}"/>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1006963" y="3149096"/>
              <a:ext cx="956908" cy="319717"/>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9" descr="Erlang-logo - Software Engineering Daily">
              <a:extLst>
                <a:ext uri="{FF2B5EF4-FFF2-40B4-BE49-F238E27FC236}">
                  <a16:creationId xmlns:a16="http://schemas.microsoft.com/office/drawing/2014/main" id="{5065FAB2-DCC0-BA4E-8821-0A79FA37BCDF}"/>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2031221" y="3122716"/>
              <a:ext cx="959151" cy="319717"/>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51">
              <a:extLst>
                <a:ext uri="{FF2B5EF4-FFF2-40B4-BE49-F238E27FC236}">
                  <a16:creationId xmlns:a16="http://schemas.microsoft.com/office/drawing/2014/main" id="{425A7F74-13D2-594C-878C-C92B710FAE25}"/>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3040470" y="3138930"/>
              <a:ext cx="429360" cy="429360"/>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53">
              <a:extLst>
                <a:ext uri="{FF2B5EF4-FFF2-40B4-BE49-F238E27FC236}">
                  <a16:creationId xmlns:a16="http://schemas.microsoft.com/office/drawing/2014/main" id="{BADA558B-A084-094E-ADC1-03677CA5B26D}"/>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3547171" y="3207845"/>
              <a:ext cx="987108" cy="29496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55" descr="Ansible - Full Stack Python">
              <a:extLst>
                <a:ext uri="{FF2B5EF4-FFF2-40B4-BE49-F238E27FC236}">
                  <a16:creationId xmlns:a16="http://schemas.microsoft.com/office/drawing/2014/main" id="{A51CCA56-DEBA-6C4E-AF3B-CAD35710A0DB}"/>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651246" y="3189669"/>
              <a:ext cx="1057992" cy="30824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57" descr="NGINX | High Performance Load Balancer, Web Server, &amp; Reverse Proxy">
              <a:extLst>
                <a:ext uri="{FF2B5EF4-FFF2-40B4-BE49-F238E27FC236}">
                  <a16:creationId xmlns:a16="http://schemas.microsoft.com/office/drawing/2014/main" id="{206F3D37-364F-A64A-AC00-9DEC9B2A6F06}"/>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417928" y="3532804"/>
              <a:ext cx="812838" cy="27285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59" descr="Apache Airflow">
              <a:extLst>
                <a:ext uri="{FF2B5EF4-FFF2-40B4-BE49-F238E27FC236}">
                  <a16:creationId xmlns:a16="http://schemas.microsoft.com/office/drawing/2014/main" id="{1E89F902-5D85-A04A-B714-5249CB894912}"/>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1276034" y="3497916"/>
              <a:ext cx="980618" cy="41484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61" descr="Apache Solr vs. Elasticsearch - Shrey Narayan - Medium">
              <a:extLst>
                <a:ext uri="{FF2B5EF4-FFF2-40B4-BE49-F238E27FC236}">
                  <a16:creationId xmlns:a16="http://schemas.microsoft.com/office/drawing/2014/main" id="{5CAFEC9E-FE97-ED4F-88B7-D3787E640C6C}"/>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2315335" y="3520519"/>
              <a:ext cx="517413" cy="388060"/>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63" descr="Aline Deschamps on Twitter: &quot;Does someone know a package for ...">
              <a:extLst>
                <a:ext uri="{FF2B5EF4-FFF2-40B4-BE49-F238E27FC236}">
                  <a16:creationId xmlns:a16="http://schemas.microsoft.com/office/drawing/2014/main" id="{4B4C4CCA-9419-D140-BB88-B963F25401D0}"/>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2954584" y="3661008"/>
              <a:ext cx="1135880" cy="282708"/>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65" descr="WebRTC">
              <a:extLst>
                <a:ext uri="{FF2B5EF4-FFF2-40B4-BE49-F238E27FC236}">
                  <a16:creationId xmlns:a16="http://schemas.microsoft.com/office/drawing/2014/main" id="{25FF2838-BEEE-8644-936A-F0627BB981BE}"/>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4238427" y="3607933"/>
              <a:ext cx="1002544" cy="282708"/>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67">
              <a:extLst>
                <a:ext uri="{FF2B5EF4-FFF2-40B4-BE49-F238E27FC236}">
                  <a16:creationId xmlns:a16="http://schemas.microsoft.com/office/drawing/2014/main" id="{03FED0AD-134F-6F4B-81F7-B39E861081DD}"/>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449616" y="3907101"/>
              <a:ext cx="608864" cy="290338"/>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69">
              <a:extLst>
                <a:ext uri="{FF2B5EF4-FFF2-40B4-BE49-F238E27FC236}">
                  <a16:creationId xmlns:a16="http://schemas.microsoft.com/office/drawing/2014/main" id="{D7C44E9F-A7C2-3A47-88C0-CE69797E43EC}"/>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1212573" y="4013079"/>
              <a:ext cx="84374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71" descr="Diagnosing Go software failures just got easier">
              <a:extLst>
                <a:ext uri="{FF2B5EF4-FFF2-40B4-BE49-F238E27FC236}">
                  <a16:creationId xmlns:a16="http://schemas.microsoft.com/office/drawing/2014/main" id="{E6A3D220-33FB-E141-91DB-459F83BC8F7F}"/>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2149406" y="3968246"/>
              <a:ext cx="683342" cy="38560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73" descr="amazon aws logo - Ventureforth, Inc.">
              <a:extLst>
                <a:ext uri="{FF2B5EF4-FFF2-40B4-BE49-F238E27FC236}">
                  <a16:creationId xmlns:a16="http://schemas.microsoft.com/office/drawing/2014/main" id="{4288D5B7-E9AE-AD42-AA02-2422A877BC41}"/>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2993877" y="4043695"/>
              <a:ext cx="825639" cy="31015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75" descr="Java – Logos Download">
              <a:extLst>
                <a:ext uri="{FF2B5EF4-FFF2-40B4-BE49-F238E27FC236}">
                  <a16:creationId xmlns:a16="http://schemas.microsoft.com/office/drawing/2014/main" id="{165C71B9-C108-6A41-B4FD-90E85B507124}"/>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046480" y="3968246"/>
              <a:ext cx="688540" cy="38560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77" descr="Powerful infrastructure automation and delivery | Puppet | Puppet.com">
              <a:extLst>
                <a:ext uri="{FF2B5EF4-FFF2-40B4-BE49-F238E27FC236}">
                  <a16:creationId xmlns:a16="http://schemas.microsoft.com/office/drawing/2014/main" id="{D8ACAEDA-EAC5-0940-8FD8-BFA2A133DEDD}"/>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4843163" y="3988289"/>
              <a:ext cx="811647" cy="289257"/>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79" descr="Download The OpenStack Logo - OpenStack is open source software ...">
              <a:extLst>
                <a:ext uri="{FF2B5EF4-FFF2-40B4-BE49-F238E27FC236}">
                  <a16:creationId xmlns:a16="http://schemas.microsoft.com/office/drawing/2014/main" id="{B67AD288-2675-3240-ADFB-8E28934AFA74}"/>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57289" y="4457029"/>
              <a:ext cx="136923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81" descr="Katalon | File Upload | Using Robot Framework - Priyank Shah - Medium">
              <a:extLst>
                <a:ext uri="{FF2B5EF4-FFF2-40B4-BE49-F238E27FC236}">
                  <a16:creationId xmlns:a16="http://schemas.microsoft.com/office/drawing/2014/main" id="{793F8EFB-29A2-EB41-A9DE-D9DC8C1A8499}"/>
                </a:ext>
              </a:extLst>
            </p:cNvPr>
            <p:cNvPicPr>
              <a:picLocks noChangeAspect="1" noChangeArrowheads="1"/>
            </p:cNvPicPr>
            <p:nvPr userDrawn="1"/>
          </p:nvPicPr>
          <p:blipFill rotWithShape="1">
            <a:blip r:embed="rId41">
              <a:extLst>
                <a:ext uri="{28A0092B-C50C-407E-A947-70E740481C1C}">
                  <a14:useLocalDpi xmlns:a14="http://schemas.microsoft.com/office/drawing/2010/main" val="0"/>
                </a:ext>
              </a:extLst>
            </a:blip>
            <a:srcRect l="29164" r="27794"/>
            <a:stretch/>
          </p:blipFill>
          <p:spPr bwMode="auto">
            <a:xfrm>
              <a:off x="1880809" y="4383820"/>
              <a:ext cx="703974" cy="414847"/>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83">
              <a:extLst>
                <a:ext uri="{FF2B5EF4-FFF2-40B4-BE49-F238E27FC236}">
                  <a16:creationId xmlns:a16="http://schemas.microsoft.com/office/drawing/2014/main" id="{6EC9CF66-0514-6F4D-8893-125873F98B9C}"/>
                </a:ext>
              </a:extLst>
            </p:cNvPr>
            <p:cNvPicPr>
              <a:picLocks noChangeAspect="1" noChangeArrowheads="1"/>
            </p:cNvPicPr>
            <p:nvPr userDrawn="1"/>
          </p:nvPicPr>
          <p:blipFill>
            <a:blip r:embed="rId42">
              <a:extLst>
                <a:ext uri="{28A0092B-C50C-407E-A947-70E740481C1C}">
                  <a14:useLocalDpi xmlns:a14="http://schemas.microsoft.com/office/drawing/2010/main" val="0"/>
                </a:ext>
              </a:extLst>
            </a:blip>
            <a:srcRect/>
            <a:stretch>
              <a:fillRect/>
            </a:stretch>
          </p:blipFill>
          <p:spPr bwMode="auto">
            <a:xfrm>
              <a:off x="2892259" y="4541754"/>
              <a:ext cx="1210576" cy="23139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85" descr="GitHub - dwyl/learn-circleci: A quick intro to Circle CI ...">
              <a:extLst>
                <a:ext uri="{FF2B5EF4-FFF2-40B4-BE49-F238E27FC236}">
                  <a16:creationId xmlns:a16="http://schemas.microsoft.com/office/drawing/2014/main" id="{D4F741B9-871F-3141-9507-8C9A3CBE960A}"/>
                </a:ext>
              </a:extLst>
            </p:cNvPr>
            <p:cNvPicPr>
              <a:picLocks noChangeAspect="1" noChangeArrowheads="1"/>
            </p:cNvPicPr>
            <p:nvPr userDrawn="1"/>
          </p:nvPicPr>
          <p:blipFill>
            <a:blip r:embed="rId43">
              <a:extLst>
                <a:ext uri="{28A0092B-C50C-407E-A947-70E740481C1C}">
                  <a14:useLocalDpi xmlns:a14="http://schemas.microsoft.com/office/drawing/2010/main" val="0"/>
                </a:ext>
              </a:extLst>
            </a:blip>
            <a:srcRect/>
            <a:stretch>
              <a:fillRect/>
            </a:stretch>
          </p:blipFill>
          <p:spPr bwMode="auto">
            <a:xfrm>
              <a:off x="4309571" y="4458509"/>
              <a:ext cx="967787" cy="274206"/>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87">
              <a:extLst>
                <a:ext uri="{FF2B5EF4-FFF2-40B4-BE49-F238E27FC236}">
                  <a16:creationId xmlns:a16="http://schemas.microsoft.com/office/drawing/2014/main" id="{D4B06870-ADD3-8B47-B2E3-F4759CF3AF68}"/>
                </a:ext>
              </a:extLst>
            </p:cNvPr>
            <p:cNvPicPr>
              <a:picLocks noChangeAspect="1" noChangeArrowheads="1"/>
            </p:cNvPicPr>
            <p:nvPr userDrawn="1"/>
          </p:nvPicPr>
          <p:blipFill>
            <a:blip r:embed="rId44">
              <a:extLst>
                <a:ext uri="{28A0092B-C50C-407E-A947-70E740481C1C}">
                  <a14:useLocalDpi xmlns:a14="http://schemas.microsoft.com/office/drawing/2010/main" val="0"/>
                </a:ext>
              </a:extLst>
            </a:blip>
            <a:srcRect/>
            <a:stretch>
              <a:fillRect/>
            </a:stretch>
          </p:blipFill>
          <p:spPr bwMode="auto">
            <a:xfrm>
              <a:off x="457289" y="4900979"/>
              <a:ext cx="995726" cy="265138"/>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89">
              <a:extLst>
                <a:ext uri="{FF2B5EF4-FFF2-40B4-BE49-F238E27FC236}">
                  <a16:creationId xmlns:a16="http://schemas.microsoft.com/office/drawing/2014/main" id="{1E1DAA1C-D78A-2E44-9F74-131869F0B464}"/>
                </a:ext>
              </a:extLst>
            </p:cNvPr>
            <p:cNvPicPr>
              <a:picLocks noChangeAspect="1" noChangeArrowheads="1"/>
            </p:cNvPicPr>
            <p:nvPr userDrawn="1"/>
          </p:nvPicPr>
          <p:blipFill>
            <a:blip r:embed="rId45">
              <a:extLst>
                <a:ext uri="{28A0092B-C50C-407E-A947-70E740481C1C}">
                  <a14:useLocalDpi xmlns:a14="http://schemas.microsoft.com/office/drawing/2010/main" val="0"/>
                </a:ext>
              </a:extLst>
            </a:blip>
            <a:srcRect/>
            <a:stretch>
              <a:fillRect/>
            </a:stretch>
          </p:blipFill>
          <p:spPr bwMode="auto">
            <a:xfrm>
              <a:off x="1599861" y="4918825"/>
              <a:ext cx="728019" cy="391784"/>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91">
              <a:extLst>
                <a:ext uri="{FF2B5EF4-FFF2-40B4-BE49-F238E27FC236}">
                  <a16:creationId xmlns:a16="http://schemas.microsoft.com/office/drawing/2014/main" id="{21C89EAF-484E-4447-84D7-7F40E9BA36FC}"/>
                </a:ext>
              </a:extLst>
            </p:cNvPr>
            <p:cNvPicPr>
              <a:picLocks noChangeAspect="1" noChangeArrowheads="1"/>
            </p:cNvPicPr>
            <p:nvPr userDrawn="1"/>
          </p:nvPicPr>
          <p:blipFill>
            <a:blip r:embed="rId46">
              <a:extLst>
                <a:ext uri="{28A0092B-C50C-407E-A947-70E740481C1C}">
                  <a14:useLocalDpi xmlns:a14="http://schemas.microsoft.com/office/drawing/2010/main" val="0"/>
                </a:ext>
              </a:extLst>
            </a:blip>
            <a:srcRect/>
            <a:stretch>
              <a:fillRect/>
            </a:stretch>
          </p:blipFill>
          <p:spPr bwMode="auto">
            <a:xfrm>
              <a:off x="2423554" y="4999714"/>
              <a:ext cx="959152" cy="1918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93" descr="Spring Boot">
              <a:extLst>
                <a:ext uri="{FF2B5EF4-FFF2-40B4-BE49-F238E27FC236}">
                  <a16:creationId xmlns:a16="http://schemas.microsoft.com/office/drawing/2014/main" id="{840F3CCE-5C3C-4C46-AEFB-9D73AACC3AFF}"/>
                </a:ext>
              </a:extLst>
            </p:cNvPr>
            <p:cNvPicPr>
              <a:picLocks noChangeAspect="1" noChangeArrowheads="1"/>
            </p:cNvPicPr>
            <p:nvPr userDrawn="1"/>
          </p:nvPicPr>
          <p:blipFill rotWithShape="1">
            <a:blip r:embed="rId47">
              <a:extLst>
                <a:ext uri="{28A0092B-C50C-407E-A947-70E740481C1C}">
                  <a14:useLocalDpi xmlns:a14="http://schemas.microsoft.com/office/drawing/2010/main" val="0"/>
                </a:ext>
              </a:extLst>
            </a:blip>
            <a:srcRect l="15338" t="25554" r="14279" b="26403"/>
            <a:stretch/>
          </p:blipFill>
          <p:spPr bwMode="auto">
            <a:xfrm>
              <a:off x="3355331" y="4810436"/>
              <a:ext cx="1129803" cy="385600"/>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5">
              <a:extLst>
                <a:ext uri="{FF2B5EF4-FFF2-40B4-BE49-F238E27FC236}">
                  <a16:creationId xmlns:a16="http://schemas.microsoft.com/office/drawing/2014/main" id="{228B351A-5595-1649-92E6-028D38AAE4EB}"/>
                </a:ext>
              </a:extLst>
            </p:cNvPr>
            <p:cNvPicPr>
              <a:picLocks noChangeAspect="1" noChangeArrowheads="1"/>
            </p:cNvPicPr>
            <p:nvPr userDrawn="1"/>
          </p:nvPicPr>
          <p:blipFill>
            <a:blip r:embed="rId48">
              <a:extLst>
                <a:ext uri="{28A0092B-C50C-407E-A947-70E740481C1C}">
                  <a14:useLocalDpi xmlns:a14="http://schemas.microsoft.com/office/drawing/2010/main" val="0"/>
                </a:ext>
              </a:extLst>
            </a:blip>
            <a:srcRect/>
            <a:stretch>
              <a:fillRect/>
            </a:stretch>
          </p:blipFill>
          <p:spPr bwMode="auto">
            <a:xfrm>
              <a:off x="4624229" y="4837378"/>
              <a:ext cx="1321871" cy="210369"/>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7" descr="TypeScript / official or unofficial logo · Issue #78 · exercism ...">
              <a:extLst>
                <a:ext uri="{FF2B5EF4-FFF2-40B4-BE49-F238E27FC236}">
                  <a16:creationId xmlns:a16="http://schemas.microsoft.com/office/drawing/2014/main" id="{BA064970-C1F0-9B44-B18C-776BDADC3B6D}"/>
                </a:ext>
              </a:extLst>
            </p:cNvPr>
            <p:cNvPicPr>
              <a:picLocks noChangeAspect="1" noChangeArrowheads="1"/>
            </p:cNvPicPr>
            <p:nvPr userDrawn="1"/>
          </p:nvPicPr>
          <p:blipFill>
            <a:blip r:embed="rId49">
              <a:extLst>
                <a:ext uri="{28A0092B-C50C-407E-A947-70E740481C1C}">
                  <a14:useLocalDpi xmlns:a14="http://schemas.microsoft.com/office/drawing/2010/main" val="0"/>
                </a:ext>
              </a:extLst>
            </a:blip>
            <a:srcRect/>
            <a:stretch>
              <a:fillRect/>
            </a:stretch>
          </p:blipFill>
          <p:spPr bwMode="auto">
            <a:xfrm>
              <a:off x="4380543" y="5168572"/>
              <a:ext cx="860428" cy="2103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492916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Half Slide 1" preserve="1" userDrawn="1">
  <p:cSld name="Half Slide 1">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3" name="Google Shape;25;p28">
            <a:extLst>
              <a:ext uri="{FF2B5EF4-FFF2-40B4-BE49-F238E27FC236}">
                <a16:creationId xmlns:a16="http://schemas.microsoft.com/office/drawing/2014/main" id="{4AE5CAB4-70C9-2842-A8EB-64F1C95B8509}"/>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text, clipart&#10;&#10;Description automatically generated">
            <a:extLst>
              <a:ext uri="{FF2B5EF4-FFF2-40B4-BE49-F238E27FC236}">
                <a16:creationId xmlns:a16="http://schemas.microsoft.com/office/drawing/2014/main" id="{92218A16-CD58-0649-B636-95BB17BAA6FA}"/>
              </a:ext>
            </a:extLst>
          </p:cNvPr>
          <p:cNvPicPr>
            <a:picLocks noChangeAspect="1"/>
          </p:cNvPicPr>
          <p:nvPr userDrawn="1"/>
        </p:nvPicPr>
        <p:blipFill>
          <a:blip r:embed="rId3"/>
          <a:stretch>
            <a:fillRect/>
          </a:stretch>
        </p:blipFill>
        <p:spPr>
          <a:xfrm>
            <a:off x="9954292" y="462255"/>
            <a:ext cx="2007969" cy="589927"/>
          </a:xfrm>
          <a:prstGeom prst="rect">
            <a:avLst/>
          </a:prstGeom>
        </p:spPr>
      </p:pic>
      <p:sp>
        <p:nvSpPr>
          <p:cNvPr id="8" name="Google Shape;32;g8d09728e15_0_47">
            <a:extLst>
              <a:ext uri="{FF2B5EF4-FFF2-40B4-BE49-F238E27FC236}">
                <a16:creationId xmlns:a16="http://schemas.microsoft.com/office/drawing/2014/main" id="{87691CAC-1685-B24C-B8D8-376EC996A84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10" name="Google Shape;26;p28">
            <a:extLst>
              <a:ext uri="{FF2B5EF4-FFF2-40B4-BE49-F238E27FC236}">
                <a16:creationId xmlns:a16="http://schemas.microsoft.com/office/drawing/2014/main" id="{5786CB3B-D3F3-1443-A7FD-6A421530B0F7}"/>
              </a:ext>
            </a:extLst>
          </p:cNvPr>
          <p:cNvSpPr txBox="1">
            <a:spLocks noGrp="1"/>
          </p:cNvSpPr>
          <p:nvPr>
            <p:ph type="title"/>
          </p:nvPr>
        </p:nvSpPr>
        <p:spPr>
          <a:xfrm>
            <a:off x="349136" y="390399"/>
            <a:ext cx="5500338" cy="37698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1" name="Google Shape;35;g8d09728e15_0_47">
            <a:extLst>
              <a:ext uri="{FF2B5EF4-FFF2-40B4-BE49-F238E27FC236}">
                <a16:creationId xmlns:a16="http://schemas.microsoft.com/office/drawing/2014/main" id="{757F0FB1-06C2-F54F-B04F-6F5CE3636962}"/>
              </a:ext>
            </a:extLst>
          </p:cNvPr>
          <p:cNvSpPr txBox="1">
            <a:spLocks noGrp="1"/>
          </p:cNvSpPr>
          <p:nvPr>
            <p:ph type="subTitle" idx="1"/>
          </p:nvPr>
        </p:nvSpPr>
        <p:spPr>
          <a:xfrm>
            <a:off x="349134" y="775065"/>
            <a:ext cx="5500338" cy="27711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Google Shape;29;p28">
            <a:extLst>
              <a:ext uri="{FF2B5EF4-FFF2-40B4-BE49-F238E27FC236}">
                <a16:creationId xmlns:a16="http://schemas.microsoft.com/office/drawing/2014/main" id="{45AB28B4-C309-F249-AF5F-915CF04EC382}"/>
              </a:ext>
            </a:extLst>
          </p:cNvPr>
          <p:cNvSpPr txBox="1">
            <a:spLocks noGrp="1"/>
          </p:cNvSpPr>
          <p:nvPr>
            <p:ph type="body" idx="2" hasCustomPrompt="1"/>
          </p:nvPr>
        </p:nvSpPr>
        <p:spPr>
          <a:xfrm>
            <a:off x="349233" y="1434164"/>
            <a:ext cx="5500239"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9757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cial - Clien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9" name="Group 8">
            <a:extLst>
              <a:ext uri="{FF2B5EF4-FFF2-40B4-BE49-F238E27FC236}">
                <a16:creationId xmlns:a16="http://schemas.microsoft.com/office/drawing/2014/main" id="{5A366174-BAAC-C143-B360-E961F0DD1C4F}"/>
              </a:ext>
            </a:extLst>
          </p:cNvPr>
          <p:cNvGrpSpPr/>
          <p:nvPr userDrawn="1"/>
        </p:nvGrpSpPr>
        <p:grpSpPr>
          <a:xfrm>
            <a:off x="442161" y="1599836"/>
            <a:ext cx="6534663" cy="4845801"/>
            <a:chOff x="442161" y="1599836"/>
            <a:chExt cx="6534663" cy="4845801"/>
          </a:xfrm>
        </p:grpSpPr>
        <p:pic>
          <p:nvPicPr>
            <p:cNvPr id="11" name="Picture 83">
              <a:extLst>
                <a:ext uri="{FF2B5EF4-FFF2-40B4-BE49-F238E27FC236}">
                  <a16:creationId xmlns:a16="http://schemas.microsoft.com/office/drawing/2014/main" id="{A64D101E-7168-CF44-B2CB-B01B4FB05CA1}"/>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2947" y="1599836"/>
              <a:ext cx="500974" cy="27122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5">
              <a:extLst>
                <a:ext uri="{FF2B5EF4-FFF2-40B4-BE49-F238E27FC236}">
                  <a16:creationId xmlns:a16="http://schemas.microsoft.com/office/drawing/2014/main" id="{7089D04C-6C8A-5A46-8166-9ABE1F0103DA}"/>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582919" y="1613471"/>
              <a:ext cx="574288" cy="274092"/>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7">
              <a:extLst>
                <a:ext uri="{FF2B5EF4-FFF2-40B4-BE49-F238E27FC236}">
                  <a16:creationId xmlns:a16="http://schemas.microsoft.com/office/drawing/2014/main" id="{988146AA-E8A8-E641-892C-5581D1D022E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749963" y="1634110"/>
              <a:ext cx="1484313" cy="27788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9">
              <a:extLst>
                <a:ext uri="{FF2B5EF4-FFF2-40B4-BE49-F238E27FC236}">
                  <a16:creationId xmlns:a16="http://schemas.microsoft.com/office/drawing/2014/main" id="{3E18FF78-E19D-D346-BDBE-FCE8D0F7893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801496" y="1633222"/>
              <a:ext cx="1138143" cy="29256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91">
              <a:extLst>
                <a:ext uri="{FF2B5EF4-FFF2-40B4-BE49-F238E27FC236}">
                  <a16:creationId xmlns:a16="http://schemas.microsoft.com/office/drawing/2014/main" id="{FDE0FBB3-6C47-EF48-9305-6FD55C02707A}"/>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487149" y="2030523"/>
              <a:ext cx="1017674" cy="36404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93">
              <a:extLst>
                <a:ext uri="{FF2B5EF4-FFF2-40B4-BE49-F238E27FC236}">
                  <a16:creationId xmlns:a16="http://schemas.microsoft.com/office/drawing/2014/main" id="{A25F26F0-DA21-4F40-A476-F6B928CEF11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2038586" y="2128240"/>
              <a:ext cx="1267657" cy="2778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96">
              <a:extLst>
                <a:ext uri="{FF2B5EF4-FFF2-40B4-BE49-F238E27FC236}">
                  <a16:creationId xmlns:a16="http://schemas.microsoft.com/office/drawing/2014/main" id="{8D6B0602-E5D2-074A-96EB-C1019DFD8F24}"/>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3725230" y="2054350"/>
              <a:ext cx="1191768" cy="39104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98">
              <a:extLst>
                <a:ext uri="{FF2B5EF4-FFF2-40B4-BE49-F238E27FC236}">
                  <a16:creationId xmlns:a16="http://schemas.microsoft.com/office/drawing/2014/main" id="{EE6B09B5-0BC5-F242-92D1-7176D8F38D03}"/>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5465936" y="2076668"/>
              <a:ext cx="341761" cy="34176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0">
              <a:extLst>
                <a:ext uri="{FF2B5EF4-FFF2-40B4-BE49-F238E27FC236}">
                  <a16:creationId xmlns:a16="http://schemas.microsoft.com/office/drawing/2014/main" id="{B4C6984C-C099-4748-841D-14F2EFD49AE0}"/>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467117" y="2634370"/>
              <a:ext cx="894752" cy="324807"/>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02">
              <a:extLst>
                <a:ext uri="{FF2B5EF4-FFF2-40B4-BE49-F238E27FC236}">
                  <a16:creationId xmlns:a16="http://schemas.microsoft.com/office/drawing/2014/main" id="{770D20AB-53AD-A94A-86A2-70C9FD80938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1780374" y="2646000"/>
              <a:ext cx="1191768" cy="32423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4">
              <a:extLst>
                <a:ext uri="{FF2B5EF4-FFF2-40B4-BE49-F238E27FC236}">
                  <a16:creationId xmlns:a16="http://schemas.microsoft.com/office/drawing/2014/main" id="{4BFE8003-955F-7F49-BD23-7F90048C8D93}"/>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3499933" y="2699571"/>
              <a:ext cx="1230990" cy="18197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06">
              <a:extLst>
                <a:ext uri="{FF2B5EF4-FFF2-40B4-BE49-F238E27FC236}">
                  <a16:creationId xmlns:a16="http://schemas.microsoft.com/office/drawing/2014/main" id="{4AA72667-0321-4A40-8F59-907A18BC361B}"/>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32091" y="2679896"/>
              <a:ext cx="1230990" cy="21991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8">
              <a:extLst>
                <a:ext uri="{FF2B5EF4-FFF2-40B4-BE49-F238E27FC236}">
                  <a16:creationId xmlns:a16="http://schemas.microsoft.com/office/drawing/2014/main" id="{7F8DFC5E-A747-C94F-8A09-47BBEFB68ABD}"/>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452947" y="3287766"/>
              <a:ext cx="1033526" cy="23630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10">
              <a:extLst>
                <a:ext uri="{FF2B5EF4-FFF2-40B4-BE49-F238E27FC236}">
                  <a16:creationId xmlns:a16="http://schemas.microsoft.com/office/drawing/2014/main" id="{3235BEED-D0B1-214C-B6C5-4F1F461A0E4E}"/>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870063" y="3251032"/>
              <a:ext cx="1053419" cy="29142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12">
              <a:extLst>
                <a:ext uri="{FF2B5EF4-FFF2-40B4-BE49-F238E27FC236}">
                  <a16:creationId xmlns:a16="http://schemas.microsoft.com/office/drawing/2014/main" id="{B649BA42-D474-A847-8C13-4343274AD84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3389551" y="3143690"/>
              <a:ext cx="401637" cy="401637"/>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114">
              <a:extLst>
                <a:ext uri="{FF2B5EF4-FFF2-40B4-BE49-F238E27FC236}">
                  <a16:creationId xmlns:a16="http://schemas.microsoft.com/office/drawing/2014/main" id="{08812F13-09D2-2840-B47D-330AD56D3C45}"/>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402049" y="3199443"/>
              <a:ext cx="1603937" cy="27409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119">
              <a:extLst>
                <a:ext uri="{FF2B5EF4-FFF2-40B4-BE49-F238E27FC236}">
                  <a16:creationId xmlns:a16="http://schemas.microsoft.com/office/drawing/2014/main" id="{C81E762A-A46D-C148-AB7F-9CE52FBB83F3}"/>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45195" y="3843922"/>
              <a:ext cx="1177299" cy="23075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121">
              <a:extLst>
                <a:ext uri="{FF2B5EF4-FFF2-40B4-BE49-F238E27FC236}">
                  <a16:creationId xmlns:a16="http://schemas.microsoft.com/office/drawing/2014/main" id="{C7166A93-18E3-8840-97E4-8076C096DF32}"/>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701158" y="4109397"/>
              <a:ext cx="614492" cy="28664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23">
              <a:extLst>
                <a:ext uri="{FF2B5EF4-FFF2-40B4-BE49-F238E27FC236}">
                  <a16:creationId xmlns:a16="http://schemas.microsoft.com/office/drawing/2014/main" id="{5A5A6362-F32B-204E-9956-FB7EE6487223}"/>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1957509" y="3871622"/>
              <a:ext cx="1382334" cy="24473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125">
              <a:extLst>
                <a:ext uri="{FF2B5EF4-FFF2-40B4-BE49-F238E27FC236}">
                  <a16:creationId xmlns:a16="http://schemas.microsoft.com/office/drawing/2014/main" id="{C63E3A51-6516-434F-A454-51560AF386B3}"/>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2330219" y="4091545"/>
              <a:ext cx="721096" cy="3193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27">
              <a:extLst>
                <a:ext uri="{FF2B5EF4-FFF2-40B4-BE49-F238E27FC236}">
                  <a16:creationId xmlns:a16="http://schemas.microsoft.com/office/drawing/2014/main" id="{45BB9D93-EE0E-6040-8363-4F898F8919C1}"/>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3827060" y="3850399"/>
              <a:ext cx="1188205" cy="25558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129">
              <a:extLst>
                <a:ext uri="{FF2B5EF4-FFF2-40B4-BE49-F238E27FC236}">
                  <a16:creationId xmlns:a16="http://schemas.microsoft.com/office/drawing/2014/main" id="{EDF088DB-65C6-954A-8243-DDE89293920C}"/>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3639860" y="4141860"/>
              <a:ext cx="893437" cy="15617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31">
              <a:extLst>
                <a:ext uri="{FF2B5EF4-FFF2-40B4-BE49-F238E27FC236}">
                  <a16:creationId xmlns:a16="http://schemas.microsoft.com/office/drawing/2014/main" id="{492C6B7E-E171-924D-9F46-BDB7DD7D7646}"/>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4603739" y="4118516"/>
              <a:ext cx="58082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33">
              <a:extLst>
                <a:ext uri="{FF2B5EF4-FFF2-40B4-BE49-F238E27FC236}">
                  <a16:creationId xmlns:a16="http://schemas.microsoft.com/office/drawing/2014/main" id="{16CE352F-88B0-794D-B9B7-B2B95E7A9BBD}"/>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5400144" y="3783585"/>
              <a:ext cx="1507673" cy="384378"/>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35">
              <a:extLst>
                <a:ext uri="{FF2B5EF4-FFF2-40B4-BE49-F238E27FC236}">
                  <a16:creationId xmlns:a16="http://schemas.microsoft.com/office/drawing/2014/main" id="{1B8E073C-04C5-0545-97A3-843963298837}"/>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5804764" y="4096690"/>
              <a:ext cx="72941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37">
              <a:extLst>
                <a:ext uri="{FF2B5EF4-FFF2-40B4-BE49-F238E27FC236}">
                  <a16:creationId xmlns:a16="http://schemas.microsoft.com/office/drawing/2014/main" id="{29B60F64-1652-8040-B437-FDACB9E1BAB9}"/>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42161" y="4746806"/>
              <a:ext cx="1015672" cy="370458"/>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139">
              <a:extLst>
                <a:ext uri="{FF2B5EF4-FFF2-40B4-BE49-F238E27FC236}">
                  <a16:creationId xmlns:a16="http://schemas.microsoft.com/office/drawing/2014/main" id="{B544B043-0AC2-7649-A967-E3D6E271E682}"/>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2261661" y="4587605"/>
              <a:ext cx="789654" cy="587503"/>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141">
              <a:extLst>
                <a:ext uri="{FF2B5EF4-FFF2-40B4-BE49-F238E27FC236}">
                  <a16:creationId xmlns:a16="http://schemas.microsoft.com/office/drawing/2014/main" id="{7FF0B3D3-2852-0346-9BFB-4B435973B374}"/>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3869254" y="4827486"/>
              <a:ext cx="888613" cy="201655"/>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143">
              <a:extLst>
                <a:ext uri="{FF2B5EF4-FFF2-40B4-BE49-F238E27FC236}">
                  <a16:creationId xmlns:a16="http://schemas.microsoft.com/office/drawing/2014/main" id="{2E61A39A-9576-9E47-93A4-03ABAAC27C08}"/>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5414270" y="4668218"/>
              <a:ext cx="1183432" cy="479323"/>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45">
              <a:extLst>
                <a:ext uri="{FF2B5EF4-FFF2-40B4-BE49-F238E27FC236}">
                  <a16:creationId xmlns:a16="http://schemas.microsoft.com/office/drawing/2014/main" id="{969237E4-A2E4-9749-A5CB-C9042E4E3EAF}"/>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567247" y="5523974"/>
              <a:ext cx="945652" cy="341075"/>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147">
              <a:extLst>
                <a:ext uri="{FF2B5EF4-FFF2-40B4-BE49-F238E27FC236}">
                  <a16:creationId xmlns:a16="http://schemas.microsoft.com/office/drawing/2014/main" id="{B6547E36-B51D-2642-B2A5-ADBC4B8B9775}"/>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3063479" y="5381701"/>
              <a:ext cx="988352" cy="276830"/>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149">
              <a:extLst>
                <a:ext uri="{FF2B5EF4-FFF2-40B4-BE49-F238E27FC236}">
                  <a16:creationId xmlns:a16="http://schemas.microsoft.com/office/drawing/2014/main" id="{CCFB31E8-7644-E841-AF77-33837C3B3E4F}"/>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2218808" y="5714883"/>
              <a:ext cx="714807" cy="142961"/>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151">
              <a:extLst>
                <a:ext uri="{FF2B5EF4-FFF2-40B4-BE49-F238E27FC236}">
                  <a16:creationId xmlns:a16="http://schemas.microsoft.com/office/drawing/2014/main" id="{91A48213-ED22-744A-9F54-B98E78F68919}"/>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3021253" y="5690056"/>
              <a:ext cx="1067266" cy="22445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153">
              <a:extLst>
                <a:ext uri="{FF2B5EF4-FFF2-40B4-BE49-F238E27FC236}">
                  <a16:creationId xmlns:a16="http://schemas.microsoft.com/office/drawing/2014/main" id="{5D05229A-4546-E642-B5D9-9C658BA3C0BB}"/>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4155843" y="5680925"/>
              <a:ext cx="769218" cy="17692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55">
              <a:extLst>
                <a:ext uri="{FF2B5EF4-FFF2-40B4-BE49-F238E27FC236}">
                  <a16:creationId xmlns:a16="http://schemas.microsoft.com/office/drawing/2014/main" id="{402D777D-D9D5-9642-8227-A616327FF853}"/>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5549338" y="5382052"/>
              <a:ext cx="1427486" cy="63303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57">
              <a:extLst>
                <a:ext uri="{FF2B5EF4-FFF2-40B4-BE49-F238E27FC236}">
                  <a16:creationId xmlns:a16="http://schemas.microsoft.com/office/drawing/2014/main" id="{BD5C6282-EF74-1E4E-9C9D-C3F670D33255}"/>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52947" y="6171546"/>
              <a:ext cx="1458771" cy="27409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159">
              <a:extLst>
                <a:ext uri="{FF2B5EF4-FFF2-40B4-BE49-F238E27FC236}">
                  <a16:creationId xmlns:a16="http://schemas.microsoft.com/office/drawing/2014/main" id="{818997F3-8B96-B144-87D4-43471419F7E1}"/>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2478065" y="6142813"/>
              <a:ext cx="1161795" cy="30282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161">
              <a:extLst>
                <a:ext uri="{FF2B5EF4-FFF2-40B4-BE49-F238E27FC236}">
                  <a16:creationId xmlns:a16="http://schemas.microsoft.com/office/drawing/2014/main" id="{8B26BE2C-7585-C24A-AA53-ABD8B366E20E}"/>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290387" y="6205231"/>
              <a:ext cx="1207525" cy="21064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02582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alf Page &amp; Quote">
    <p:bg>
      <p:bgPr>
        <a:solidFill>
          <a:schemeClr val="lt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8193" name="think-cell Slide" r:id="rId4" imgW="668" imgH="670" progId="TCLayout.ActiveDocument.1">
                  <p:embed/>
                </p:oleObj>
              </mc:Choice>
              <mc:Fallback>
                <p:oleObj name="think-cell Slide" r:id="rId4"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pic>
        <p:nvPicPr>
          <p:cNvPr id="9" name="Imagen 8">
            <a:extLst>
              <a:ext uri="{FF2B5EF4-FFF2-40B4-BE49-F238E27FC236}">
                <a16:creationId xmlns:a16="http://schemas.microsoft.com/office/drawing/2014/main" id="{E2C0CFDF-5E2A-4995-86D5-8DBC04540715}"/>
              </a:ext>
            </a:extLst>
          </p:cNvPr>
          <p:cNvPicPr>
            <a:picLocks noChangeAspect="1"/>
          </p:cNvPicPr>
          <p:nvPr userDrawn="1"/>
        </p:nvPicPr>
        <p:blipFill rotWithShape="1">
          <a:blip r:embed="rId6"/>
          <a:srcRect l="17882"/>
          <a:stretch/>
        </p:blipFill>
        <p:spPr>
          <a:xfrm rot="10800000">
            <a:off x="7699847" y="0"/>
            <a:ext cx="4492153" cy="6858000"/>
          </a:xfrm>
          <a:prstGeom prst="rect">
            <a:avLst/>
          </a:prstGeom>
        </p:spPr>
      </p:pic>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logo&#10;&#10;Description automatically generated">
            <a:extLst>
              <a:ext uri="{FF2B5EF4-FFF2-40B4-BE49-F238E27FC236}">
                <a16:creationId xmlns:a16="http://schemas.microsoft.com/office/drawing/2014/main" id="{B1EA7A11-6A08-3343-A1B6-E948E253820A}"/>
              </a:ext>
            </a:extLst>
          </p:cNvPr>
          <p:cNvPicPr>
            <a:picLocks noChangeAspect="1"/>
          </p:cNvPicPr>
          <p:nvPr userDrawn="1"/>
        </p:nvPicPr>
        <p:blipFill>
          <a:blip r:embed="rId7"/>
          <a:stretch>
            <a:fillRect/>
          </a:stretch>
        </p:blipFill>
        <p:spPr>
          <a:xfrm>
            <a:off x="9957920" y="500574"/>
            <a:ext cx="1929313" cy="525202"/>
          </a:xfrm>
          <a:prstGeom prst="rect">
            <a:avLst/>
          </a:prstGeom>
        </p:spPr>
      </p:pic>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5" y="390399"/>
            <a:ext cx="749700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3" y="775065"/>
            <a:ext cx="749700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Text Placeholder 7">
            <a:extLst>
              <a:ext uri="{FF2B5EF4-FFF2-40B4-BE49-F238E27FC236}">
                <a16:creationId xmlns:a16="http://schemas.microsoft.com/office/drawing/2014/main" id="{C35FBBB7-C6E5-1B40-9619-E117DE29C1D1}"/>
              </a:ext>
            </a:extLst>
          </p:cNvPr>
          <p:cNvSpPr>
            <a:spLocks noGrp="1"/>
          </p:cNvSpPr>
          <p:nvPr>
            <p:ph type="body" sz="quarter" idx="10" hasCustomPrompt="1"/>
          </p:nvPr>
        </p:nvSpPr>
        <p:spPr>
          <a:xfrm>
            <a:off x="8555016" y="1789471"/>
            <a:ext cx="2791410" cy="3878212"/>
          </a:xfrm>
          <a:prstGeom prst="rect">
            <a:avLst/>
          </a:prstGeom>
        </p:spPr>
        <p:txBody>
          <a:bodyPr anchor="ctr"/>
          <a:lstStyle>
            <a:lvl1pPr marL="0" indent="0" algn="l">
              <a:buNone/>
              <a:defRPr sz="1800" b="0" i="1">
                <a:solidFill>
                  <a:srgbClr val="4A1583"/>
                </a:solidFill>
                <a:latin typeface="IBM Plex Sans Medium" panose="020B0503050203000203" pitchFamily="34" charset="0"/>
              </a:defRPr>
            </a:lvl1pPr>
          </a:lstStyle>
          <a:p>
            <a:pPr lvl="0"/>
            <a:r>
              <a:rPr lang="en-US"/>
              <a:t>Click to edit text.</a:t>
            </a:r>
          </a:p>
        </p:txBody>
      </p:sp>
    </p:spTree>
    <p:extLst>
      <p:ext uri="{BB962C8B-B14F-4D97-AF65-F5344CB8AC3E}">
        <p14:creationId xmlns:p14="http://schemas.microsoft.com/office/powerpoint/2010/main" val="3966888082"/>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Half Slide 5">
    <p:bg>
      <p:bgPr>
        <a:solidFill>
          <a:schemeClr val="lt1"/>
        </a:solidFill>
        <a:effectLst/>
      </p:bgPr>
    </p:bg>
    <p:spTree>
      <p:nvGrpSpPr>
        <p:cNvPr id="1" name=""/>
        <p:cNvGrpSpPr/>
        <p:nvPr/>
      </p:nvGrpSpPr>
      <p:grpSpPr>
        <a:xfrm>
          <a:off x="0" y="0"/>
          <a:ext cx="0" cy="0"/>
          <a:chOff x="0" y="0"/>
          <a:chExt cx="0" cy="0"/>
        </a:xfrm>
      </p:grpSpPr>
      <p:pic>
        <p:nvPicPr>
          <p:cNvPr id="5" name="Picture 4" descr="Graphical user interface&#10;&#10;Description automatically generated with low confidence">
            <a:extLst>
              <a:ext uri="{FF2B5EF4-FFF2-40B4-BE49-F238E27FC236}">
                <a16:creationId xmlns:a16="http://schemas.microsoft.com/office/drawing/2014/main" id="{1DDE1868-D452-E442-88A5-32464866C2B4}"/>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9217"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2877452838"/>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49D6CAC-079A-4C0C-9E95-15C5DEE6E748}"/>
              </a:ext>
            </a:extLst>
          </p:cNvPr>
          <p:cNvGraphicFramePr>
            <a:graphicFrameLocks noChangeAspect="1"/>
          </p:cNvGraphicFramePr>
          <p:nvPr userDrawn="1">
            <p:custDataLst>
              <p:tags r:id="rId2"/>
            </p:custDataLst>
            <p:extLst>
              <p:ext uri="{D42A27DB-BD31-4B8C-83A1-F6EECF244321}">
                <p14:modId xmlns:p14="http://schemas.microsoft.com/office/powerpoint/2010/main" val="3885402470"/>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10241" name="think-cell Slide" r:id="rId5" imgW="668" imgH="670" progId="TCLayout.ActiveDocument.1">
                  <p:embed/>
                </p:oleObj>
              </mc:Choice>
              <mc:Fallback>
                <p:oleObj name="think-cell Slide" r:id="rId5" imgW="668" imgH="670" progId="TCLayout.ActiveDocument.1">
                  <p:embed/>
                  <p:pic>
                    <p:nvPicPr>
                      <p:cNvPr id="3" name="Object 2" hidden="1">
                        <a:extLst>
                          <a:ext uri="{FF2B5EF4-FFF2-40B4-BE49-F238E27FC236}">
                            <a16:creationId xmlns:a16="http://schemas.microsoft.com/office/drawing/2014/main" id="{E49D6CAC-079A-4C0C-9E95-15C5DEE6E748}"/>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6" name="Google Shape;44;g8e661b59ff_0_450">
            <a:extLst>
              <a:ext uri="{FF2B5EF4-FFF2-40B4-BE49-F238E27FC236}">
                <a16:creationId xmlns:a16="http://schemas.microsoft.com/office/drawing/2014/main" id="{BA8B4C33-393C-43FD-8E9D-967E88EA2D0F}"/>
              </a:ext>
            </a:extLst>
          </p:cNvPr>
          <p:cNvSpPr txBox="1"/>
          <p:nvPr userDrawn="1"/>
        </p:nvSpPr>
        <p:spPr>
          <a:xfrm rot="5400000">
            <a:off x="10703909" y="3367473"/>
            <a:ext cx="2614000" cy="123111"/>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spAutoFit/>
          </a:bodyPr>
          <a:lstStyle>
            <a:lvl1pPr algn="ctr">
              <a:defRPr sz="600">
                <a:solidFill>
                  <a:srgbClr val="C0C0C0"/>
                </a:solidFill>
                <a:latin typeface="IBM Plex Sans"/>
                <a:ea typeface="IBM Plex Sans"/>
                <a:cs typeface="IBM Plex Sans"/>
                <a:sym typeface="IBM Plex Sans"/>
              </a:defRPr>
            </a:lvl1pPr>
          </a:lstStyle>
          <a:p>
            <a:r>
              <a:rPr sz="800"/>
              <a:t>CONFIDENTIAL AND PROPRIETARY © ENCORA 202</a:t>
            </a:r>
            <a:r>
              <a:rPr lang="en-US" sz="800"/>
              <a:t>2</a:t>
            </a:r>
            <a:endParaRPr sz="800"/>
          </a:p>
        </p:txBody>
      </p:sp>
      <p:sp>
        <p:nvSpPr>
          <p:cNvPr id="7" name="Text Placeholder 13">
            <a:extLst>
              <a:ext uri="{FF2B5EF4-FFF2-40B4-BE49-F238E27FC236}">
                <a16:creationId xmlns:a16="http://schemas.microsoft.com/office/drawing/2014/main" id="{5A18B8FE-F948-FD43-80D4-835390848342}"/>
              </a:ext>
            </a:extLst>
          </p:cNvPr>
          <p:cNvSpPr>
            <a:spLocks noGrp="1"/>
          </p:cNvSpPr>
          <p:nvPr>
            <p:ph type="body" sz="quarter" idx="10" hasCustomPrompt="1"/>
          </p:nvPr>
        </p:nvSpPr>
        <p:spPr>
          <a:xfrm>
            <a:off x="1342143" y="1373051"/>
            <a:ext cx="8981728" cy="3857710"/>
          </a:xfrm>
          <a:prstGeom prst="rect">
            <a:avLst/>
          </a:prstGeom>
        </p:spPr>
        <p:txBody>
          <a:bodyPr/>
          <a:lstStyle>
            <a:lvl1pPr marL="0" indent="0">
              <a:buNone/>
              <a:defRPr sz="3600" b="1" i="0">
                <a:solidFill>
                  <a:schemeClr val="bg1"/>
                </a:solidFill>
                <a:latin typeface="Montserrat SemiBold" pitchFamily="2" charset="77"/>
              </a:defRPr>
            </a:lvl1pPr>
          </a:lstStyle>
          <a:p>
            <a:pPr lvl="0"/>
            <a:r>
              <a:rPr lang="en-US"/>
              <a:t>Click to add a quote</a:t>
            </a:r>
          </a:p>
        </p:txBody>
      </p:sp>
      <p:pic>
        <p:nvPicPr>
          <p:cNvPr id="8" name="Picture 7" descr="A picture containing text, clipart&#10;&#10;Description automatically generated">
            <a:extLst>
              <a:ext uri="{FF2B5EF4-FFF2-40B4-BE49-F238E27FC236}">
                <a16:creationId xmlns:a16="http://schemas.microsoft.com/office/drawing/2014/main" id="{E42985CF-3BAA-6349-B655-1EFD4B265FB4}"/>
              </a:ext>
            </a:extLst>
          </p:cNvPr>
          <p:cNvPicPr>
            <a:picLocks noChangeAspect="1"/>
          </p:cNvPicPr>
          <p:nvPr userDrawn="1"/>
        </p:nvPicPr>
        <p:blipFill>
          <a:blip r:embed="rId7"/>
          <a:stretch>
            <a:fillRect/>
          </a:stretch>
        </p:blipFill>
        <p:spPr>
          <a:xfrm>
            <a:off x="9598419" y="5948516"/>
            <a:ext cx="2140749" cy="628937"/>
          </a:xfrm>
          <a:prstGeom prst="rect">
            <a:avLst/>
          </a:prstGeom>
        </p:spPr>
      </p:pic>
      <p:sp>
        <p:nvSpPr>
          <p:cNvPr id="2" name="TextBox 1">
            <a:extLst>
              <a:ext uri="{FF2B5EF4-FFF2-40B4-BE49-F238E27FC236}">
                <a16:creationId xmlns:a16="http://schemas.microsoft.com/office/drawing/2014/main" id="{76CF8457-4174-A747-BBB8-0BD07A956054}"/>
              </a:ext>
            </a:extLst>
          </p:cNvPr>
          <p:cNvSpPr txBox="1"/>
          <p:nvPr userDrawn="1"/>
        </p:nvSpPr>
        <p:spPr>
          <a:xfrm>
            <a:off x="452832" y="803032"/>
            <a:ext cx="810653" cy="1569660"/>
          </a:xfrm>
          <a:prstGeom prst="rect">
            <a:avLst/>
          </a:prstGeom>
          <a:noFill/>
        </p:spPr>
        <p:txBody>
          <a:bodyPr wrap="square" rtlCol="0">
            <a:spAutoFit/>
          </a:bodyPr>
          <a:lstStyle/>
          <a:p>
            <a:r>
              <a:rPr lang="en-US" sz="9600" b="1" i="0">
                <a:solidFill>
                  <a:srgbClr val="FABD00"/>
                </a:solidFill>
                <a:latin typeface="Montserrat ExtraBold" pitchFamily="2" charset="77"/>
              </a:rPr>
              <a:t>“</a:t>
            </a:r>
          </a:p>
        </p:txBody>
      </p:sp>
    </p:spTree>
    <p:extLst>
      <p:ext uri="{BB962C8B-B14F-4D97-AF65-F5344CB8AC3E}">
        <p14:creationId xmlns:p14="http://schemas.microsoft.com/office/powerpoint/2010/main" val="1807208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16" name="Picture 15" descr="A group of people sitting at a table with computers&#10;&#10;Description automatically generated with low confidence">
            <a:extLst>
              <a:ext uri="{FF2B5EF4-FFF2-40B4-BE49-F238E27FC236}">
                <a16:creationId xmlns:a16="http://schemas.microsoft.com/office/drawing/2014/main" id="{4FEAAFB2-F2A9-C142-8AB9-E130ED6C591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3" name="Google Shape;8;g8d09728e15_0_479">
            <a:extLst>
              <a:ext uri="{FF2B5EF4-FFF2-40B4-BE49-F238E27FC236}">
                <a16:creationId xmlns:a16="http://schemas.microsoft.com/office/drawing/2014/main" id="{967D264A-22FD-CA44-BBE6-4482603CC675}"/>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4" name="Google Shape;9;g8d09728e15_0_479">
            <a:extLst>
              <a:ext uri="{FF2B5EF4-FFF2-40B4-BE49-F238E27FC236}">
                <a16:creationId xmlns:a16="http://schemas.microsoft.com/office/drawing/2014/main" id="{C33B69C5-9CF3-1946-9272-3B714BC69C4F}"/>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317921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620A586A-018A-A24A-B515-926CAFC7735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62713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ubtitle &amp; Bulle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3FD8FCE6-56F2-B140-AF08-F2F2864A8D35}"/>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6163AEF3-8BD4-9547-B6B5-F557D0D7B06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FFCEEB21-BA50-D743-BF80-B48F712CA2CF}"/>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25B6AB68-B8B9-764C-B0A5-0E99C35A3ED4}"/>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A0EAB763-CB24-FF47-8EBE-EB58403799D4}"/>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Google Shape;29;p28">
            <a:extLst>
              <a:ext uri="{FF2B5EF4-FFF2-40B4-BE49-F238E27FC236}">
                <a16:creationId xmlns:a16="http://schemas.microsoft.com/office/drawing/2014/main" id="{53EFBF6E-1413-A640-AFF9-CB739487F212}"/>
              </a:ext>
            </a:extLst>
          </p:cNvPr>
          <p:cNvSpPr txBox="1">
            <a:spLocks noGrp="1"/>
          </p:cNvSpPr>
          <p:nvPr>
            <p:ph type="body" idx="2" hasCustomPrompt="1"/>
          </p:nvPr>
        </p:nvSpPr>
        <p:spPr>
          <a:xfrm>
            <a:off x="349233" y="1434164"/>
            <a:ext cx="11367731"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33090488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14" name="Picture 13" descr="A picture containing text&#10;&#10;Description automatically generated">
            <a:extLst>
              <a:ext uri="{FF2B5EF4-FFF2-40B4-BE49-F238E27FC236}">
                <a16:creationId xmlns:a16="http://schemas.microsoft.com/office/drawing/2014/main" id="{89AE4973-D275-0E4A-8162-B5C7B6DC32B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14501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151052"/>
      </p:ext>
    </p:extLst>
  </p:cSld>
  <p:clrMap bg1="lt1" tx1="dk1" bg2="lt2" tx2="dk2" accent1="accent1" accent2="accent2" accent3="accent3" accent4="accent4" accent5="accent5" accent6="accent6" hlink="hlink" folHlink="folHlink"/>
  <p:sldLayoutIdLst>
    <p:sldLayoutId id="2147483712" r:id="rId1"/>
    <p:sldLayoutId id="2147483697" r:id="rId2"/>
    <p:sldLayoutId id="2147483705" r:id="rId3"/>
    <p:sldLayoutId id="2147483709" r:id="rId4"/>
    <p:sldLayoutId id="2147483673" r:id="rId5"/>
    <p:sldLayoutId id="2147483708" r:id="rId6"/>
    <p:sldLayoutId id="2147483695" r:id="rId7"/>
    <p:sldLayoutId id="2147483699" r:id="rId8"/>
    <p:sldLayoutId id="2147483692" r:id="rId9"/>
    <p:sldLayoutId id="2147483679" r:id="rId10"/>
    <p:sldLayoutId id="2147483702" r:id="rId11"/>
    <p:sldLayoutId id="2147483706"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hyperlink" Target="mailto:roberto.nogueira@encora.com" TargetMode="External"/><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1.png"/><Relationship Id="rId4" Type="http://schemas.openxmlformats.org/officeDocument/2006/relationships/hyperlink" Target="https://www.linkedin.com/public-profile/settings?trk=d_flagship3_profile_self_view_public_prof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hyperlink" Target="https://www.puppet-debugger.com/" TargetMode="External"/><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hyperlink" Target="https://demo.puppet-debugger.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Software_configuration_management" TargetMode="External"/><Relationship Id="rId7" Type="http://schemas.openxmlformats.org/officeDocument/2006/relationships/image" Target="../media/image105.png"/><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8.xml"/><Relationship Id="rId6" Type="http://schemas.openxmlformats.org/officeDocument/2006/relationships/image" Target="../media/image104.png"/><Relationship Id="rId5" Type="http://schemas.openxmlformats.org/officeDocument/2006/relationships/hyperlink" Target="https://en.wikipedia.org/wiki/System_configuration" TargetMode="External"/><Relationship Id="rId4" Type="http://schemas.openxmlformats.org/officeDocument/2006/relationships/hyperlink" Target="https://en.wikipedia.org/wiki/Declarative_languag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wrs.com/display/~rmartins/Puppet+Debugger+Presentation#PuppetDebuggerPresentation-References" TargetMode="External"/><Relationship Id="rId2" Type="http://schemas.openxmlformats.org/officeDocument/2006/relationships/hyperlink" Target="https://www.docker.com/"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hyperlink" Target="https://en.wikipedia.org/wiki/Client%E2%80%93server_model" TargetMode="External"/><Relationship Id="rId7" Type="http://schemas.openxmlformats.org/officeDocument/2006/relationships/hyperlink" Target="https://en.wikipedia.org/wiki/APT_(software)" TargetMode="External"/><Relationship Id="rId2" Type="http://schemas.openxmlformats.org/officeDocument/2006/relationships/hyperlink" Target="https://en.wikipedia.org/wiki/Declarative_programming" TargetMode="External"/><Relationship Id="rId1" Type="http://schemas.openxmlformats.org/officeDocument/2006/relationships/slideLayout" Target="../slideLayouts/slideLayout8.xml"/><Relationship Id="rId6" Type="http://schemas.openxmlformats.org/officeDocument/2006/relationships/hyperlink" Target="https://en.wikipedia.org/wiki/Yum_(software)" TargetMode="External"/><Relationship Id="rId5" Type="http://schemas.openxmlformats.org/officeDocument/2006/relationships/hyperlink" Target="https://en.wikipedia.org/wiki/RPM_Package_Manager" TargetMode="External"/><Relationship Id="rId4" Type="http://schemas.openxmlformats.org/officeDocument/2006/relationships/hyperlink" Target="https://en.wikipedia.org/wiki/Representational_state_transfer" TargetMode="External"/><Relationship Id="rId9" Type="http://schemas.openxmlformats.org/officeDocument/2006/relationships/image" Target="../media/image107.png"/></Relationships>
</file>

<file path=ppt/slides/_rels/slide1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fMTQvqZZH7g" TargetMode="Externa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9vXM5AMBQqc"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hyperlink" Target="https://forge.puppet.com/" TargetMode="External"/><Relationship Id="rId1" Type="http://schemas.openxmlformats.org/officeDocument/2006/relationships/slideLayout" Target="../slideLayouts/slideLayout8.xml"/><Relationship Id="rId4" Type="http://schemas.openxmlformats.org/officeDocument/2006/relationships/image" Target="../media/image116.png"/></Relationships>
</file>

<file path=ppt/slides/_rels/slide18.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WWTV7Kz41Go" TargetMode="Externa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tctfRBqvFKw" TargetMode="External"/></Relationships>
</file>

<file path=ppt/slides/_rels/slide2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hyperlink" Target="https://puppet.com/learning-training/kits/puppet-language-basics/" TargetMode="External"/><Relationship Id="rId2" Type="http://schemas.openxmlformats.org/officeDocument/2006/relationships/image" Target="../media/image120.png"/><Relationship Id="rId1" Type="http://schemas.openxmlformats.org/officeDocument/2006/relationships/slideLayout" Target="../slideLayouts/slideLayout8.xml"/><Relationship Id="rId6" Type="http://schemas.openxmlformats.org/officeDocument/2006/relationships/hyperlink" Target="https://www.youtube.com/watch?v=gz9Nb6j6dss" TargetMode="External"/><Relationship Id="rId5" Type="http://schemas.openxmlformats.org/officeDocument/2006/relationships/image" Target="../media/image123.png"/><Relationship Id="rId4" Type="http://schemas.openxmlformats.org/officeDocument/2006/relationships/image" Target="../media/image122.png"/></Relationships>
</file>

<file path=ppt/slides/_rels/slide2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8" Type="http://schemas.openxmlformats.org/officeDocument/2006/relationships/hyperlink" Target="https://marketplace.visualstudio.com/" TargetMode="External"/><Relationship Id="rId3" Type="http://schemas.openxmlformats.org/officeDocument/2006/relationships/hyperlink" Target="https://en.wikipedia.org/wiki/Google_Chrome" TargetMode="External"/><Relationship Id="rId7" Type="http://schemas.openxmlformats.org/officeDocument/2006/relationships/hyperlink" Target="https://marketplace.visualstudio.com/items?itemName=puppet.puppet-vscode" TargetMode="External"/><Relationship Id="rId2" Type="http://schemas.openxmlformats.org/officeDocument/2006/relationships/image" Target="../media/image126.png"/><Relationship Id="rId1" Type="http://schemas.openxmlformats.org/officeDocument/2006/relationships/slideLayout" Target="../slideLayouts/slideLayout8.xml"/><Relationship Id="rId6" Type="http://schemas.openxmlformats.org/officeDocument/2006/relationships/hyperlink" Target="https://support.google.com/chrome/a/answer/2714278?hl=en" TargetMode="External"/><Relationship Id="rId5" Type="http://schemas.openxmlformats.org/officeDocument/2006/relationships/hyperlink" Target="https://github.com/enogrob/chromeapps-puppet" TargetMode="External"/><Relationship Id="rId4" Type="http://schemas.openxmlformats.org/officeDocument/2006/relationships/hyperlink" Target="https://en.wikipedia.org/wiki/Visual_Studio_Code" TargetMode="External"/><Relationship Id="rId9" Type="http://schemas.openxmlformats.org/officeDocument/2006/relationships/image" Target="../media/image12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VVr4rU_9A_w" TargetMode="External"/><Relationship Id="rId13" Type="http://schemas.openxmlformats.org/officeDocument/2006/relationships/image" Target="../media/image98.png"/><Relationship Id="rId3" Type="http://schemas.openxmlformats.org/officeDocument/2006/relationships/hyperlink" Target="https://docs.docker.com/engine/install/" TargetMode="External"/><Relationship Id="rId7" Type="http://schemas.openxmlformats.org/officeDocument/2006/relationships/hyperlink" Target="https://www.puppet-debugger.com/" TargetMode="External"/><Relationship Id="rId12" Type="http://schemas.openxmlformats.org/officeDocument/2006/relationships/hyperlink" Target="https://github.com/rnelson0/awesome-puppet" TargetMode="External"/><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2.xml"/><Relationship Id="rId6" Type="http://schemas.openxmlformats.org/officeDocument/2006/relationships/hyperlink" Target="https://confluence.wrs.com/pages/viewpage.action?pageId=38698781" TargetMode="External"/><Relationship Id="rId11" Type="http://schemas.openxmlformats.org/officeDocument/2006/relationships/hyperlink" Target="https://www.puppetcookbook.com/" TargetMode="External"/><Relationship Id="rId5" Type="http://schemas.openxmlformats.org/officeDocument/2006/relationships/hyperlink" Target="https://forge.puppet.com/" TargetMode="External"/><Relationship Id="rId10" Type="http://schemas.openxmlformats.org/officeDocument/2006/relationships/hyperlink" Target="https://www.youtube.com/user/PuppetLabsInc" TargetMode="External"/><Relationship Id="rId4" Type="http://schemas.openxmlformats.org/officeDocument/2006/relationships/hyperlink" Target="https://puppet.com/learning-training/kits/puppet-language-basics/" TargetMode="External"/><Relationship Id="rId9" Type="http://schemas.openxmlformats.org/officeDocument/2006/relationships/hyperlink" Target="https://www.youtube.com/watch?v=RT_e7kCyCH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5E4E5-B866-744B-BA76-E4115DE29CEC}"/>
              </a:ext>
            </a:extLst>
          </p:cNvPr>
          <p:cNvSpPr>
            <a:spLocks noGrp="1"/>
          </p:cNvSpPr>
          <p:nvPr>
            <p:ph type="title"/>
          </p:nvPr>
        </p:nvSpPr>
        <p:spPr/>
        <p:txBody>
          <a:bodyPr/>
          <a:lstStyle/>
          <a:p>
            <a:r>
              <a:rPr lang="en-US"/>
              <a:t>Puppet Debugger</a:t>
            </a:r>
          </a:p>
        </p:txBody>
      </p:sp>
      <p:sp>
        <p:nvSpPr>
          <p:cNvPr id="3" name="Subtitle 2">
            <a:extLst>
              <a:ext uri="{FF2B5EF4-FFF2-40B4-BE49-F238E27FC236}">
                <a16:creationId xmlns:a16="http://schemas.microsoft.com/office/drawing/2014/main" id="{987D1033-C37E-0441-AC23-2DABB43A1847}"/>
              </a:ext>
            </a:extLst>
          </p:cNvPr>
          <p:cNvSpPr>
            <a:spLocks noGrp="1"/>
          </p:cNvSpPr>
          <p:nvPr>
            <p:ph type="subTitle" idx="1"/>
          </p:nvPr>
        </p:nvSpPr>
        <p:spPr/>
        <p:txBody>
          <a:bodyPr/>
          <a:lstStyle/>
          <a:p>
            <a:r>
              <a:rPr lang="en-US">
                <a:latin typeface="Montserrat"/>
              </a:rPr>
              <a:t>Campinas, 06Mai22</a:t>
            </a:r>
            <a:endParaRPr lang="en-US"/>
          </a:p>
        </p:txBody>
      </p:sp>
      <p:pic>
        <p:nvPicPr>
          <p:cNvPr id="4" name="Picture 4" descr="Icon&#10;&#10;Description automatically generated">
            <a:extLst>
              <a:ext uri="{FF2B5EF4-FFF2-40B4-BE49-F238E27FC236}">
                <a16:creationId xmlns:a16="http://schemas.microsoft.com/office/drawing/2014/main" id="{35D8DEDA-0632-53A9-97D4-9A6996380D87}"/>
              </a:ext>
            </a:extLst>
          </p:cNvPr>
          <p:cNvPicPr>
            <a:picLocks noChangeAspect="1"/>
          </p:cNvPicPr>
          <p:nvPr/>
        </p:nvPicPr>
        <p:blipFill>
          <a:blip r:embed="rId2"/>
          <a:stretch>
            <a:fillRect/>
          </a:stretch>
        </p:blipFill>
        <p:spPr>
          <a:xfrm>
            <a:off x="5644094" y="3830945"/>
            <a:ext cx="1107689" cy="1008749"/>
          </a:xfrm>
          <a:prstGeom prst="rect">
            <a:avLst/>
          </a:prstGeom>
        </p:spPr>
      </p:pic>
      <p:pic>
        <p:nvPicPr>
          <p:cNvPr id="5" name="Picture 5" descr="Qr code&#10;&#10;Description automatically generated">
            <a:extLst>
              <a:ext uri="{FF2B5EF4-FFF2-40B4-BE49-F238E27FC236}">
                <a16:creationId xmlns:a16="http://schemas.microsoft.com/office/drawing/2014/main" id="{EEED6D6B-5D31-C0FA-C651-4D9284EB2A7E}"/>
              </a:ext>
            </a:extLst>
          </p:cNvPr>
          <p:cNvPicPr>
            <a:picLocks noChangeAspect="1"/>
          </p:cNvPicPr>
          <p:nvPr/>
        </p:nvPicPr>
        <p:blipFill>
          <a:blip r:embed="rId3"/>
          <a:stretch>
            <a:fillRect/>
          </a:stretch>
        </p:blipFill>
        <p:spPr>
          <a:xfrm>
            <a:off x="9073188" y="2543905"/>
            <a:ext cx="2743200" cy="2743200"/>
          </a:xfrm>
          <a:prstGeom prst="rect">
            <a:avLst/>
          </a:prstGeom>
        </p:spPr>
      </p:pic>
    </p:spTree>
    <p:extLst>
      <p:ext uri="{BB962C8B-B14F-4D97-AF65-F5344CB8AC3E}">
        <p14:creationId xmlns:p14="http://schemas.microsoft.com/office/powerpoint/2010/main" val="2343014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About myself</a:t>
            </a:r>
            <a:endParaRPr lang="en-US"/>
          </a:p>
        </p:txBody>
      </p:sp>
      <p:pic>
        <p:nvPicPr>
          <p:cNvPr id="7" name="Picture 7" descr="Graphical user interface, text&#10;&#10;Description automatically generated">
            <a:extLst>
              <a:ext uri="{FF2B5EF4-FFF2-40B4-BE49-F238E27FC236}">
                <a16:creationId xmlns:a16="http://schemas.microsoft.com/office/drawing/2014/main" id="{72A1A034-8DB5-3489-0DED-FCD598D918C8}"/>
              </a:ext>
            </a:extLst>
          </p:cNvPr>
          <p:cNvPicPr>
            <a:picLocks noChangeAspect="1"/>
          </p:cNvPicPr>
          <p:nvPr/>
        </p:nvPicPr>
        <p:blipFill>
          <a:blip r:embed="rId2"/>
          <a:stretch>
            <a:fillRect/>
          </a:stretch>
        </p:blipFill>
        <p:spPr>
          <a:xfrm>
            <a:off x="414097" y="1210576"/>
            <a:ext cx="6114472" cy="3343879"/>
          </a:xfrm>
          <a:prstGeom prst="rect">
            <a:avLst/>
          </a:prstGeom>
        </p:spPr>
      </p:pic>
      <p:sp>
        <p:nvSpPr>
          <p:cNvPr id="10" name="TextBox 9">
            <a:extLst>
              <a:ext uri="{FF2B5EF4-FFF2-40B4-BE49-F238E27FC236}">
                <a16:creationId xmlns:a16="http://schemas.microsoft.com/office/drawing/2014/main" id="{40C6451B-553D-5A54-17BF-3A347B5336C0}"/>
              </a:ext>
            </a:extLst>
          </p:cNvPr>
          <p:cNvSpPr txBox="1"/>
          <p:nvPr/>
        </p:nvSpPr>
        <p:spPr>
          <a:xfrm>
            <a:off x="415060" y="4656089"/>
            <a:ext cx="6245318" cy="141577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tx1">
                    <a:lumMod val="50000"/>
                    <a:lumOff val="50000"/>
                  </a:schemeClr>
                </a:solidFill>
                <a:ea typeface="+mn-lt"/>
                <a:cs typeface="+mn-lt"/>
              </a:rPr>
              <a:t>Systems Specialist</a:t>
            </a:r>
            <a:r>
              <a:rPr lang="en-US" sz="1400">
                <a:solidFill>
                  <a:schemeClr val="tx1">
                    <a:lumMod val="50000"/>
                    <a:lumOff val="50000"/>
                  </a:schemeClr>
                </a:solidFill>
                <a:ea typeface="+mn-lt"/>
                <a:cs typeface="+mn-lt"/>
              </a:rPr>
              <a:t> at Daitan (now </a:t>
            </a:r>
            <a:r>
              <a:rPr lang="en-US" sz="1400" err="1">
                <a:solidFill>
                  <a:schemeClr val="tx1">
                    <a:lumMod val="50000"/>
                    <a:lumOff val="50000"/>
                  </a:schemeClr>
                </a:solidFill>
                <a:ea typeface="+mn-lt"/>
                <a:cs typeface="+mn-lt"/>
              </a:rPr>
              <a:t>Encora</a:t>
            </a:r>
            <a:r>
              <a:rPr lang="en-US" sz="1400">
                <a:solidFill>
                  <a:schemeClr val="tx1">
                    <a:lumMod val="50000"/>
                    <a:lumOff val="50000"/>
                  </a:schemeClr>
                </a:solidFill>
                <a:ea typeface="+mn-lt"/>
                <a:cs typeface="+mn-lt"/>
              </a:rPr>
              <a:t>) since 2021. Graduated in Software Engineering and Telecommunications, with more than 25 years of experience in the area and </a:t>
            </a:r>
            <a:r>
              <a:rPr lang="en-US" sz="1400" u="sng">
                <a:solidFill>
                  <a:schemeClr val="tx1">
                    <a:lumMod val="50000"/>
                    <a:lumOff val="50000"/>
                  </a:schemeClr>
                </a:solidFill>
                <a:ea typeface="+mn-lt"/>
                <a:cs typeface="+mn-lt"/>
              </a:rPr>
              <a:t>Experienced Integrator certified by </a:t>
            </a:r>
            <a:r>
              <a:rPr lang="en-US" sz="1400" b="1" u="sng">
                <a:solidFill>
                  <a:schemeClr val="tx1">
                    <a:lumMod val="50000"/>
                    <a:lumOff val="50000"/>
                  </a:schemeClr>
                </a:solidFill>
                <a:ea typeface="+mn-lt"/>
                <a:cs typeface="+mn-lt"/>
              </a:rPr>
              <a:t>Ericsson</a:t>
            </a:r>
            <a:br>
              <a:rPr lang="en-US" sz="1400" b="1" u="sng">
                <a:solidFill>
                  <a:schemeClr val="tx1">
                    <a:lumMod val="50000"/>
                    <a:lumOff val="50000"/>
                  </a:schemeClr>
                </a:solidFill>
                <a:ea typeface="+mn-lt"/>
                <a:cs typeface="+mn-lt"/>
              </a:rPr>
            </a:br>
            <a:endParaRPr lang="en-US" sz="1400" b="1" u="sng">
              <a:solidFill>
                <a:schemeClr val="tx1">
                  <a:lumMod val="50000"/>
                  <a:lumOff val="50000"/>
                </a:schemeClr>
              </a:solidFill>
              <a:ea typeface="+mn-lt"/>
              <a:cs typeface="+mn-lt"/>
            </a:endParaRPr>
          </a:p>
          <a:p>
            <a:br>
              <a:rPr lang="en-US" sz="1400" b="1" u="sng">
                <a:ea typeface="+mn-lt"/>
                <a:cs typeface="+mn-lt"/>
              </a:rPr>
            </a:br>
            <a:r>
              <a:rPr lang="en-US" sz="800">
                <a:solidFill>
                  <a:schemeClr val="tx1">
                    <a:lumMod val="50000"/>
                    <a:lumOff val="50000"/>
                  </a:schemeClr>
                </a:solidFill>
                <a:latin typeface="Consolas"/>
                <a:ea typeface="+mn-lt"/>
                <a:cs typeface="+mn-lt"/>
              </a:rPr>
              <a:t>Email   : </a:t>
            </a:r>
            <a:r>
              <a:rPr lang="en-US" sz="800">
                <a:solidFill>
                  <a:schemeClr val="tx1">
                    <a:lumMod val="50000"/>
                    <a:lumOff val="50000"/>
                  </a:schemeClr>
                </a:solidFill>
                <a:latin typeface="Consolas"/>
                <a:ea typeface="+mn-lt"/>
                <a:cs typeface="+mn-lt"/>
                <a:hlinkClick r:id="rId3">
                  <a:extLst>
                    <a:ext uri="{A12FA001-AC4F-418D-AE19-62706E023703}">
                      <ahyp:hlinkClr xmlns:ahyp="http://schemas.microsoft.com/office/drawing/2018/hyperlinkcolor" val="tx"/>
                    </a:ext>
                  </a:extLst>
                </a:hlinkClick>
              </a:rPr>
              <a:t>roberto.nogueira@encora.com</a:t>
            </a:r>
            <a:br>
              <a:rPr lang="en-US" sz="800">
                <a:latin typeface="Consolas"/>
                <a:ea typeface="+mn-lt"/>
                <a:cs typeface="+mn-lt"/>
              </a:rPr>
            </a:br>
            <a:r>
              <a:rPr lang="en-US" sz="800">
                <a:solidFill>
                  <a:schemeClr val="tx1">
                    <a:lumMod val="50000"/>
                    <a:lumOff val="50000"/>
                  </a:schemeClr>
                </a:solidFill>
                <a:latin typeface="Consolas"/>
                <a:ea typeface="+mn-lt"/>
                <a:cs typeface="+mn-lt"/>
              </a:rPr>
              <a:t>LinkedIn: </a:t>
            </a:r>
            <a:r>
              <a:rPr lang="en-US" sz="800">
                <a:latin typeface="Consolas"/>
                <a:ea typeface="+mn-lt"/>
                <a:cs typeface="+mn-lt"/>
                <a:hlinkClick r:id="rId4"/>
              </a:rPr>
              <a:t>https://www.linkedin.com/public-profile/settings?trk=d_flagship3_profile_self_view_public_profile</a:t>
            </a:r>
            <a:endParaRPr lang="en-US" sz="800">
              <a:solidFill>
                <a:srgbClr val="7F7F7F"/>
              </a:solidFill>
              <a:latin typeface="Consolas"/>
              <a:ea typeface="+mn-lt"/>
              <a:cs typeface="+mn-lt"/>
            </a:endParaRPr>
          </a:p>
        </p:txBody>
      </p:sp>
      <p:pic>
        <p:nvPicPr>
          <p:cNvPr id="3" name="Picture 4" descr="Qr code&#10;&#10;Description automatically generated">
            <a:extLst>
              <a:ext uri="{FF2B5EF4-FFF2-40B4-BE49-F238E27FC236}">
                <a16:creationId xmlns:a16="http://schemas.microsoft.com/office/drawing/2014/main" id="{F4850598-9189-8A28-311E-B85FF70A453B}"/>
              </a:ext>
            </a:extLst>
          </p:cNvPr>
          <p:cNvPicPr>
            <a:picLocks noChangeAspect="1"/>
          </p:cNvPicPr>
          <p:nvPr/>
        </p:nvPicPr>
        <p:blipFill>
          <a:blip r:embed="rId5"/>
          <a:stretch>
            <a:fillRect/>
          </a:stretch>
        </p:blipFill>
        <p:spPr>
          <a:xfrm>
            <a:off x="9173248" y="3696855"/>
            <a:ext cx="2743200" cy="2743200"/>
          </a:xfrm>
          <a:prstGeom prst="rect">
            <a:avLst/>
          </a:prstGeom>
        </p:spPr>
      </p:pic>
    </p:spTree>
    <p:extLst>
      <p:ext uri="{BB962C8B-B14F-4D97-AF65-F5344CB8AC3E}">
        <p14:creationId xmlns:p14="http://schemas.microsoft.com/office/powerpoint/2010/main" val="355759291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p:txBody>
          <a:bodyPr/>
          <a:lstStyle/>
          <a:p>
            <a:pPr marL="525780" indent="-342900" fontAlgn="base">
              <a:buAutoNum type="arabicPeriod"/>
            </a:pPr>
            <a:r>
              <a:rPr lang="en-US">
                <a:solidFill>
                  <a:schemeClr val="bg2">
                    <a:lumMod val="50000"/>
                  </a:schemeClr>
                </a:solidFill>
              </a:rPr>
              <a:t>Objective</a:t>
            </a:r>
          </a:p>
          <a:p>
            <a:pPr marL="525780" indent="-342900">
              <a:buAutoNum type="arabicPeriod"/>
            </a:pPr>
            <a:r>
              <a:rPr lang="en-US">
                <a:solidFill>
                  <a:schemeClr val="bg2">
                    <a:lumMod val="50000"/>
                  </a:schemeClr>
                </a:solidFill>
              </a:rPr>
              <a:t>Puppet</a:t>
            </a:r>
          </a:p>
          <a:p>
            <a:pPr marL="525780" indent="-342900">
              <a:buAutoNum type="arabicPeriod"/>
            </a:pPr>
            <a:r>
              <a:rPr lang="en-US">
                <a:solidFill>
                  <a:schemeClr val="bg2">
                    <a:lumMod val="50000"/>
                  </a:schemeClr>
                </a:solidFill>
              </a:rPr>
              <a:t>Puppet Language Basics</a:t>
            </a:r>
          </a:p>
          <a:p>
            <a:pPr marL="525780" indent="-342900">
              <a:buAutoNum type="arabicPeriod"/>
            </a:pPr>
            <a:r>
              <a:rPr lang="en-US">
                <a:solidFill>
                  <a:schemeClr val="bg2">
                    <a:lumMod val="50000"/>
                  </a:schemeClr>
                </a:solidFill>
              </a:rPr>
              <a:t>Puppet Debugger</a:t>
            </a:r>
          </a:p>
          <a:p>
            <a:pPr marL="525780" indent="-342900">
              <a:buAutoNum type="arabicPeriod"/>
            </a:pPr>
            <a:r>
              <a:rPr lang="en-US" err="1">
                <a:solidFill>
                  <a:schemeClr val="bg2">
                    <a:lumMod val="50000"/>
                  </a:schemeClr>
                </a:solidFill>
              </a:rPr>
              <a:t>Pupper</a:t>
            </a:r>
            <a:r>
              <a:rPr lang="en-US">
                <a:solidFill>
                  <a:schemeClr val="bg2">
                    <a:lumMod val="50000"/>
                  </a:schemeClr>
                </a:solidFill>
              </a:rPr>
              <a:t> Debugger Commands</a:t>
            </a:r>
          </a:p>
          <a:p>
            <a:pPr marL="525780" indent="-342900">
              <a:buAutoNum type="arabicPeriod"/>
            </a:pPr>
            <a:r>
              <a:rPr lang="en-US">
                <a:solidFill>
                  <a:schemeClr val="bg2">
                    <a:lumMod val="50000"/>
                  </a:schemeClr>
                </a:solidFill>
              </a:rPr>
              <a:t>Puppet Extensions</a:t>
            </a:r>
          </a:p>
          <a:p>
            <a:pPr marL="525780" indent="-342900">
              <a:buAutoNum type="arabicPeriod"/>
            </a:pPr>
            <a:r>
              <a:rPr lang="en-US">
                <a:solidFill>
                  <a:schemeClr val="bg2">
                    <a:lumMod val="50000"/>
                  </a:schemeClr>
                </a:solidFill>
              </a:rPr>
              <a:t>References</a:t>
            </a:r>
          </a:p>
          <a:p>
            <a:pPr marL="525780" indent="-342900">
              <a:buAutoNum type="arabicPeriod"/>
            </a:pPr>
            <a:endParaRPr lang="en-US"/>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Contents</a:t>
            </a:r>
            <a:endParaRPr lang="en-US"/>
          </a:p>
        </p:txBody>
      </p:sp>
    </p:spTree>
    <p:extLst>
      <p:ext uri="{BB962C8B-B14F-4D97-AF65-F5344CB8AC3E}">
        <p14:creationId xmlns:p14="http://schemas.microsoft.com/office/powerpoint/2010/main" val="250331663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Objective</a:t>
            </a:r>
          </a:p>
        </p:txBody>
      </p:sp>
      <p:sp>
        <p:nvSpPr>
          <p:cNvPr id="6" name="Text Placeholder 5">
            <a:extLst>
              <a:ext uri="{FF2B5EF4-FFF2-40B4-BE49-F238E27FC236}">
                <a16:creationId xmlns:a16="http://schemas.microsoft.com/office/drawing/2014/main" id="{70944262-5739-1EC7-58AB-EFCF814AB925}"/>
              </a:ext>
            </a:extLst>
          </p:cNvPr>
          <p:cNvSpPr>
            <a:spLocks noGrp="1"/>
          </p:cNvSpPr>
          <p:nvPr>
            <p:ph type="body" idx="2"/>
          </p:nvPr>
        </p:nvSpPr>
        <p:spPr>
          <a:xfrm>
            <a:off x="135502" y="1331944"/>
            <a:ext cx="6454690" cy="1259803"/>
          </a:xfrm>
        </p:spPr>
        <p:txBody>
          <a:bodyPr/>
          <a:lstStyle/>
          <a:p>
            <a:pPr marL="182880" indent="0">
              <a:buNone/>
            </a:pPr>
            <a:r>
              <a:rPr lang="en-US"/>
              <a:t>It is to introduce a </a:t>
            </a:r>
            <a:r>
              <a:rPr lang="en-US" b="1">
                <a:hlinkClick r:id="rId2"/>
              </a:rPr>
              <a:t>Pupper Debugger</a:t>
            </a:r>
            <a:r>
              <a:rPr lang="en-US"/>
              <a:t>, a command line tool to help you write, understand, and debug Puppet code. </a:t>
            </a:r>
            <a:br>
              <a:rPr lang="en-US"/>
            </a:br>
            <a:r>
              <a:rPr lang="en-US"/>
              <a:t>In order to achieve that  the Puppet and its language  is revised.</a:t>
            </a:r>
          </a:p>
        </p:txBody>
      </p:sp>
      <p:pic>
        <p:nvPicPr>
          <p:cNvPr id="8" name="Picture 8" descr="Text&#10;&#10;Description automatically generated">
            <a:extLst>
              <a:ext uri="{FF2B5EF4-FFF2-40B4-BE49-F238E27FC236}">
                <a16:creationId xmlns:a16="http://schemas.microsoft.com/office/drawing/2014/main" id="{7B4624EA-F2DB-9B51-20E7-F37738E984B1}"/>
              </a:ext>
            </a:extLst>
          </p:cNvPr>
          <p:cNvPicPr>
            <a:picLocks noChangeAspect="1"/>
          </p:cNvPicPr>
          <p:nvPr/>
        </p:nvPicPr>
        <p:blipFill>
          <a:blip r:embed="rId3"/>
          <a:stretch>
            <a:fillRect/>
          </a:stretch>
        </p:blipFill>
        <p:spPr>
          <a:xfrm>
            <a:off x="347546" y="2698520"/>
            <a:ext cx="6441687" cy="2994251"/>
          </a:xfrm>
          <a:prstGeom prst="rect">
            <a:avLst/>
          </a:prstGeom>
        </p:spPr>
      </p:pic>
      <p:sp>
        <p:nvSpPr>
          <p:cNvPr id="9" name="TextBox 8">
            <a:extLst>
              <a:ext uri="{FF2B5EF4-FFF2-40B4-BE49-F238E27FC236}">
                <a16:creationId xmlns:a16="http://schemas.microsoft.com/office/drawing/2014/main" id="{AAF25DDA-58C5-3D94-6791-7AC469A76D47}"/>
              </a:ext>
            </a:extLst>
          </p:cNvPr>
          <p:cNvSpPr txBox="1"/>
          <p:nvPr/>
        </p:nvSpPr>
        <p:spPr>
          <a:xfrm>
            <a:off x="254620" y="6062547"/>
            <a:ext cx="641380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ea typeface="+mn-lt"/>
                <a:cs typeface="+mn-lt"/>
                <a:hlinkClick r:id="rId4"/>
              </a:rPr>
              <a:t>Demo</a:t>
            </a:r>
            <a:r>
              <a:rPr lang="en-US">
                <a:ea typeface="+mn-lt"/>
                <a:cs typeface="+mn-lt"/>
              </a:rPr>
              <a:t> </a:t>
            </a:r>
            <a:r>
              <a:rPr lang="en-US">
                <a:solidFill>
                  <a:schemeClr val="bg2">
                    <a:lumMod val="50000"/>
                  </a:schemeClr>
                </a:solidFill>
                <a:ea typeface="+mn-lt"/>
                <a:cs typeface="+mn-lt"/>
              </a:rPr>
              <a:t>is an Online Puppet Debugger.</a:t>
            </a:r>
            <a:endParaRPr lang="en-US">
              <a:solidFill>
                <a:schemeClr val="bg2">
                  <a:lumMod val="50000"/>
                </a:schemeClr>
              </a:solidFill>
            </a:endParaRPr>
          </a:p>
        </p:txBody>
      </p:sp>
      <p:pic>
        <p:nvPicPr>
          <p:cNvPr id="3" name="Picture 4" descr="Qr code&#10;&#10;Description automatically generated">
            <a:extLst>
              <a:ext uri="{FF2B5EF4-FFF2-40B4-BE49-F238E27FC236}">
                <a16:creationId xmlns:a16="http://schemas.microsoft.com/office/drawing/2014/main" id="{182D6CAF-0226-92D4-37B8-C25083F13BB7}"/>
              </a:ext>
            </a:extLst>
          </p:cNvPr>
          <p:cNvPicPr>
            <a:picLocks noChangeAspect="1"/>
          </p:cNvPicPr>
          <p:nvPr/>
        </p:nvPicPr>
        <p:blipFill>
          <a:blip r:embed="rId5"/>
          <a:stretch>
            <a:fillRect/>
          </a:stretch>
        </p:blipFill>
        <p:spPr>
          <a:xfrm>
            <a:off x="9242521" y="3681461"/>
            <a:ext cx="2743200" cy="2743200"/>
          </a:xfrm>
          <a:prstGeom prst="rect">
            <a:avLst/>
          </a:prstGeom>
        </p:spPr>
      </p:pic>
    </p:spTree>
    <p:extLst>
      <p:ext uri="{BB962C8B-B14F-4D97-AF65-F5344CB8AC3E}">
        <p14:creationId xmlns:p14="http://schemas.microsoft.com/office/powerpoint/2010/main" val="184597326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6FD4DE-99E4-C243-808B-391008D2003D}"/>
              </a:ext>
            </a:extLst>
          </p:cNvPr>
          <p:cNvSpPr>
            <a:spLocks noGrp="1"/>
          </p:cNvSpPr>
          <p:nvPr>
            <p:ph type="body" sz="quarter" idx="10"/>
          </p:nvPr>
        </p:nvSpPr>
        <p:spPr/>
        <p:txBody>
          <a:bodyPr lIns="91440" tIns="45720" rIns="91440" bIns="45720" anchor="t"/>
          <a:lstStyle/>
          <a:p>
            <a:r>
              <a:rPr lang="en-US" sz="4000" b="0">
                <a:latin typeface="Montserrat SemiBold"/>
              </a:rPr>
              <a:t>A command line tool to help you write, understand, and debug </a:t>
            </a:r>
            <a:r>
              <a:rPr lang="en-US" sz="4000" b="0">
                <a:solidFill>
                  <a:srgbClr val="FFC000"/>
                </a:solidFill>
                <a:latin typeface="Montserrat SemiBold"/>
              </a:rPr>
              <a:t>Puppet</a:t>
            </a:r>
            <a:r>
              <a:rPr lang="en-US" sz="4000" b="0">
                <a:latin typeface="Montserrat SemiBold"/>
              </a:rPr>
              <a:t> code</a:t>
            </a:r>
            <a:endParaRPr lang="en-US" sz="4000"/>
          </a:p>
          <a:p>
            <a:br>
              <a:rPr lang="en-US"/>
            </a:br>
            <a:endParaRPr lang="en-US"/>
          </a:p>
        </p:txBody>
      </p:sp>
    </p:spTree>
    <p:extLst>
      <p:ext uri="{BB962C8B-B14F-4D97-AF65-F5344CB8AC3E}">
        <p14:creationId xmlns:p14="http://schemas.microsoft.com/office/powerpoint/2010/main" val="3442851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Architecture</a:t>
            </a:r>
          </a:p>
        </p:txBody>
      </p:sp>
      <p:sp>
        <p:nvSpPr>
          <p:cNvPr id="6" name="Text Placeholder 5">
            <a:extLst>
              <a:ext uri="{FF2B5EF4-FFF2-40B4-BE49-F238E27FC236}">
                <a16:creationId xmlns:a16="http://schemas.microsoft.com/office/drawing/2014/main" id="{09506058-F402-38FF-F8AF-DAE747A220E7}"/>
              </a:ext>
            </a:extLst>
          </p:cNvPr>
          <p:cNvSpPr>
            <a:spLocks noGrp="1"/>
          </p:cNvSpPr>
          <p:nvPr>
            <p:ph type="body" idx="2"/>
          </p:nvPr>
        </p:nvSpPr>
        <p:spPr>
          <a:xfrm>
            <a:off x="179901" y="1397878"/>
            <a:ext cx="6454690" cy="1265851"/>
          </a:xfrm>
        </p:spPr>
        <p:txBody>
          <a:bodyPr/>
          <a:lstStyle/>
          <a:p>
            <a:pPr marL="182880" indent="0">
              <a:buNone/>
            </a:pPr>
            <a:r>
              <a:rPr lang="en-US" b="1">
                <a:hlinkClick r:id="rId2"/>
              </a:rPr>
              <a:t>Puppet</a:t>
            </a:r>
            <a:r>
              <a:rPr lang="en-US"/>
              <a:t> is a </a:t>
            </a:r>
            <a:r>
              <a:rPr lang="en-US">
                <a:hlinkClick r:id="rId3"/>
              </a:rPr>
              <a:t>software configuration management</a:t>
            </a:r>
            <a:r>
              <a:rPr lang="en-US"/>
              <a:t> tool which includes its own </a:t>
            </a:r>
            <a:r>
              <a:rPr lang="en-US">
                <a:hlinkClick r:id="rId4"/>
              </a:rPr>
              <a:t>declarative language</a:t>
            </a:r>
            <a:r>
              <a:rPr lang="en-US"/>
              <a:t> to describe </a:t>
            </a:r>
            <a:r>
              <a:rPr lang="en-US">
                <a:hlinkClick r:id="rId5"/>
              </a:rPr>
              <a:t>system configuration</a:t>
            </a:r>
            <a:r>
              <a:rPr lang="en-US"/>
              <a:t>. </a:t>
            </a:r>
            <a:endParaRPr lang="en-US" baseline="30000"/>
          </a:p>
        </p:txBody>
      </p:sp>
      <p:pic>
        <p:nvPicPr>
          <p:cNvPr id="3" name="Picture 4" descr="A picture containing timeline&#10;&#10;Description automatically generated">
            <a:extLst>
              <a:ext uri="{FF2B5EF4-FFF2-40B4-BE49-F238E27FC236}">
                <a16:creationId xmlns:a16="http://schemas.microsoft.com/office/drawing/2014/main" id="{35E2764D-4DB0-4A7B-502B-DB707CBE1F91}"/>
              </a:ext>
            </a:extLst>
          </p:cNvPr>
          <p:cNvPicPr>
            <a:picLocks noChangeAspect="1"/>
          </p:cNvPicPr>
          <p:nvPr/>
        </p:nvPicPr>
        <p:blipFill>
          <a:blip r:embed="rId6"/>
          <a:stretch>
            <a:fillRect/>
          </a:stretch>
        </p:blipFill>
        <p:spPr>
          <a:xfrm>
            <a:off x="345924" y="2555919"/>
            <a:ext cx="5416247" cy="4080544"/>
          </a:xfrm>
          <a:prstGeom prst="rect">
            <a:avLst/>
          </a:prstGeom>
        </p:spPr>
      </p:pic>
      <p:pic>
        <p:nvPicPr>
          <p:cNvPr id="7" name="Picture 7" descr="Qr code&#10;&#10;Description automatically generated">
            <a:extLst>
              <a:ext uri="{FF2B5EF4-FFF2-40B4-BE49-F238E27FC236}">
                <a16:creationId xmlns:a16="http://schemas.microsoft.com/office/drawing/2014/main" id="{06DAE6BE-A6CC-1F6C-E53A-FDCCF394CEF0}"/>
              </a:ext>
            </a:extLst>
          </p:cNvPr>
          <p:cNvPicPr>
            <a:picLocks noChangeAspect="1"/>
          </p:cNvPicPr>
          <p:nvPr/>
        </p:nvPicPr>
        <p:blipFill>
          <a:blip r:embed="rId7"/>
          <a:stretch>
            <a:fillRect/>
          </a:stretch>
        </p:blipFill>
        <p:spPr>
          <a:xfrm>
            <a:off x="9173248" y="3658370"/>
            <a:ext cx="2743200" cy="2743200"/>
          </a:xfrm>
          <a:prstGeom prst="rect">
            <a:avLst/>
          </a:prstGeom>
        </p:spPr>
      </p:pic>
    </p:spTree>
    <p:extLst>
      <p:ext uri="{BB962C8B-B14F-4D97-AF65-F5344CB8AC3E}">
        <p14:creationId xmlns:p14="http://schemas.microsoft.com/office/powerpoint/2010/main" val="239654118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50182-83F2-45B9-5F89-3DA7445EF51B}"/>
              </a:ext>
            </a:extLst>
          </p:cNvPr>
          <p:cNvSpPr>
            <a:spLocks noGrp="1"/>
          </p:cNvSpPr>
          <p:nvPr>
            <p:ph type="title"/>
          </p:nvPr>
        </p:nvSpPr>
        <p:spPr/>
        <p:txBody>
          <a:bodyPr/>
          <a:lstStyle/>
          <a:p>
            <a:r>
              <a:rPr lang="en-US"/>
              <a:t>Puppet</a:t>
            </a:r>
          </a:p>
        </p:txBody>
      </p:sp>
      <p:sp>
        <p:nvSpPr>
          <p:cNvPr id="4" name="Subtitle 3">
            <a:extLst>
              <a:ext uri="{FF2B5EF4-FFF2-40B4-BE49-F238E27FC236}">
                <a16:creationId xmlns:a16="http://schemas.microsoft.com/office/drawing/2014/main" id="{8A7E3A21-147C-5946-3689-842BF12E85BD}"/>
              </a:ext>
            </a:extLst>
          </p:cNvPr>
          <p:cNvSpPr>
            <a:spLocks noGrp="1"/>
          </p:cNvSpPr>
          <p:nvPr>
            <p:ph type="subTitle" idx="1"/>
          </p:nvPr>
        </p:nvSpPr>
        <p:spPr/>
        <p:txBody>
          <a:bodyPr/>
          <a:lstStyle/>
          <a:p>
            <a:r>
              <a:rPr lang="en-US"/>
              <a:t>Installation</a:t>
            </a:r>
          </a:p>
        </p:txBody>
      </p:sp>
      <p:sp>
        <p:nvSpPr>
          <p:cNvPr id="5" name="TextBox 4">
            <a:extLst>
              <a:ext uri="{FF2B5EF4-FFF2-40B4-BE49-F238E27FC236}">
                <a16:creationId xmlns:a16="http://schemas.microsoft.com/office/drawing/2014/main" id="{19B0F29E-1A55-8A5A-5181-E1D6104B8E46}"/>
              </a:ext>
            </a:extLst>
          </p:cNvPr>
          <p:cNvSpPr txBox="1"/>
          <p:nvPr/>
        </p:nvSpPr>
        <p:spPr>
          <a:xfrm>
            <a:off x="3200400" y="2815552"/>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
        <p:nvSpPr>
          <p:cNvPr id="7" name="Text Placeholder 5">
            <a:extLst>
              <a:ext uri="{FF2B5EF4-FFF2-40B4-BE49-F238E27FC236}">
                <a16:creationId xmlns:a16="http://schemas.microsoft.com/office/drawing/2014/main" id="{87B6AAEC-BA6E-7ADF-288E-5ED8B76A8A7C}"/>
              </a:ext>
            </a:extLst>
          </p:cNvPr>
          <p:cNvSpPr txBox="1">
            <a:spLocks/>
          </p:cNvSpPr>
          <p:nvPr/>
        </p:nvSpPr>
        <p:spPr>
          <a:xfrm>
            <a:off x="346097" y="1797864"/>
            <a:ext cx="6411908" cy="2353431"/>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0" indent="0">
              <a:buNone/>
            </a:pPr>
            <a:r>
              <a:rPr lang="en-US" sz="1200">
                <a:solidFill>
                  <a:schemeClr val="bg1"/>
                </a:solidFill>
              </a:rPr>
              <a:t>$ docker run --name=debian11 -t -</a:t>
            </a:r>
            <a:r>
              <a:rPr lang="en-US" sz="1200" err="1">
                <a:solidFill>
                  <a:schemeClr val="bg1"/>
                </a:solidFill>
              </a:rPr>
              <a:t>i</a:t>
            </a:r>
            <a:r>
              <a:rPr lang="en-US" sz="1200">
                <a:solidFill>
                  <a:schemeClr val="bg1"/>
                </a:solidFill>
              </a:rPr>
              <a:t> --rm debian:11 bash</a:t>
            </a:r>
            <a:br>
              <a:rPr lang="en-US" sz="1200">
                <a:solidFill>
                  <a:schemeClr val="bg1"/>
                </a:solidFill>
              </a:rPr>
            </a:br>
            <a:br>
              <a:rPr lang="en-US" sz="1200">
                <a:solidFill>
                  <a:schemeClr val="bg1"/>
                </a:solidFill>
              </a:rPr>
            </a:br>
            <a:r>
              <a:rPr lang="en-US" sz="1200">
                <a:solidFill>
                  <a:schemeClr val="bg1"/>
                </a:solidFill>
              </a:rPr>
              <a:t>$ update</a:t>
            </a:r>
            <a:br>
              <a:rPr lang="en-US" sz="1200">
                <a:solidFill>
                  <a:schemeClr val="bg1"/>
                </a:solidFill>
              </a:rPr>
            </a:br>
            <a:r>
              <a:rPr lang="en-US" sz="1200">
                <a:solidFill>
                  <a:schemeClr val="bg1"/>
                </a:solidFill>
              </a:rPr>
              <a:t>$ apt install </a:t>
            </a:r>
            <a:r>
              <a:rPr lang="en-US" sz="1200" err="1">
                <a:solidFill>
                  <a:schemeClr val="bg1"/>
                </a:solidFill>
              </a:rPr>
              <a:t>systemctl</a:t>
            </a:r>
            <a:r>
              <a:rPr lang="en-US" sz="1200">
                <a:solidFill>
                  <a:schemeClr val="bg1"/>
                </a:solidFill>
              </a:rPr>
              <a:t> </a:t>
            </a:r>
            <a:r>
              <a:rPr lang="en-US" sz="1200" err="1">
                <a:solidFill>
                  <a:schemeClr val="bg1"/>
                </a:solidFill>
              </a:rPr>
              <a:t>wget</a:t>
            </a:r>
            <a:r>
              <a:rPr lang="en-US" sz="1200">
                <a:solidFill>
                  <a:schemeClr val="bg1"/>
                </a:solidFill>
              </a:rPr>
              <a:t> </a:t>
            </a:r>
            <a:r>
              <a:rPr lang="en-US" sz="1200" err="1">
                <a:solidFill>
                  <a:schemeClr val="bg1"/>
                </a:solidFill>
              </a:rPr>
              <a:t>lsb</a:t>
            </a:r>
            <a:r>
              <a:rPr lang="en-US" sz="1200">
                <a:solidFill>
                  <a:schemeClr val="bg1"/>
                </a:solidFill>
              </a:rPr>
              <a:t>-release -y</a:t>
            </a:r>
            <a:br>
              <a:rPr lang="en-US" sz="1200">
                <a:solidFill>
                  <a:schemeClr val="bg1"/>
                </a:solidFill>
              </a:rPr>
            </a:br>
            <a:r>
              <a:rPr lang="en-US" sz="1200">
                <a:solidFill>
                  <a:schemeClr val="bg1"/>
                </a:solidFill>
              </a:rPr>
              <a:t>$ </a:t>
            </a:r>
            <a:r>
              <a:rPr lang="en-US" sz="1200" err="1">
                <a:solidFill>
                  <a:schemeClr val="bg1"/>
                </a:solidFill>
              </a:rPr>
              <a:t>wget</a:t>
            </a:r>
            <a:r>
              <a:rPr lang="en-US" sz="1200">
                <a:solidFill>
                  <a:schemeClr val="bg1"/>
                </a:solidFill>
              </a:rPr>
              <a:t> </a:t>
            </a:r>
            <a:r>
              <a:rPr lang="en-US" sz="1200" u="sng">
                <a:solidFill>
                  <a:schemeClr val="accent5">
                    <a:lumMod val="60000"/>
                    <a:lumOff val="40000"/>
                  </a:schemeClr>
                </a:solidFill>
              </a:rPr>
              <a:t>https://apt.puppetlabs.com/puppet7-release-bionic.deb</a:t>
            </a:r>
            <a:br>
              <a:rPr lang="en-US" sz="1200">
                <a:solidFill>
                  <a:schemeClr val="bg1"/>
                </a:solidFill>
              </a:rPr>
            </a:br>
            <a:r>
              <a:rPr lang="en-US" sz="1200">
                <a:solidFill>
                  <a:schemeClr val="bg1"/>
                </a:solidFill>
              </a:rPr>
              <a:t>$ </a:t>
            </a:r>
            <a:r>
              <a:rPr lang="en-US" sz="1200" err="1">
                <a:solidFill>
                  <a:schemeClr val="bg1"/>
                </a:solidFill>
              </a:rPr>
              <a:t>dpkg</a:t>
            </a:r>
            <a:r>
              <a:rPr lang="en-US" sz="1200">
                <a:solidFill>
                  <a:schemeClr val="bg1"/>
                </a:solidFill>
              </a:rPr>
              <a:t> -</a:t>
            </a:r>
            <a:r>
              <a:rPr lang="en-US" sz="1200" err="1">
                <a:solidFill>
                  <a:schemeClr val="bg1"/>
                </a:solidFill>
              </a:rPr>
              <a:t>i</a:t>
            </a:r>
            <a:r>
              <a:rPr lang="en-US" sz="1200">
                <a:solidFill>
                  <a:schemeClr val="bg1"/>
                </a:solidFill>
              </a:rPr>
              <a:t> puppet7-release-bionic.deb</a:t>
            </a:r>
            <a:br>
              <a:rPr lang="en-US" sz="1200">
                <a:solidFill>
                  <a:schemeClr val="bg1"/>
                </a:solidFill>
              </a:rPr>
            </a:br>
            <a:r>
              <a:rPr lang="en-US" sz="1200">
                <a:solidFill>
                  <a:schemeClr val="bg1"/>
                </a:solidFill>
              </a:rPr>
              <a:t>$ apt update</a:t>
            </a:r>
            <a:br>
              <a:rPr lang="en-US" sz="1200">
                <a:solidFill>
                  <a:schemeClr val="bg1"/>
                </a:solidFill>
              </a:rPr>
            </a:br>
            <a:r>
              <a:rPr lang="en-US" sz="1200">
                <a:solidFill>
                  <a:schemeClr val="bg1"/>
                </a:solidFill>
              </a:rPr>
              <a:t>$ apt-get install puppet-agent -y</a:t>
            </a:r>
            <a:br>
              <a:rPr lang="en-US" sz="1200">
                <a:solidFill>
                  <a:schemeClr val="bg1"/>
                </a:solidFill>
              </a:rPr>
            </a:br>
            <a:r>
              <a:rPr lang="en-US" sz="1200">
                <a:solidFill>
                  <a:schemeClr val="bg1"/>
                </a:solidFill>
              </a:rPr>
              <a:t>$ echo </a:t>
            </a:r>
            <a:r>
              <a:rPr lang="en-US" sz="1200">
                <a:solidFill>
                  <a:srgbClr val="00B050"/>
                </a:solidFill>
              </a:rPr>
              <a:t>'export PATH=$PATH:/opt/</a:t>
            </a:r>
            <a:r>
              <a:rPr lang="en-US" sz="1200" err="1">
                <a:solidFill>
                  <a:srgbClr val="00B050"/>
                </a:solidFill>
              </a:rPr>
              <a:t>puppetlabs</a:t>
            </a:r>
            <a:r>
              <a:rPr lang="en-US" sz="1200">
                <a:solidFill>
                  <a:srgbClr val="00B050"/>
                </a:solidFill>
              </a:rPr>
              <a:t>/puppet/bin'</a:t>
            </a:r>
            <a:r>
              <a:rPr lang="en-US" sz="1200">
                <a:solidFill>
                  <a:schemeClr val="bg1"/>
                </a:solidFill>
              </a:rPr>
              <a:t> &gt;&gt; ~/.</a:t>
            </a:r>
            <a:r>
              <a:rPr lang="en-US" sz="1200" err="1">
                <a:solidFill>
                  <a:schemeClr val="bg1"/>
                </a:solidFill>
              </a:rPr>
              <a:t>bashrc</a:t>
            </a:r>
            <a:br>
              <a:rPr lang="en-US" sz="1200">
                <a:solidFill>
                  <a:schemeClr val="bg1"/>
                </a:solidFill>
              </a:rPr>
            </a:br>
            <a:r>
              <a:rPr lang="en-US" sz="1200">
                <a:solidFill>
                  <a:schemeClr val="bg1"/>
                </a:solidFill>
              </a:rPr>
              <a:t>$ source ~/.</a:t>
            </a:r>
            <a:r>
              <a:rPr lang="en-US" sz="1200" err="1">
                <a:solidFill>
                  <a:schemeClr val="bg1"/>
                </a:solidFill>
              </a:rPr>
              <a:t>bashrc</a:t>
            </a:r>
            <a:br>
              <a:rPr lang="en-US" sz="1200">
                <a:solidFill>
                  <a:schemeClr val="bg1"/>
                </a:solidFill>
              </a:rPr>
            </a:br>
            <a:r>
              <a:rPr lang="en-US" sz="1200">
                <a:solidFill>
                  <a:schemeClr val="bg1"/>
                </a:solidFill>
              </a:rPr>
              <a:t>$ gem install --no-document puppet-debugger</a:t>
            </a:r>
          </a:p>
          <a:p>
            <a:pPr marL="182880" indent="0">
              <a:buNone/>
            </a:pPr>
            <a:br>
              <a:rPr lang="en-US">
                <a:solidFill>
                  <a:srgbClr val="00B050"/>
                </a:solidFill>
              </a:rPr>
            </a:br>
            <a:endParaRPr lang="en-US">
              <a:solidFill>
                <a:srgbClr val="00B050"/>
              </a:solidFill>
            </a:endParaRPr>
          </a:p>
        </p:txBody>
      </p:sp>
      <p:sp>
        <p:nvSpPr>
          <p:cNvPr id="9" name="TextBox 8">
            <a:extLst>
              <a:ext uri="{FF2B5EF4-FFF2-40B4-BE49-F238E27FC236}">
                <a16:creationId xmlns:a16="http://schemas.microsoft.com/office/drawing/2014/main" id="{CFFDCB31-BEFB-55AE-63A4-D2F97C3BE596}"/>
              </a:ext>
            </a:extLst>
          </p:cNvPr>
          <p:cNvSpPr txBox="1"/>
          <p:nvPr/>
        </p:nvSpPr>
        <p:spPr>
          <a:xfrm>
            <a:off x="299804" y="1426045"/>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 Puppet and Puppet Debugger</a:t>
            </a:r>
          </a:p>
        </p:txBody>
      </p:sp>
      <p:sp>
        <p:nvSpPr>
          <p:cNvPr id="11" name="Text Placeholder 5">
            <a:extLst>
              <a:ext uri="{FF2B5EF4-FFF2-40B4-BE49-F238E27FC236}">
                <a16:creationId xmlns:a16="http://schemas.microsoft.com/office/drawing/2014/main" id="{FDE8A291-10AE-DA93-316A-BC504A0070E1}"/>
              </a:ext>
            </a:extLst>
          </p:cNvPr>
          <p:cNvSpPr txBox="1">
            <a:spLocks/>
          </p:cNvSpPr>
          <p:nvPr/>
        </p:nvSpPr>
        <p:spPr>
          <a:xfrm>
            <a:off x="346097" y="4693897"/>
            <a:ext cx="6383466"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rgbClr val="92D050"/>
                </a:solidFill>
              </a:rPr>
              <a:t># print puppet configuration, usually has to be execute with </a:t>
            </a:r>
            <a:r>
              <a:rPr lang="en-US" sz="1200" err="1">
                <a:solidFill>
                  <a:srgbClr val="92D050"/>
                </a:solidFill>
              </a:rPr>
              <a:t>sudo</a:t>
            </a:r>
            <a:br>
              <a:rPr lang="en-US" sz="1200"/>
            </a:br>
            <a:r>
              <a:rPr lang="en-US" sz="1200">
                <a:solidFill>
                  <a:schemeClr val="bg1">
                    <a:lumMod val="95000"/>
                  </a:schemeClr>
                </a:solidFill>
              </a:rPr>
              <a:t>$ puppet config print</a:t>
            </a:r>
            <a:br>
              <a:rPr lang="en-US" sz="1200">
                <a:solidFill>
                  <a:schemeClr val="bg1">
                    <a:lumMod val="95000"/>
                  </a:schemeClr>
                </a:solidFill>
              </a:rPr>
            </a:br>
            <a:r>
              <a:rPr lang="en-US" sz="1200">
                <a:solidFill>
                  <a:schemeClr val="bg1">
                    <a:lumMod val="95000"/>
                  </a:schemeClr>
                </a:solidFill>
              </a:rPr>
              <a:t>   :</a:t>
            </a:r>
            <a:br>
              <a:rPr lang="en-US" sz="1200"/>
            </a:br>
            <a:r>
              <a:rPr lang="en-US" sz="1200">
                <a:solidFill>
                  <a:srgbClr val="92D050"/>
                </a:solidFill>
              </a:rPr>
              <a:t># set log level to debug, usually has to be execute with </a:t>
            </a:r>
            <a:r>
              <a:rPr lang="en-US" sz="1200" err="1">
                <a:solidFill>
                  <a:srgbClr val="92D050"/>
                </a:solidFill>
              </a:rPr>
              <a:t>sudo</a:t>
            </a:r>
            <a:br>
              <a:rPr lang="en-US" sz="1200"/>
            </a:br>
            <a:r>
              <a:rPr lang="en-US" sz="1200">
                <a:solidFill>
                  <a:schemeClr val="bg1">
                    <a:lumMod val="95000"/>
                  </a:schemeClr>
                </a:solidFill>
              </a:rPr>
              <a:t>$ puppet config set </a:t>
            </a:r>
            <a:r>
              <a:rPr lang="en-US" sz="1200" err="1">
                <a:solidFill>
                  <a:schemeClr val="bg1">
                    <a:lumMod val="95000"/>
                  </a:schemeClr>
                </a:solidFill>
              </a:rPr>
              <a:t>log_level</a:t>
            </a:r>
            <a:r>
              <a:rPr lang="en-US" sz="1200">
                <a:solidFill>
                  <a:schemeClr val="bg1">
                    <a:lumMod val="95000"/>
                  </a:schemeClr>
                </a:solidFill>
              </a:rPr>
              <a:t> debug</a:t>
            </a:r>
            <a:br>
              <a:rPr lang="en-US" sz="1200">
                <a:solidFill>
                  <a:schemeClr val="bg1">
                    <a:lumMod val="95000"/>
                  </a:schemeClr>
                </a:solidFill>
              </a:rPr>
            </a:br>
            <a:r>
              <a:rPr lang="en-US" sz="1200">
                <a:solidFill>
                  <a:schemeClr val="bg1">
                    <a:lumMod val="95000"/>
                  </a:schemeClr>
                </a:solidFill>
              </a:rPr>
              <a:t>   :</a:t>
            </a:r>
            <a:br>
              <a:rPr lang="en-US" sz="1200"/>
            </a:br>
            <a:endParaRPr lang="en-US" b="1">
              <a:solidFill>
                <a:srgbClr val="00B050"/>
              </a:solidFill>
            </a:endParaRPr>
          </a:p>
        </p:txBody>
      </p:sp>
      <p:sp>
        <p:nvSpPr>
          <p:cNvPr id="12" name="TextBox 11">
            <a:extLst>
              <a:ext uri="{FF2B5EF4-FFF2-40B4-BE49-F238E27FC236}">
                <a16:creationId xmlns:a16="http://schemas.microsoft.com/office/drawing/2014/main" id="{D63C4014-92C5-BDEB-A337-994D4F575DB3}"/>
              </a:ext>
            </a:extLst>
          </p:cNvPr>
          <p:cNvSpPr txBox="1"/>
          <p:nvPr/>
        </p:nvSpPr>
        <p:spPr>
          <a:xfrm>
            <a:off x="261319" y="4327803"/>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relevant commands</a:t>
            </a:r>
          </a:p>
        </p:txBody>
      </p:sp>
      <p:sp>
        <p:nvSpPr>
          <p:cNvPr id="13" name="TextBox 12">
            <a:extLst>
              <a:ext uri="{FF2B5EF4-FFF2-40B4-BE49-F238E27FC236}">
                <a16:creationId xmlns:a16="http://schemas.microsoft.com/office/drawing/2014/main" id="{8DFD38B3-817B-C1C6-ED3D-989522961C1F}"/>
              </a:ext>
            </a:extLst>
          </p:cNvPr>
          <p:cNvSpPr txBox="1"/>
          <p:nvPr/>
        </p:nvSpPr>
        <p:spPr>
          <a:xfrm>
            <a:off x="230530" y="6128893"/>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In order to install </a:t>
            </a:r>
            <a:r>
              <a:rPr lang="en-US" b="1">
                <a:solidFill>
                  <a:schemeClr val="bg2">
                    <a:lumMod val="50000"/>
                  </a:schemeClr>
                </a:solidFill>
                <a:ea typeface="+mn-lt"/>
                <a:cs typeface="+mn-lt"/>
              </a:rPr>
              <a:t>Puppet</a:t>
            </a:r>
            <a:r>
              <a:rPr lang="en-US">
                <a:solidFill>
                  <a:schemeClr val="bg2">
                    <a:lumMod val="50000"/>
                  </a:schemeClr>
                </a:solidFill>
                <a:ea typeface="+mn-lt"/>
                <a:cs typeface="+mn-lt"/>
              </a:rPr>
              <a:t> the way it is described here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Docker</a:t>
            </a:r>
            <a:r>
              <a:rPr lang="en-US">
                <a:solidFill>
                  <a:schemeClr val="bg2">
                    <a:lumMod val="50000"/>
                  </a:schemeClr>
                </a:solidFill>
                <a:ea typeface="+mn-lt"/>
                <a:cs typeface="+mn-lt"/>
              </a:rPr>
              <a:t> is required see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Ref.1</a:t>
            </a:r>
            <a:r>
              <a:rPr lang="en-US">
                <a:solidFill>
                  <a:schemeClr val="bg2">
                    <a:lumMod val="50000"/>
                  </a:schemeClr>
                </a:solidFill>
                <a:ea typeface="+mn-lt"/>
                <a:cs typeface="+mn-lt"/>
              </a:rPr>
              <a:t> for further installation.</a:t>
            </a:r>
            <a:endParaRPr lang="en-US">
              <a:solidFill>
                <a:schemeClr val="bg2">
                  <a:lumMod val="50000"/>
                </a:schemeClr>
              </a:solidFill>
            </a:endParaRPr>
          </a:p>
        </p:txBody>
      </p:sp>
    </p:spTree>
    <p:extLst>
      <p:ext uri="{BB962C8B-B14F-4D97-AF65-F5344CB8AC3E}">
        <p14:creationId xmlns:p14="http://schemas.microsoft.com/office/powerpoint/2010/main" val="1334473357"/>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a:solidFill>
                  <a:schemeClr val="bg2">
                    <a:lumMod val="50000"/>
                  </a:schemeClr>
                </a:solidFill>
              </a:rPr>
              <a:t>Introduction</a:t>
            </a:r>
          </a:p>
          <a:p>
            <a:pPr indent="-264795" fontAlgn="base"/>
            <a:r>
              <a:rPr lang="en-US">
                <a:solidFill>
                  <a:schemeClr val="bg2">
                    <a:lumMod val="50000"/>
                  </a:schemeClr>
                </a:solidFill>
              </a:rPr>
              <a:t>Resources</a:t>
            </a:r>
            <a:endParaRPr lang="en-US" b="1">
              <a:solidFill>
                <a:schemeClr val="bg2">
                  <a:lumMod val="50000"/>
                </a:schemeClr>
              </a:solidFill>
            </a:endParaRPr>
          </a:p>
          <a:p>
            <a:pPr indent="-264795"/>
            <a:r>
              <a:rPr lang="en-US">
                <a:solidFill>
                  <a:schemeClr val="bg2">
                    <a:lumMod val="50000"/>
                  </a:schemeClr>
                </a:solidFill>
              </a:rPr>
              <a:t>Classes</a:t>
            </a:r>
            <a:endParaRPr lang="en-US" b="1">
              <a:solidFill>
                <a:schemeClr val="bg2">
                  <a:lumMod val="50000"/>
                </a:schemeClr>
              </a:solidFill>
            </a:endParaRPr>
          </a:p>
          <a:p>
            <a:pPr indent="-264795"/>
            <a:r>
              <a:rPr lang="en-US">
                <a:solidFill>
                  <a:schemeClr val="bg2">
                    <a:lumMod val="50000"/>
                  </a:schemeClr>
                </a:solidFill>
              </a:rPr>
              <a:t>Modules</a:t>
            </a:r>
            <a:endParaRPr lang="en-US" b="1">
              <a:solidFill>
                <a:schemeClr val="bg2">
                  <a:lumMod val="50000"/>
                </a:schemeClr>
              </a:solidFill>
            </a:endParaRPr>
          </a:p>
          <a:p>
            <a:pPr indent="-264795"/>
            <a:r>
              <a:rPr lang="en-US">
                <a:solidFill>
                  <a:schemeClr val="bg2">
                    <a:lumMod val="50000"/>
                  </a:schemeClr>
                </a:solidFill>
              </a:rPr>
              <a:t>Variables</a:t>
            </a:r>
          </a:p>
          <a:p>
            <a:pPr indent="-264795"/>
            <a:r>
              <a:rPr lang="en-US" err="1">
                <a:solidFill>
                  <a:schemeClr val="bg2">
                    <a:lumMod val="50000"/>
                  </a:schemeClr>
                </a:solidFill>
              </a:rPr>
              <a:t>Metaparameters</a:t>
            </a:r>
            <a:endParaRPr lang="en-US">
              <a:solidFill>
                <a:schemeClr val="bg2">
                  <a:lumMod val="50000"/>
                </a:schemeClr>
              </a:solidFill>
            </a:endParaRPr>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Language Basics </a:t>
            </a:r>
          </a:p>
        </p:txBody>
      </p:sp>
    </p:spTree>
    <p:extLst>
      <p:ext uri="{BB962C8B-B14F-4D97-AF65-F5344CB8AC3E}">
        <p14:creationId xmlns:p14="http://schemas.microsoft.com/office/powerpoint/2010/main" val="20619407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a:xfrm>
            <a:off x="179901" y="1361593"/>
            <a:ext cx="6454690" cy="3188994"/>
          </a:xfrm>
        </p:spPr>
        <p:txBody>
          <a:bodyPr/>
          <a:lstStyle/>
          <a:p>
            <a:pPr marL="182880" indent="0" fontAlgn="base">
              <a:buNone/>
            </a:pPr>
            <a:r>
              <a:rPr lang="en-US">
                <a:solidFill>
                  <a:schemeClr val="bg2">
                    <a:lumMod val="50000"/>
                  </a:schemeClr>
                </a:solidFill>
              </a:rPr>
              <a:t>Puppet consists of a custom </a:t>
            </a:r>
            <a:r>
              <a:rPr lang="en-US" b="1">
                <a:solidFill>
                  <a:schemeClr val="accent1"/>
                </a:solidFill>
                <a:hlinkClick r:id="rId2">
                  <a:extLst>
                    <a:ext uri="{A12FA001-AC4F-418D-AE19-62706E023703}">
                      <ahyp:hlinkClr xmlns:ahyp="http://schemas.microsoft.com/office/drawing/2018/hyperlinkcolor" val="tx"/>
                    </a:ext>
                  </a:extLst>
                </a:hlinkClick>
              </a:rPr>
              <a:t>declarative language</a:t>
            </a:r>
            <a:r>
              <a:rPr lang="en-US">
                <a:solidFill>
                  <a:schemeClr val="bg2">
                    <a:lumMod val="50000"/>
                  </a:schemeClr>
                </a:solidFill>
              </a:rPr>
              <a:t> to describe system configuration, which can be either applied directly on the system, or compiled into a catalog and distributed to the target system via </a:t>
            </a:r>
            <a:r>
              <a:rPr lang="en-US" b="1">
                <a:solidFill>
                  <a:schemeClr val="accent1"/>
                </a:solidFill>
                <a:hlinkClick r:id="rId3">
                  <a:extLst>
                    <a:ext uri="{A12FA001-AC4F-418D-AE19-62706E023703}">
                      <ahyp:hlinkClr xmlns:ahyp="http://schemas.microsoft.com/office/drawing/2018/hyperlinkcolor" val="tx"/>
                    </a:ext>
                  </a:extLst>
                </a:hlinkClick>
              </a:rPr>
              <a:t>client–server</a:t>
            </a:r>
            <a:r>
              <a:rPr lang="en-US" b="1">
                <a:solidFill>
                  <a:schemeClr val="bg2">
                    <a:lumMod val="50000"/>
                  </a:schemeClr>
                </a:solidFill>
                <a:hlinkClick r:id="rId3">
                  <a:extLst>
                    <a:ext uri="{A12FA001-AC4F-418D-AE19-62706E023703}">
                      <ahyp:hlinkClr xmlns:ahyp="http://schemas.microsoft.com/office/drawing/2018/hyperlinkcolor" val="tx"/>
                    </a:ext>
                  </a:extLst>
                </a:hlinkClick>
              </a:rPr>
              <a:t> </a:t>
            </a:r>
            <a:r>
              <a:rPr lang="en-US" b="1">
                <a:solidFill>
                  <a:schemeClr val="accent1"/>
                </a:solidFill>
                <a:hlinkClick r:id="rId3">
                  <a:extLst>
                    <a:ext uri="{A12FA001-AC4F-418D-AE19-62706E023703}">
                      <ahyp:hlinkClr xmlns:ahyp="http://schemas.microsoft.com/office/drawing/2018/hyperlinkcolor" val="tx"/>
                    </a:ext>
                  </a:extLst>
                </a:hlinkClick>
              </a:rPr>
              <a:t>paradigm</a:t>
            </a:r>
            <a:r>
              <a:rPr lang="en-US">
                <a:solidFill>
                  <a:schemeClr val="accent1"/>
                </a:solidFill>
              </a:rPr>
              <a:t> </a:t>
            </a:r>
            <a:r>
              <a:rPr lang="en-US">
                <a:solidFill>
                  <a:schemeClr val="bg2">
                    <a:lumMod val="50000"/>
                  </a:schemeClr>
                </a:solidFill>
              </a:rPr>
              <a:t>(using a </a:t>
            </a:r>
            <a:r>
              <a:rPr lang="en-US">
                <a:solidFill>
                  <a:schemeClr val="accent1"/>
                </a:solidFill>
                <a:hlinkClick r:id="rId4">
                  <a:extLst>
                    <a:ext uri="{A12FA001-AC4F-418D-AE19-62706E023703}">
                      <ahyp:hlinkClr xmlns:ahyp="http://schemas.microsoft.com/office/drawing/2018/hyperlinkcolor" val="tx"/>
                    </a:ext>
                  </a:extLst>
                </a:hlinkClick>
              </a:rPr>
              <a:t>REST API</a:t>
            </a:r>
            <a:r>
              <a:rPr lang="en-US">
                <a:solidFill>
                  <a:schemeClr val="bg2">
                    <a:lumMod val="50000"/>
                  </a:schemeClr>
                </a:solidFill>
              </a:rPr>
              <a:t>), and the agent uses system specific </a:t>
            </a:r>
            <a:r>
              <a:rPr lang="en-US" b="1">
                <a:solidFill>
                  <a:schemeClr val="bg2">
                    <a:lumMod val="50000"/>
                  </a:schemeClr>
                </a:solidFill>
              </a:rPr>
              <a:t>providers</a:t>
            </a:r>
            <a:r>
              <a:rPr lang="en-US">
                <a:solidFill>
                  <a:schemeClr val="bg2">
                    <a:lumMod val="50000"/>
                  </a:schemeClr>
                </a:solidFill>
              </a:rPr>
              <a:t> to enforce the resource specified in the manifests. The resource abstraction layer enables administrators to describe the configuration in high-level terms, such as users, services and packages without the need to specify OS specific commands (such as </a:t>
            </a:r>
            <a:r>
              <a:rPr lang="en-US">
                <a:solidFill>
                  <a:schemeClr val="accent1"/>
                </a:solidFill>
                <a:hlinkClick r:id="rId5">
                  <a:extLst>
                    <a:ext uri="{A12FA001-AC4F-418D-AE19-62706E023703}">
                      <ahyp:hlinkClr xmlns:ahyp="http://schemas.microsoft.com/office/drawing/2018/hyperlinkcolor" val="tx"/>
                    </a:ext>
                  </a:extLst>
                </a:hlinkClick>
              </a:rPr>
              <a:t>rpm</a:t>
            </a:r>
            <a:r>
              <a:rPr lang="en-US">
                <a:solidFill>
                  <a:schemeClr val="bg2">
                    <a:lumMod val="50000"/>
                  </a:schemeClr>
                </a:solidFill>
              </a:rPr>
              <a:t>, </a:t>
            </a:r>
            <a:r>
              <a:rPr lang="en-US">
                <a:solidFill>
                  <a:schemeClr val="accent1"/>
                </a:solidFill>
                <a:hlinkClick r:id="rId6">
                  <a:extLst>
                    <a:ext uri="{A12FA001-AC4F-418D-AE19-62706E023703}">
                      <ahyp:hlinkClr xmlns:ahyp="http://schemas.microsoft.com/office/drawing/2018/hyperlinkcolor" val="tx"/>
                    </a:ext>
                  </a:extLst>
                </a:hlinkClick>
              </a:rPr>
              <a:t>yum</a:t>
            </a:r>
            <a:r>
              <a:rPr lang="en-US">
                <a:solidFill>
                  <a:schemeClr val="bg2">
                    <a:lumMod val="50000"/>
                  </a:schemeClr>
                </a:solidFill>
              </a:rPr>
              <a:t>, </a:t>
            </a:r>
            <a:r>
              <a:rPr lang="en-US">
                <a:solidFill>
                  <a:schemeClr val="accent1"/>
                </a:solidFill>
                <a:hlinkClick r:id="rId7">
                  <a:extLst>
                    <a:ext uri="{A12FA001-AC4F-418D-AE19-62706E023703}">
                      <ahyp:hlinkClr xmlns:ahyp="http://schemas.microsoft.com/office/drawing/2018/hyperlinkcolor" val="tx"/>
                    </a:ext>
                  </a:extLst>
                </a:hlinkClick>
              </a:rPr>
              <a:t>apt</a:t>
            </a:r>
            <a:r>
              <a:rPr lang="en-US">
                <a:solidFill>
                  <a:schemeClr val="bg2">
                    <a:lumMod val="50000"/>
                  </a:schemeClr>
                </a:solidFill>
              </a:rPr>
              <a:t>).</a:t>
            </a:r>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Introduction</a:t>
            </a:r>
          </a:p>
        </p:txBody>
      </p:sp>
      <p:pic>
        <p:nvPicPr>
          <p:cNvPr id="6" name="Picture 6" descr="A picture containing text&#10;&#10;Description automatically generated">
            <a:extLst>
              <a:ext uri="{FF2B5EF4-FFF2-40B4-BE49-F238E27FC236}">
                <a16:creationId xmlns:a16="http://schemas.microsoft.com/office/drawing/2014/main" id="{BECCE263-9F5F-D866-5F2D-B5B6C00EACD9}"/>
              </a:ext>
            </a:extLst>
          </p:cNvPr>
          <p:cNvPicPr>
            <a:picLocks noChangeAspect="1"/>
          </p:cNvPicPr>
          <p:nvPr/>
        </p:nvPicPr>
        <p:blipFill>
          <a:blip r:embed="rId8"/>
          <a:stretch>
            <a:fillRect/>
          </a:stretch>
        </p:blipFill>
        <p:spPr>
          <a:xfrm>
            <a:off x="345924" y="4790506"/>
            <a:ext cx="6141961" cy="1800607"/>
          </a:xfrm>
          <a:prstGeom prst="rect">
            <a:avLst/>
          </a:prstGeom>
        </p:spPr>
      </p:pic>
      <p:pic>
        <p:nvPicPr>
          <p:cNvPr id="5" name="Picture 6" descr="Qr code&#10;&#10;Description automatically generated">
            <a:extLst>
              <a:ext uri="{FF2B5EF4-FFF2-40B4-BE49-F238E27FC236}">
                <a16:creationId xmlns:a16="http://schemas.microsoft.com/office/drawing/2014/main" id="{2833D40A-4695-21C7-B9F2-6C258A41C868}"/>
              </a:ext>
            </a:extLst>
          </p:cNvPr>
          <p:cNvPicPr>
            <a:picLocks noChangeAspect="1"/>
          </p:cNvPicPr>
          <p:nvPr/>
        </p:nvPicPr>
        <p:blipFill>
          <a:blip r:embed="rId9"/>
          <a:stretch>
            <a:fillRect/>
          </a:stretch>
        </p:blipFill>
        <p:spPr>
          <a:xfrm>
            <a:off x="9238891" y="3667664"/>
            <a:ext cx="2743200" cy="2743200"/>
          </a:xfrm>
          <a:prstGeom prst="rect">
            <a:avLst/>
          </a:prstGeom>
        </p:spPr>
      </p:pic>
    </p:spTree>
    <p:extLst>
      <p:ext uri="{BB962C8B-B14F-4D97-AF65-F5344CB8AC3E}">
        <p14:creationId xmlns:p14="http://schemas.microsoft.com/office/powerpoint/2010/main" val="10132015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a:t>
            </a:r>
          </a:p>
        </p:txBody>
      </p:sp>
      <p:sp>
        <p:nvSpPr>
          <p:cNvPr id="6" name="Text Placeholder 5">
            <a:extLst>
              <a:ext uri="{FF2B5EF4-FFF2-40B4-BE49-F238E27FC236}">
                <a16:creationId xmlns:a16="http://schemas.microsoft.com/office/drawing/2014/main" id="{9E82D38E-A69D-AD67-7B35-4D8E00B6F6F8}"/>
              </a:ext>
            </a:extLst>
          </p:cNvPr>
          <p:cNvSpPr>
            <a:spLocks noGrp="1"/>
          </p:cNvSpPr>
          <p:nvPr>
            <p:ph type="body" idx="2"/>
          </p:nvPr>
        </p:nvSpPr>
        <p:spPr>
          <a:xfrm>
            <a:off x="216186" y="1361593"/>
            <a:ext cx="6551451" cy="1568232"/>
          </a:xfrm>
        </p:spPr>
        <p:txBody>
          <a:bodyPr/>
          <a:lstStyle/>
          <a:p>
            <a:pPr marL="182880" indent="0">
              <a:buNone/>
            </a:pPr>
            <a:r>
              <a:rPr lang="en-US"/>
              <a:t>Are the fundamental</a:t>
            </a:r>
            <a:r>
              <a:rPr lang="en-US" b="1"/>
              <a:t> building blocks</a:t>
            </a:r>
            <a:r>
              <a:rPr lang="en-US"/>
              <a:t> of the Puppet Language. </a:t>
            </a:r>
          </a:p>
          <a:p>
            <a:pPr marL="182880" indent="0">
              <a:buNone/>
            </a:pPr>
            <a:r>
              <a:rPr lang="en-US"/>
              <a:t>Is characteristic of a </a:t>
            </a:r>
            <a:r>
              <a:rPr lang="en-US" b="1"/>
              <a:t>node</a:t>
            </a:r>
            <a:r>
              <a:rPr lang="en-US"/>
              <a:t> that needs to be managed overtime.</a:t>
            </a:r>
          </a:p>
          <a:p>
            <a:pPr indent="-264795"/>
            <a:endParaRPr lang="en-US"/>
          </a:p>
        </p:txBody>
      </p:sp>
      <p:pic>
        <p:nvPicPr>
          <p:cNvPr id="3" name="Picture 4" descr="Diagram&#10;&#10;Description automatically generated">
            <a:extLst>
              <a:ext uri="{FF2B5EF4-FFF2-40B4-BE49-F238E27FC236}">
                <a16:creationId xmlns:a16="http://schemas.microsoft.com/office/drawing/2014/main" id="{9D60D15D-04F9-5803-0F1B-04F5ACD5D2A5}"/>
              </a:ext>
            </a:extLst>
          </p:cNvPr>
          <p:cNvPicPr>
            <a:picLocks noChangeAspect="1"/>
          </p:cNvPicPr>
          <p:nvPr/>
        </p:nvPicPr>
        <p:blipFill>
          <a:blip r:embed="rId2"/>
          <a:stretch>
            <a:fillRect/>
          </a:stretch>
        </p:blipFill>
        <p:spPr>
          <a:xfrm>
            <a:off x="515257" y="2827345"/>
            <a:ext cx="5476723" cy="2932931"/>
          </a:xfrm>
          <a:prstGeom prst="rect">
            <a:avLst/>
          </a:prstGeom>
        </p:spPr>
      </p:pic>
      <p:sp>
        <p:nvSpPr>
          <p:cNvPr id="5" name="TextBox 4">
            <a:extLst>
              <a:ext uri="{FF2B5EF4-FFF2-40B4-BE49-F238E27FC236}">
                <a16:creationId xmlns:a16="http://schemas.microsoft.com/office/drawing/2014/main" id="{AD3B89AF-A0C7-56E1-2911-98ED735D47CE}"/>
              </a:ext>
            </a:extLst>
          </p:cNvPr>
          <p:cNvSpPr txBox="1"/>
          <p:nvPr/>
        </p:nvSpPr>
        <p:spPr>
          <a:xfrm>
            <a:off x="515257" y="6006495"/>
            <a:ext cx="62629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Resorces Types</a:t>
            </a:r>
            <a:r>
              <a:rPr lang="en-US">
                <a:solidFill>
                  <a:schemeClr val="tx1">
                    <a:lumMod val="50000"/>
                    <a:lumOff val="50000"/>
                  </a:schemeClr>
                </a:solidFill>
                <a:latin typeface="-apple-system"/>
              </a:rPr>
              <a:t> are e.g. User, Package and Service.</a:t>
            </a:r>
            <a:endParaRPr lang="en-US">
              <a:solidFill>
                <a:schemeClr val="tx1">
                  <a:lumMod val="50000"/>
                  <a:lumOff val="50000"/>
                </a:schemeClr>
              </a:solidFill>
            </a:endParaRPr>
          </a:p>
        </p:txBody>
      </p:sp>
    </p:spTree>
    <p:extLst>
      <p:ext uri="{BB962C8B-B14F-4D97-AF65-F5344CB8AC3E}">
        <p14:creationId xmlns:p14="http://schemas.microsoft.com/office/powerpoint/2010/main" val="114962457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1DD57-35DF-AE40-8A5A-BB8E77384E90}"/>
              </a:ext>
            </a:extLst>
          </p:cNvPr>
          <p:cNvSpPr>
            <a:spLocks noGrp="1"/>
          </p:cNvSpPr>
          <p:nvPr>
            <p:ph type="title"/>
          </p:nvPr>
        </p:nvSpPr>
        <p:spPr/>
        <p:txBody>
          <a:bodyPr/>
          <a:lstStyle/>
          <a:p>
            <a:r>
              <a:rPr lang="en-US"/>
              <a:t>Puppet Language Basics</a:t>
            </a:r>
          </a:p>
        </p:txBody>
      </p:sp>
      <p:sp>
        <p:nvSpPr>
          <p:cNvPr id="3" name="Subtitle 2">
            <a:extLst>
              <a:ext uri="{FF2B5EF4-FFF2-40B4-BE49-F238E27FC236}">
                <a16:creationId xmlns:a16="http://schemas.microsoft.com/office/drawing/2014/main" id="{8F571BC5-E7E5-22AF-0C56-F1B90B1D8648}"/>
              </a:ext>
            </a:extLst>
          </p:cNvPr>
          <p:cNvSpPr>
            <a:spLocks noGrp="1"/>
          </p:cNvSpPr>
          <p:nvPr>
            <p:ph type="subTitle" idx="1"/>
          </p:nvPr>
        </p:nvSpPr>
        <p:spPr/>
        <p:txBody>
          <a:bodyPr/>
          <a:lstStyle/>
          <a:p>
            <a:r>
              <a:rPr lang="en-US"/>
              <a:t>Resources</a:t>
            </a:r>
          </a:p>
        </p:txBody>
      </p:sp>
      <p:pic>
        <p:nvPicPr>
          <p:cNvPr id="4" name="Picture 4">
            <a:extLst>
              <a:ext uri="{FF2B5EF4-FFF2-40B4-BE49-F238E27FC236}">
                <a16:creationId xmlns:a16="http://schemas.microsoft.com/office/drawing/2014/main" id="{0FB37807-20C0-9F17-93A7-C171092B9886}"/>
              </a:ext>
            </a:extLst>
          </p:cNvPr>
          <p:cNvPicPr>
            <a:picLocks noChangeAspect="1"/>
          </p:cNvPicPr>
          <p:nvPr/>
        </p:nvPicPr>
        <p:blipFill>
          <a:blip r:embed="rId2"/>
          <a:stretch>
            <a:fillRect/>
          </a:stretch>
        </p:blipFill>
        <p:spPr>
          <a:xfrm>
            <a:off x="411192" y="3857173"/>
            <a:ext cx="3814313" cy="2231279"/>
          </a:xfrm>
          <a:prstGeom prst="rect">
            <a:avLst/>
          </a:prstGeom>
        </p:spPr>
      </p:pic>
      <p:pic>
        <p:nvPicPr>
          <p:cNvPr id="5" name="Picture 5">
            <a:extLst>
              <a:ext uri="{FF2B5EF4-FFF2-40B4-BE49-F238E27FC236}">
                <a16:creationId xmlns:a16="http://schemas.microsoft.com/office/drawing/2014/main" id="{BA53D41D-0D2B-A275-1621-D718D3C15EE7}"/>
              </a:ext>
            </a:extLst>
          </p:cNvPr>
          <p:cNvPicPr>
            <a:picLocks noChangeAspect="1"/>
          </p:cNvPicPr>
          <p:nvPr/>
        </p:nvPicPr>
        <p:blipFill>
          <a:blip r:embed="rId3"/>
          <a:stretch>
            <a:fillRect/>
          </a:stretch>
        </p:blipFill>
        <p:spPr>
          <a:xfrm>
            <a:off x="411192" y="2337335"/>
            <a:ext cx="3037585" cy="945474"/>
          </a:xfrm>
          <a:prstGeom prst="rect">
            <a:avLst/>
          </a:prstGeom>
        </p:spPr>
      </p:pic>
      <p:sp>
        <p:nvSpPr>
          <p:cNvPr id="6" name="TextBox 5">
            <a:extLst>
              <a:ext uri="{FF2B5EF4-FFF2-40B4-BE49-F238E27FC236}">
                <a16:creationId xmlns:a16="http://schemas.microsoft.com/office/drawing/2014/main" id="{C9692190-F009-EE71-0853-75FA98F0C1B6}"/>
              </a:ext>
            </a:extLst>
          </p:cNvPr>
          <p:cNvSpPr txBox="1"/>
          <p:nvPr/>
        </p:nvSpPr>
        <p:spPr>
          <a:xfrm>
            <a:off x="346143" y="1544373"/>
            <a:ext cx="656757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Resource Declaration</a:t>
            </a:r>
            <a:r>
              <a:rPr lang="en-US">
                <a:solidFill>
                  <a:schemeClr val="tx1">
                    <a:lumMod val="50000"/>
                    <a:lumOff val="50000"/>
                  </a:schemeClr>
                </a:solidFill>
                <a:latin typeface="-apple-system"/>
              </a:rPr>
              <a:t>  adds a resource to the catalog and tells Puppet to manage that resource state.</a:t>
            </a:r>
            <a:endParaRPr lang="en-US">
              <a:solidFill>
                <a:schemeClr val="tx1">
                  <a:lumMod val="50000"/>
                  <a:lumOff val="50000"/>
                </a:schemeClr>
              </a:solidFill>
            </a:endParaRPr>
          </a:p>
        </p:txBody>
      </p:sp>
    </p:spTree>
    <p:extLst>
      <p:ext uri="{BB962C8B-B14F-4D97-AF65-F5344CB8AC3E}">
        <p14:creationId xmlns:p14="http://schemas.microsoft.com/office/powerpoint/2010/main" val="109221593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411908" cy="1108841"/>
          </a:xfrm>
          <a:solidFill>
            <a:schemeClr val="tx1"/>
          </a:solidFill>
        </p:spPr>
        <p:txBody>
          <a:bodyPr/>
          <a:lstStyle/>
          <a:p>
            <a:pPr marL="182880" indent="0">
              <a:buNone/>
            </a:pPr>
            <a:r>
              <a:rPr lang="en-US" sz="1200">
                <a:solidFill>
                  <a:srgbClr val="FFFFFF"/>
                </a:solidFill>
              </a:rPr>
              <a:t>$ puppet resource --</a:t>
            </a:r>
            <a:r>
              <a:rPr lang="en-US" sz="1200" err="1">
                <a:solidFill>
                  <a:srgbClr val="FFFFFF"/>
                </a:solidFill>
              </a:rPr>
              <a:t>types</a:t>
            </a:r>
            <a:r>
              <a:rPr lang="en-US" sz="1200" err="1"/>
              <a:t>add</a:t>
            </a:r>
            <a:r>
              <a:rPr lang="en-US" sz="1200"/>
              <a:t> </a:t>
            </a:r>
            <a:br>
              <a:rPr lang="en-US" sz="1200"/>
            </a:br>
            <a:r>
              <a:rPr lang="en-US" sz="1200">
                <a:solidFill>
                  <a:srgbClr val="92D050"/>
                </a:solidFill>
              </a:rPr>
              <a:t>:</a:t>
            </a:r>
            <a:br>
              <a:rPr lang="en-US" sz="1200"/>
            </a:br>
            <a:r>
              <a:rPr lang="en-US" sz="1200">
                <a:solidFill>
                  <a:srgbClr val="92D050"/>
                </a:solidFill>
              </a:rPr>
              <a:t>file</a:t>
            </a:r>
            <a:br>
              <a:rPr lang="en-US" sz="1200"/>
            </a:br>
            <a:r>
              <a:rPr lang="en-US" sz="1200">
                <a:solidFill>
                  <a:srgbClr val="92D050"/>
                </a:solidFill>
              </a:rPr>
              <a:t>package</a:t>
            </a:r>
            <a:br>
              <a:rPr lang="en-US" sz="1200"/>
            </a:br>
            <a:r>
              <a:rPr lang="en-US" sz="1200">
                <a:solidFill>
                  <a:srgbClr val="92D050"/>
                </a:solidFill>
              </a:rPr>
              <a:t>:</a:t>
            </a:r>
            <a:br>
              <a:rPr lang="en-US" sz="1200"/>
            </a:br>
            <a:br>
              <a:rPr lang="en-US">
                <a:solidFill>
                  <a:srgbClr val="FFFFFF"/>
                </a:solidFill>
              </a:rPr>
            </a:br>
            <a:br>
              <a:rPr lang="en-US">
                <a:solidFill>
                  <a:srgbClr val="FFFFFF"/>
                </a:solidFill>
              </a:rPr>
            </a:br>
            <a:endParaRPr lang="en-US"/>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types</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3560471"/>
            <a:ext cx="6411908" cy="3146218"/>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solidFill>
              </a:rPr>
              <a:t>$ puppet resource file '/</a:t>
            </a:r>
            <a:r>
              <a:rPr lang="en-US" sz="1200" err="1">
                <a:solidFill>
                  <a:schemeClr val="bg1"/>
                </a:solidFill>
              </a:rPr>
              <a:t>etc</a:t>
            </a:r>
            <a:r>
              <a:rPr lang="en-US" sz="1200">
                <a:solidFill>
                  <a:schemeClr val="bg1"/>
                </a:solidFill>
              </a:rPr>
              <a:t>/hosts'</a:t>
            </a:r>
            <a:br>
              <a:rPr lang="en-US" sz="1200">
                <a:solidFill>
                  <a:schemeClr val="bg1"/>
                </a:solidFill>
              </a:rPr>
            </a:br>
            <a:r>
              <a:rPr lang="en-US" sz="1200">
                <a:solidFill>
                  <a:schemeClr val="bg1"/>
                </a:solidFill>
              </a:rPr>
              <a:t>:</a:t>
            </a:r>
            <a:br>
              <a:rPr lang="en-US" sz="1200"/>
            </a:br>
            <a:r>
              <a:rPr lang="en-US" sz="1200">
                <a:solidFill>
                  <a:srgbClr val="92D050"/>
                </a:solidFill>
              </a:rPr>
              <a:t>file { '/</a:t>
            </a:r>
            <a:r>
              <a:rPr lang="en-US" sz="1200" err="1">
                <a:solidFill>
                  <a:srgbClr val="92D050"/>
                </a:solidFill>
              </a:rPr>
              <a:t>etc</a:t>
            </a:r>
            <a:r>
              <a:rPr lang="en-US" sz="1200">
                <a:solidFill>
                  <a:srgbClr val="92D050"/>
                </a:solidFill>
              </a:rPr>
              <a:t>/hosts':</a:t>
            </a:r>
            <a:br>
              <a:rPr lang="en-US" sz="1200">
                <a:solidFill>
                  <a:srgbClr val="92D050"/>
                </a:solidFill>
              </a:rPr>
            </a:br>
            <a:r>
              <a:rPr lang="en-US" sz="1200">
                <a:solidFill>
                  <a:srgbClr val="92D050"/>
                </a:solidFill>
              </a:rPr>
              <a:t>  ensure   =&gt; 'file',</a:t>
            </a:r>
            <a:br>
              <a:rPr lang="en-US" sz="1200">
                <a:solidFill>
                  <a:srgbClr val="92D050"/>
                </a:solidFill>
              </a:rPr>
            </a:br>
            <a:r>
              <a:rPr lang="en-US" sz="1200">
                <a:solidFill>
                  <a:srgbClr val="92D050"/>
                </a:solidFill>
              </a:rPr>
              <a:t>  content  =&gt; '{sha256}674a2d0859a6ed81ce1e3513f6ee1f710b47c3b97301b284124d5b95cf566b47',</a:t>
            </a:r>
            <a:br>
              <a:rPr lang="en-US" sz="1200">
                <a:solidFill>
                  <a:srgbClr val="92D050"/>
                </a:solidFill>
              </a:rPr>
            </a:br>
            <a:r>
              <a:rPr lang="en-US" sz="1200">
                <a:solidFill>
                  <a:srgbClr val="92D050"/>
                </a:solidFill>
              </a:rPr>
              <a:t>  </a:t>
            </a:r>
            <a:r>
              <a:rPr lang="en-US" sz="1200" err="1">
                <a:solidFill>
                  <a:srgbClr val="92D050"/>
                </a:solidFill>
              </a:rPr>
              <a:t>ctime</a:t>
            </a:r>
            <a:r>
              <a:rPr lang="en-US" sz="1200">
                <a:solidFill>
                  <a:srgbClr val="92D050"/>
                </a:solidFill>
              </a:rPr>
              <a:t>    =&gt; '2022-05-21 12:17:40 +0000',</a:t>
            </a:r>
            <a:br>
              <a:rPr lang="en-US" sz="1200">
                <a:solidFill>
                  <a:srgbClr val="92D050"/>
                </a:solidFill>
              </a:rPr>
            </a:br>
            <a:r>
              <a:rPr lang="en-US" sz="1200">
                <a:solidFill>
                  <a:srgbClr val="92D050"/>
                </a:solidFill>
              </a:rPr>
              <a:t>  group    =&gt; 0,</a:t>
            </a:r>
            <a:br>
              <a:rPr lang="en-US" sz="1200">
                <a:solidFill>
                  <a:srgbClr val="92D050"/>
                </a:solidFill>
              </a:rPr>
            </a:br>
            <a:r>
              <a:rPr lang="en-US" sz="1200">
                <a:solidFill>
                  <a:srgbClr val="92D050"/>
                </a:solidFill>
              </a:rPr>
              <a:t>  mode     =&gt; '0644',</a:t>
            </a:r>
            <a:br>
              <a:rPr lang="en-US" sz="1200">
                <a:solidFill>
                  <a:srgbClr val="92D050"/>
                </a:solidFill>
              </a:rPr>
            </a:br>
            <a:r>
              <a:rPr lang="en-US" sz="1200">
                <a:solidFill>
                  <a:srgbClr val="92D050"/>
                </a:solidFill>
              </a:rPr>
              <a:t>  </a:t>
            </a:r>
            <a:r>
              <a:rPr lang="en-US" sz="1200" err="1">
                <a:solidFill>
                  <a:srgbClr val="92D050"/>
                </a:solidFill>
              </a:rPr>
              <a:t>mtime</a:t>
            </a:r>
            <a:r>
              <a:rPr lang="en-US" sz="1200">
                <a:solidFill>
                  <a:srgbClr val="92D050"/>
                </a:solidFill>
              </a:rPr>
              <a:t>    =&gt; '2022-05-21 12:17:40 +0000',</a:t>
            </a:r>
            <a:br>
              <a:rPr lang="en-US" sz="1200">
                <a:solidFill>
                  <a:srgbClr val="92D050"/>
                </a:solidFill>
              </a:rPr>
            </a:br>
            <a:r>
              <a:rPr lang="en-US" sz="1200">
                <a:solidFill>
                  <a:srgbClr val="92D050"/>
                </a:solidFill>
              </a:rPr>
              <a:t>  owner    =&gt; 0,</a:t>
            </a:r>
            <a:br>
              <a:rPr lang="en-US" sz="1200">
                <a:solidFill>
                  <a:srgbClr val="92D050"/>
                </a:solidFill>
              </a:rPr>
            </a:br>
            <a:r>
              <a:rPr lang="en-US" sz="1200">
                <a:solidFill>
                  <a:srgbClr val="92D050"/>
                </a:solidFill>
              </a:rPr>
              <a:t>  provider =&gt; '</a:t>
            </a:r>
            <a:r>
              <a:rPr lang="en-US" sz="1200" err="1">
                <a:solidFill>
                  <a:srgbClr val="92D050"/>
                </a:solidFill>
              </a:rPr>
              <a:t>posix</a:t>
            </a:r>
            <a:r>
              <a:rPr lang="en-US" sz="1200">
                <a:solidFill>
                  <a:srgbClr val="92D050"/>
                </a:solidFill>
              </a:rPr>
              <a:t>',</a:t>
            </a:r>
            <a:br>
              <a:rPr lang="en-US" sz="1200">
                <a:solidFill>
                  <a:srgbClr val="92D050"/>
                </a:solidFill>
              </a:rPr>
            </a:br>
            <a:r>
              <a:rPr lang="en-US" sz="1200">
                <a:solidFill>
                  <a:srgbClr val="92D050"/>
                </a:solidFill>
              </a:rPr>
              <a:t>  type     =&gt; 'file',</a:t>
            </a:r>
            <a:br>
              <a:rPr lang="en-US" sz="1200">
                <a:solidFill>
                  <a:srgbClr val="92D050"/>
                </a:solidFill>
              </a:rPr>
            </a:br>
            <a:r>
              <a:rPr lang="en-US" sz="1200">
                <a:solidFill>
                  <a:srgbClr val="92D050"/>
                </a:solidFill>
              </a:rPr>
              <a:t>}</a:t>
            </a:r>
            <a:br>
              <a:rPr lang="en-US" sz="1200">
                <a:solidFill>
                  <a:srgbClr val="00B050"/>
                </a:solidFill>
              </a:rPr>
            </a:br>
            <a:br>
              <a:rPr lang="en-US">
                <a:solidFill>
                  <a:srgbClr val="00B050"/>
                </a:solidFill>
              </a:rPr>
            </a:br>
            <a:endParaRPr lang="en-US">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53682" y="318602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a:t>
            </a:r>
            <a:r>
              <a:rPr lang="en-US" b="1">
                <a:solidFill>
                  <a:schemeClr val="bg2">
                    <a:lumMod val="50000"/>
                  </a:schemeClr>
                </a:solidFill>
                <a:cs typeface="Calibri"/>
              </a:rPr>
              <a:t>file </a:t>
            </a:r>
            <a:r>
              <a:rPr lang="en-US">
                <a:solidFill>
                  <a:schemeClr val="bg2">
                    <a:lumMod val="50000"/>
                  </a:schemeClr>
                </a:solidFill>
                <a:cs typeface="Calibri"/>
              </a:rPr>
              <a:t>type</a:t>
            </a:r>
          </a:p>
        </p:txBody>
      </p:sp>
    </p:spTree>
    <p:extLst>
      <p:ext uri="{BB962C8B-B14F-4D97-AF65-F5344CB8AC3E}">
        <p14:creationId xmlns:p14="http://schemas.microsoft.com/office/powerpoint/2010/main" val="26021833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291103" cy="2131035"/>
          </a:xfrm>
          <a:solidFill>
            <a:schemeClr val="tx1"/>
          </a:solidFill>
        </p:spPr>
        <p:txBody>
          <a:bodyPr/>
          <a:lstStyle/>
          <a:p>
            <a:pPr marL="182880" indent="0">
              <a:buNone/>
            </a:pPr>
            <a:r>
              <a:rPr lang="en-US" sz="1200">
                <a:solidFill>
                  <a:schemeClr val="bg1">
                    <a:lumMod val="95000"/>
                  </a:schemeClr>
                </a:solidFill>
              </a:rPr>
              <a:t>$ service --status-all</a:t>
            </a:r>
            <a:br>
              <a:rPr lang="en-US" sz="1200">
                <a:solidFill>
                  <a:schemeClr val="bg1">
                    <a:lumMod val="95000"/>
                  </a:schemeClr>
                </a:solidFill>
              </a:rPr>
            </a:br>
            <a:r>
              <a:rPr lang="en-US" sz="1200">
                <a:solidFill>
                  <a:schemeClr val="bg1">
                    <a:lumMod val="95000"/>
                  </a:schemeClr>
                </a:solidFill>
              </a:rPr>
              <a:t> </a:t>
            </a:r>
            <a:r>
              <a:rPr lang="en-US" sz="1200">
                <a:solidFill>
                  <a:srgbClr val="92D050"/>
                </a:solidFill>
              </a:rPr>
              <a:t>[ ? ]  hwclock.sh</a:t>
            </a:r>
            <a:br>
              <a:rPr lang="en-US" sz="1200">
                <a:solidFill>
                  <a:srgbClr val="92D050"/>
                </a:solidFill>
              </a:rPr>
            </a:br>
            <a:r>
              <a:rPr lang="en-US" sz="1200">
                <a:solidFill>
                  <a:srgbClr val="92D050"/>
                </a:solidFill>
              </a:rPr>
              <a:t> [ - ]  </a:t>
            </a:r>
            <a:r>
              <a:rPr lang="en-US" sz="1200" err="1">
                <a:solidFill>
                  <a:srgbClr val="92D050"/>
                </a:solidFill>
              </a:rPr>
              <a:t>procps</a:t>
            </a:r>
            <a:endParaRPr lang="en-US">
              <a:solidFill>
                <a:srgbClr val="92D050"/>
              </a:solidFill>
            </a:endParaRPr>
          </a:p>
          <a:p>
            <a:pPr marL="182880" indent="0">
              <a:buNone/>
            </a:pPr>
            <a:r>
              <a:rPr lang="en-US" sz="1200">
                <a:solidFill>
                  <a:schemeClr val="bg1">
                    <a:lumMod val="95000"/>
                  </a:schemeClr>
                </a:solidFill>
              </a:rPr>
              <a:t>$ puppet resource service '</a:t>
            </a:r>
            <a:r>
              <a:rPr lang="en-US" sz="1200" err="1">
                <a:solidFill>
                  <a:schemeClr val="bg1">
                    <a:lumMod val="95000"/>
                  </a:schemeClr>
                </a:solidFill>
              </a:rPr>
              <a:t>procps</a:t>
            </a:r>
            <a:r>
              <a:rPr lang="en-US" sz="1200">
                <a:solidFill>
                  <a:schemeClr val="bg1">
                    <a:lumMod val="95000"/>
                  </a:schemeClr>
                </a:solidFill>
              </a:rPr>
              <a:t>'</a:t>
            </a:r>
            <a:br>
              <a:rPr lang="en-US" sz="1200"/>
            </a:br>
            <a:r>
              <a:rPr lang="en-US" sz="1200">
                <a:solidFill>
                  <a:srgbClr val="92D050"/>
                </a:solidFill>
              </a:rPr>
              <a:t>service { '</a:t>
            </a:r>
            <a:r>
              <a:rPr lang="en-US" sz="1200" err="1">
                <a:solidFill>
                  <a:srgbClr val="92D050"/>
                </a:solidFill>
              </a:rPr>
              <a:t>procps</a:t>
            </a:r>
            <a:r>
              <a:rPr lang="en-US" sz="1200">
                <a:solidFill>
                  <a:srgbClr val="92D050"/>
                </a:solidFill>
              </a:rPr>
              <a:t>':</a:t>
            </a:r>
            <a:br>
              <a:rPr lang="en-US" sz="1200">
                <a:solidFill>
                  <a:srgbClr val="92D050"/>
                </a:solidFill>
              </a:rPr>
            </a:br>
            <a:r>
              <a:rPr lang="en-US" sz="1200">
                <a:solidFill>
                  <a:srgbClr val="92D050"/>
                </a:solidFill>
              </a:rPr>
              <a:t>  ensure   =&gt; 'running',</a:t>
            </a:r>
            <a:br>
              <a:rPr lang="en-US" sz="1200">
                <a:solidFill>
                  <a:srgbClr val="92D050"/>
                </a:solidFill>
              </a:rPr>
            </a:br>
            <a:r>
              <a:rPr lang="en-US" sz="1200">
                <a:solidFill>
                  <a:srgbClr val="92D050"/>
                </a:solidFill>
              </a:rPr>
              <a:t>  enable   =&gt; 'false',</a:t>
            </a:r>
            <a:br>
              <a:rPr lang="en-US" sz="1200">
                <a:solidFill>
                  <a:srgbClr val="92D050"/>
                </a:solidFill>
              </a:rPr>
            </a:br>
            <a:r>
              <a:rPr lang="en-US" sz="1200">
                <a:solidFill>
                  <a:srgbClr val="92D050"/>
                </a:solidFill>
              </a:rPr>
              <a:t>  provider =&gt; '</a:t>
            </a:r>
            <a:r>
              <a:rPr lang="en-US" sz="1200" err="1">
                <a:solidFill>
                  <a:srgbClr val="92D050"/>
                </a:solidFill>
              </a:rPr>
              <a:t>debian</a:t>
            </a:r>
            <a:r>
              <a:rPr lang="en-US" sz="1200">
                <a:solidFill>
                  <a:srgbClr val="92D050"/>
                </a:solidFill>
              </a:rPr>
              <a:t>',</a:t>
            </a:r>
            <a:br>
              <a:rPr lang="en-US" sz="1200">
                <a:solidFill>
                  <a:srgbClr val="92D050"/>
                </a:solidFill>
              </a:rPr>
            </a:br>
            <a:r>
              <a:rPr lang="en-US" sz="1200">
                <a:solidFill>
                  <a:srgbClr val="92D050"/>
                </a:solidFill>
              </a:rPr>
              <a:t>}</a:t>
            </a:r>
            <a:br>
              <a:rPr lang="en-US" sz="1200"/>
            </a:br>
            <a:br>
              <a:rPr lang="en-US" sz="1200"/>
            </a:br>
            <a:endParaRPr lang="en-US" sz="1200"/>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 </a:t>
            </a:r>
            <a:r>
              <a:rPr lang="en-US" b="1">
                <a:solidFill>
                  <a:schemeClr val="bg2">
                    <a:lumMod val="50000"/>
                  </a:schemeClr>
                </a:solidFill>
                <a:cs typeface="Calibri"/>
              </a:rPr>
              <a:t>service </a:t>
            </a:r>
            <a:r>
              <a:rPr lang="en-US">
                <a:solidFill>
                  <a:schemeClr val="bg2">
                    <a:lumMod val="50000"/>
                  </a:schemeClr>
                </a:solidFill>
                <a:cs typeface="Calibri"/>
              </a:rPr>
              <a:t>type</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4647715"/>
            <a:ext cx="6291103"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lumMod val="95000"/>
                  </a:schemeClr>
                </a:solidFill>
              </a:rPr>
              <a:t>$ puppet resource package 'tree' ensure=present</a:t>
            </a:r>
            <a:br>
              <a:rPr lang="en-US" sz="1200"/>
            </a:br>
            <a:r>
              <a:rPr lang="en-US" sz="1200" b="1">
                <a:solidFill>
                  <a:srgbClr val="92D050"/>
                </a:solidFill>
              </a:rPr>
              <a:t>Notice: /Package[tree]/ensure: created</a:t>
            </a:r>
            <a:br>
              <a:rPr lang="en-US" sz="1200">
                <a:solidFill>
                  <a:srgbClr val="92D050"/>
                </a:solidFill>
              </a:rPr>
            </a:br>
            <a:r>
              <a:rPr lang="en-US" sz="1200">
                <a:solidFill>
                  <a:srgbClr val="92D050"/>
                </a:solidFill>
              </a:rPr>
              <a:t>package { 'tree':</a:t>
            </a:r>
            <a:br>
              <a:rPr lang="en-US" sz="1200">
                <a:solidFill>
                  <a:srgbClr val="92D050"/>
                </a:solidFill>
              </a:rPr>
            </a:br>
            <a:r>
              <a:rPr lang="en-US" sz="1200">
                <a:solidFill>
                  <a:srgbClr val="92D050"/>
                </a:solidFill>
              </a:rPr>
              <a:t>  ensure   =&gt; 'purged',</a:t>
            </a:r>
            <a:br>
              <a:rPr lang="en-US" sz="1200">
                <a:solidFill>
                  <a:srgbClr val="92D050"/>
                </a:solidFill>
              </a:rPr>
            </a:br>
            <a:r>
              <a:rPr lang="en-US" sz="1200">
                <a:solidFill>
                  <a:srgbClr val="92D050"/>
                </a:solidFill>
              </a:rPr>
              <a:t>  provider =&gt; 'apt',</a:t>
            </a:r>
            <a:br>
              <a:rPr lang="en-US" sz="1200">
                <a:solidFill>
                  <a:srgbClr val="92D050"/>
                </a:solidFill>
              </a:rPr>
            </a:br>
            <a:r>
              <a:rPr lang="en-US" sz="1200">
                <a:solidFill>
                  <a:srgbClr val="92D050"/>
                </a:solidFill>
              </a:rPr>
              <a:t>}</a:t>
            </a:r>
            <a:br>
              <a:rPr lang="en-US" sz="1200">
                <a:solidFill>
                  <a:srgbClr val="92D050"/>
                </a:solidFill>
              </a:rPr>
            </a:br>
            <a:endParaRPr lang="en-US" b="1">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25804" y="4273266"/>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Installing a resources </a:t>
            </a:r>
            <a:r>
              <a:rPr lang="en-US" b="1">
                <a:solidFill>
                  <a:schemeClr val="bg2">
                    <a:lumMod val="50000"/>
                  </a:schemeClr>
                </a:solidFill>
                <a:cs typeface="Calibri"/>
              </a:rPr>
              <a:t>package </a:t>
            </a:r>
            <a:r>
              <a:rPr lang="en-US">
                <a:solidFill>
                  <a:schemeClr val="bg2">
                    <a:lumMod val="50000"/>
                  </a:schemeClr>
                </a:solidFill>
                <a:cs typeface="Calibri"/>
              </a:rPr>
              <a:t>type</a:t>
            </a:r>
          </a:p>
        </p:txBody>
      </p:sp>
      <p:sp>
        <p:nvSpPr>
          <p:cNvPr id="7" name="TextBox 6">
            <a:extLst>
              <a:ext uri="{FF2B5EF4-FFF2-40B4-BE49-F238E27FC236}">
                <a16:creationId xmlns:a16="http://schemas.microsoft.com/office/drawing/2014/main" id="{FC382B0A-857C-F5A9-701B-CA5284D0FFF2}"/>
              </a:ext>
            </a:extLst>
          </p:cNvPr>
          <p:cNvSpPr txBox="1"/>
          <p:nvPr/>
        </p:nvSpPr>
        <p:spPr>
          <a:xfrm>
            <a:off x="347546" y="6127595"/>
            <a:ext cx="628371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Resources</a:t>
            </a:r>
            <a:r>
              <a:rPr lang="en-US">
                <a:solidFill>
                  <a:schemeClr val="bg2">
                    <a:lumMod val="50000"/>
                  </a:schemeClr>
                </a:solidFill>
                <a:ea typeface="+mn-lt"/>
                <a:cs typeface="+mn-lt"/>
              </a:rPr>
              <a:t> 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a:t>
            </a:r>
            <a:endParaRPr lang="en-US">
              <a:solidFill>
                <a:schemeClr val="bg2">
                  <a:lumMod val="50000"/>
                </a:schemeClr>
              </a:solidFill>
            </a:endParaRPr>
          </a:p>
        </p:txBody>
      </p:sp>
    </p:spTree>
    <p:extLst>
      <p:ext uri="{BB962C8B-B14F-4D97-AF65-F5344CB8AC3E}">
        <p14:creationId xmlns:p14="http://schemas.microsoft.com/office/powerpoint/2010/main" val="412654745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Classes</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164507" y="1457255"/>
            <a:ext cx="6454690" cy="1279046"/>
          </a:xfrm>
        </p:spPr>
        <p:txBody>
          <a:bodyPr/>
          <a:lstStyle/>
          <a:p>
            <a:pPr marL="182880" indent="0">
              <a:buNone/>
            </a:pPr>
            <a:r>
              <a:rPr lang="en-US" b="1"/>
              <a:t>Multiple Puppet Resources</a:t>
            </a:r>
            <a:r>
              <a:rPr lang="en-US"/>
              <a:t> can be collected and distributed together using </a:t>
            </a:r>
            <a:r>
              <a:rPr lang="en-US" b="1"/>
              <a:t>Classes</a:t>
            </a:r>
            <a:r>
              <a:rPr lang="en-US"/>
              <a:t>, by combining Resources into a Class. A Class can configure a </a:t>
            </a:r>
            <a:r>
              <a:rPr lang="en-US" u="sng">
                <a:solidFill>
                  <a:schemeClr val="accent1"/>
                </a:solidFill>
              </a:rPr>
              <a:t>large block of functionality</a:t>
            </a:r>
            <a:r>
              <a:rPr lang="en-US"/>
              <a:t>.</a:t>
            </a:r>
          </a:p>
        </p:txBody>
      </p:sp>
      <p:pic>
        <p:nvPicPr>
          <p:cNvPr id="3" name="Picture 4" descr="Diagram&#10;&#10;Description automatically generated">
            <a:extLst>
              <a:ext uri="{FF2B5EF4-FFF2-40B4-BE49-F238E27FC236}">
                <a16:creationId xmlns:a16="http://schemas.microsoft.com/office/drawing/2014/main" id="{6E22658A-F463-E31F-FABA-5EBA2A407E4B}"/>
              </a:ext>
            </a:extLst>
          </p:cNvPr>
          <p:cNvPicPr>
            <a:picLocks noChangeAspect="1"/>
          </p:cNvPicPr>
          <p:nvPr/>
        </p:nvPicPr>
        <p:blipFill>
          <a:blip r:embed="rId2"/>
          <a:stretch>
            <a:fillRect/>
          </a:stretch>
        </p:blipFill>
        <p:spPr>
          <a:xfrm>
            <a:off x="475671" y="3006391"/>
            <a:ext cx="2843260" cy="2453884"/>
          </a:xfrm>
          <a:prstGeom prst="rect">
            <a:avLst/>
          </a:prstGeom>
        </p:spPr>
      </p:pic>
      <p:pic>
        <p:nvPicPr>
          <p:cNvPr id="5" name="Picture 6" descr="Graphical user interface, text, application&#10;&#10;Description automatically generated">
            <a:extLst>
              <a:ext uri="{FF2B5EF4-FFF2-40B4-BE49-F238E27FC236}">
                <a16:creationId xmlns:a16="http://schemas.microsoft.com/office/drawing/2014/main" id="{3E812474-5162-C047-D017-D7C2C156044C}"/>
              </a:ext>
            </a:extLst>
          </p:cNvPr>
          <p:cNvPicPr>
            <a:picLocks noChangeAspect="1"/>
          </p:cNvPicPr>
          <p:nvPr/>
        </p:nvPicPr>
        <p:blipFill>
          <a:blip r:embed="rId3"/>
          <a:stretch>
            <a:fillRect/>
          </a:stretch>
        </p:blipFill>
        <p:spPr>
          <a:xfrm>
            <a:off x="3392825" y="3005378"/>
            <a:ext cx="3620654" cy="2440516"/>
          </a:xfrm>
          <a:prstGeom prst="rect">
            <a:avLst/>
          </a:prstGeom>
        </p:spPr>
      </p:pic>
      <p:sp>
        <p:nvSpPr>
          <p:cNvPr id="7" name="TextBox 6">
            <a:extLst>
              <a:ext uri="{FF2B5EF4-FFF2-40B4-BE49-F238E27FC236}">
                <a16:creationId xmlns:a16="http://schemas.microsoft.com/office/drawing/2014/main" id="{1C30FE00-B16D-BEBC-0DEA-27D4AA5FD0EB}"/>
              </a:ext>
            </a:extLst>
          </p:cNvPr>
          <p:cNvSpPr txBox="1"/>
          <p:nvPr/>
        </p:nvSpPr>
        <p:spPr>
          <a:xfrm>
            <a:off x="475673" y="5840460"/>
            <a:ext cx="642235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4">
                  <a:extLst>
                    <a:ext uri="{A12FA001-AC4F-418D-AE19-62706E023703}">
                      <ahyp:hlinkClr xmlns:ahyp="http://schemas.microsoft.com/office/drawing/2018/hyperlinkcolor" val="tx"/>
                    </a:ext>
                  </a:extLst>
                </a:hlinkClick>
              </a:rPr>
              <a:t>Classes</a:t>
            </a:r>
            <a:r>
              <a:rPr lang="en-US">
                <a:solidFill>
                  <a:schemeClr val="bg2">
                    <a:lumMod val="50000"/>
                  </a:schemeClr>
                </a:solidFill>
                <a:ea typeface="+mn-lt"/>
                <a:cs typeface="+mn-lt"/>
              </a:rPr>
              <a:t> of </a:t>
            </a:r>
            <a:r>
              <a:rPr lang="en-US" b="1">
                <a:solidFill>
                  <a:schemeClr val="accent1"/>
                </a:solidFill>
                <a:ea typeface="+mn-lt"/>
                <a:cs typeface="+mn-lt"/>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8092442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41416" y="1572709"/>
            <a:ext cx="6454690" cy="1309834"/>
          </a:xfrm>
        </p:spPr>
        <p:txBody>
          <a:bodyPr/>
          <a:lstStyle/>
          <a:p>
            <a:pPr marL="182880" indent="0">
              <a:buNone/>
            </a:pPr>
            <a:r>
              <a:rPr lang="en-US" b="1"/>
              <a:t>Modules </a:t>
            </a:r>
            <a:r>
              <a:rPr lang="en-US"/>
              <a:t>are one of the most basic building blocks of the Puppet Language. They are used to manage o specific task or an application such as installing or configuring a piece of software.</a:t>
            </a:r>
            <a:br>
              <a:rPr lang="en-US"/>
            </a:br>
            <a:endParaRPr lang="en-US"/>
          </a:p>
        </p:txBody>
      </p:sp>
      <p:pic>
        <p:nvPicPr>
          <p:cNvPr id="3" name="Picture 4" descr="Diagram&#10;&#10;Description automatically generated">
            <a:extLst>
              <a:ext uri="{FF2B5EF4-FFF2-40B4-BE49-F238E27FC236}">
                <a16:creationId xmlns:a16="http://schemas.microsoft.com/office/drawing/2014/main" id="{10D11696-712C-7352-6297-9FFBC9D6284F}"/>
              </a:ext>
            </a:extLst>
          </p:cNvPr>
          <p:cNvPicPr>
            <a:picLocks noChangeAspect="1"/>
          </p:cNvPicPr>
          <p:nvPr/>
        </p:nvPicPr>
        <p:blipFill>
          <a:blip r:embed="rId2"/>
          <a:stretch>
            <a:fillRect/>
          </a:stretch>
        </p:blipFill>
        <p:spPr>
          <a:xfrm>
            <a:off x="1137612" y="3271323"/>
            <a:ext cx="4628957" cy="2793780"/>
          </a:xfrm>
          <a:prstGeom prst="rect">
            <a:avLst/>
          </a:prstGeom>
        </p:spPr>
      </p:pic>
    </p:spTree>
    <p:extLst>
      <p:ext uri="{BB962C8B-B14F-4D97-AF65-F5344CB8AC3E}">
        <p14:creationId xmlns:p14="http://schemas.microsoft.com/office/powerpoint/2010/main" val="332077288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56810" y="1387982"/>
            <a:ext cx="6454690" cy="1294440"/>
          </a:xfrm>
        </p:spPr>
        <p:txBody>
          <a:bodyPr/>
          <a:lstStyle/>
          <a:p>
            <a:pPr marL="182880" indent="0">
              <a:buNone/>
            </a:pPr>
            <a:r>
              <a:rPr lang="en-US" b="1"/>
              <a:t>Module</a:t>
            </a:r>
            <a:r>
              <a:rPr lang="en-US"/>
              <a:t> is simply a directory tree that contains the files needed for a given configuration. This directory structure allows nodes to discover and loads Classes, Resources Types and more.</a:t>
            </a:r>
            <a:br>
              <a:rPr lang="en-US"/>
            </a:br>
            <a:endParaRPr lang="en-US"/>
          </a:p>
        </p:txBody>
      </p:sp>
      <p:pic>
        <p:nvPicPr>
          <p:cNvPr id="5" name="Picture 6">
            <a:extLst>
              <a:ext uri="{FF2B5EF4-FFF2-40B4-BE49-F238E27FC236}">
                <a16:creationId xmlns:a16="http://schemas.microsoft.com/office/drawing/2014/main" id="{1886738B-46AD-DE4A-CC63-ACF8F35D1FC6}"/>
              </a:ext>
            </a:extLst>
          </p:cNvPr>
          <p:cNvPicPr>
            <a:picLocks noChangeAspect="1"/>
          </p:cNvPicPr>
          <p:nvPr/>
        </p:nvPicPr>
        <p:blipFill>
          <a:blip r:embed="rId2"/>
          <a:stretch>
            <a:fillRect/>
          </a:stretch>
        </p:blipFill>
        <p:spPr>
          <a:xfrm>
            <a:off x="352520" y="2842121"/>
            <a:ext cx="2173625" cy="2590003"/>
          </a:xfrm>
          <a:prstGeom prst="rect">
            <a:avLst/>
          </a:prstGeom>
        </p:spPr>
      </p:pic>
      <p:sp>
        <p:nvSpPr>
          <p:cNvPr id="8" name="Text Placeholder 5">
            <a:extLst>
              <a:ext uri="{FF2B5EF4-FFF2-40B4-BE49-F238E27FC236}">
                <a16:creationId xmlns:a16="http://schemas.microsoft.com/office/drawing/2014/main" id="{B07FFE8A-FC27-8896-1E73-12A74454770C}"/>
              </a:ext>
            </a:extLst>
          </p:cNvPr>
          <p:cNvSpPr txBox="1">
            <a:spLocks/>
          </p:cNvSpPr>
          <p:nvPr/>
        </p:nvSpPr>
        <p:spPr>
          <a:xfrm>
            <a:off x="155271" y="5627472"/>
            <a:ext cx="6454690" cy="971167"/>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400" b="1"/>
              <a:t>module-name</a:t>
            </a:r>
            <a:r>
              <a:rPr lang="en-US" sz="1400"/>
              <a:t> is the name of the top's directory tree. If a Class is defined in a Module you can declare that name in any Manifest. When Puppet Master compiles the catalog it </a:t>
            </a:r>
            <a:r>
              <a:rPr lang="en-US" sz="1400" err="1"/>
              <a:t>wil</a:t>
            </a:r>
            <a:r>
              <a:rPr lang="en-US" sz="1400"/>
              <a:t> dynamic load the Manifest  that contain the Class definition.</a:t>
            </a:r>
          </a:p>
        </p:txBody>
      </p:sp>
    </p:spTree>
    <p:extLst>
      <p:ext uri="{BB962C8B-B14F-4D97-AF65-F5344CB8AC3E}">
        <p14:creationId xmlns:p14="http://schemas.microsoft.com/office/powerpoint/2010/main" val="316991580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4766-0CBE-E294-10B3-20A5120544A7}"/>
              </a:ext>
            </a:extLst>
          </p:cNvPr>
          <p:cNvSpPr>
            <a:spLocks noGrp="1"/>
          </p:cNvSpPr>
          <p:nvPr>
            <p:ph type="title"/>
          </p:nvPr>
        </p:nvSpPr>
        <p:spPr/>
        <p:txBody>
          <a:bodyPr/>
          <a:lstStyle/>
          <a:p>
            <a:r>
              <a:rPr lang="en-US"/>
              <a:t>Puppet Language Basics</a:t>
            </a:r>
          </a:p>
        </p:txBody>
      </p:sp>
      <p:sp>
        <p:nvSpPr>
          <p:cNvPr id="3" name="Text Placeholder 2">
            <a:extLst>
              <a:ext uri="{FF2B5EF4-FFF2-40B4-BE49-F238E27FC236}">
                <a16:creationId xmlns:a16="http://schemas.microsoft.com/office/drawing/2014/main" id="{BC748738-5423-6510-6D52-547BC1BB138C}"/>
              </a:ext>
            </a:extLst>
          </p:cNvPr>
          <p:cNvSpPr>
            <a:spLocks noGrp="1"/>
          </p:cNvSpPr>
          <p:nvPr>
            <p:ph type="body" idx="2"/>
          </p:nvPr>
        </p:nvSpPr>
        <p:spPr>
          <a:xfrm>
            <a:off x="133719" y="1357194"/>
            <a:ext cx="6454690" cy="1340622"/>
          </a:xfrm>
        </p:spPr>
        <p:txBody>
          <a:bodyPr/>
          <a:lstStyle/>
          <a:p>
            <a:pPr marL="182880" indent="0">
              <a:buNone/>
            </a:pPr>
            <a:r>
              <a:rPr lang="en-US">
                <a:solidFill>
                  <a:schemeClr val="bg2">
                    <a:lumMod val="50000"/>
                  </a:schemeClr>
                </a:solidFill>
              </a:rPr>
              <a:t>There are thousand of Modules available for downloading at </a:t>
            </a:r>
            <a:r>
              <a:rPr lang="en-US" b="1">
                <a:solidFill>
                  <a:schemeClr val="accent1"/>
                </a:solidFill>
                <a:hlinkClick r:id="rId2">
                  <a:extLst>
                    <a:ext uri="{A12FA001-AC4F-418D-AE19-62706E023703}">
                      <ahyp:hlinkClr xmlns:ahyp="http://schemas.microsoft.com/office/drawing/2018/hyperlinkcolor" val="tx"/>
                    </a:ext>
                  </a:extLst>
                </a:hlinkClick>
              </a:rPr>
              <a:t>Puppet Forge</a:t>
            </a:r>
            <a:r>
              <a:rPr lang="en-US">
                <a:solidFill>
                  <a:schemeClr val="bg2">
                    <a:lumMod val="50000"/>
                  </a:schemeClr>
                </a:solidFill>
              </a:rPr>
              <a:t>, written by Puppet developers and community members. There are compatible with multi-platforms.</a:t>
            </a:r>
          </a:p>
        </p:txBody>
      </p:sp>
      <p:sp>
        <p:nvSpPr>
          <p:cNvPr id="4" name="Subtitle 3">
            <a:extLst>
              <a:ext uri="{FF2B5EF4-FFF2-40B4-BE49-F238E27FC236}">
                <a16:creationId xmlns:a16="http://schemas.microsoft.com/office/drawing/2014/main" id="{D39F6221-B2BA-E2CB-5616-5BE8902080CF}"/>
              </a:ext>
            </a:extLst>
          </p:cNvPr>
          <p:cNvSpPr>
            <a:spLocks noGrp="1"/>
          </p:cNvSpPr>
          <p:nvPr>
            <p:ph type="subTitle" idx="1"/>
          </p:nvPr>
        </p:nvSpPr>
        <p:spPr/>
        <p:txBody>
          <a:bodyPr/>
          <a:lstStyle/>
          <a:p>
            <a:r>
              <a:rPr lang="en-US"/>
              <a:t>Modules</a:t>
            </a:r>
          </a:p>
        </p:txBody>
      </p:sp>
      <p:pic>
        <p:nvPicPr>
          <p:cNvPr id="5" name="Picture 5" descr="Graphical user interface, website&#10;&#10;Description automatically generated">
            <a:extLst>
              <a:ext uri="{FF2B5EF4-FFF2-40B4-BE49-F238E27FC236}">
                <a16:creationId xmlns:a16="http://schemas.microsoft.com/office/drawing/2014/main" id="{C7D4ABC2-50CA-BC1D-4279-7678EE83D3BF}"/>
              </a:ext>
            </a:extLst>
          </p:cNvPr>
          <p:cNvPicPr>
            <a:picLocks noChangeAspect="1"/>
          </p:cNvPicPr>
          <p:nvPr/>
        </p:nvPicPr>
        <p:blipFill>
          <a:blip r:embed="rId3"/>
          <a:stretch>
            <a:fillRect/>
          </a:stretch>
        </p:blipFill>
        <p:spPr>
          <a:xfrm>
            <a:off x="429490" y="2761650"/>
            <a:ext cx="6306896" cy="3536035"/>
          </a:xfrm>
          <a:prstGeom prst="rect">
            <a:avLst/>
          </a:prstGeom>
        </p:spPr>
      </p:pic>
      <p:pic>
        <p:nvPicPr>
          <p:cNvPr id="6" name="Picture 6" descr="Qr code&#10;&#10;Description automatically generated">
            <a:extLst>
              <a:ext uri="{FF2B5EF4-FFF2-40B4-BE49-F238E27FC236}">
                <a16:creationId xmlns:a16="http://schemas.microsoft.com/office/drawing/2014/main" id="{4B88FE19-5DED-4099-9353-98A1EAFD4FFD}"/>
              </a:ext>
            </a:extLst>
          </p:cNvPr>
          <p:cNvPicPr>
            <a:picLocks noChangeAspect="1"/>
          </p:cNvPicPr>
          <p:nvPr/>
        </p:nvPicPr>
        <p:blipFill>
          <a:blip r:embed="rId4"/>
          <a:stretch>
            <a:fillRect/>
          </a:stretch>
        </p:blipFill>
        <p:spPr>
          <a:xfrm>
            <a:off x="9173248" y="3619885"/>
            <a:ext cx="2743200" cy="2743200"/>
          </a:xfrm>
          <a:prstGeom prst="rect">
            <a:avLst/>
          </a:prstGeom>
        </p:spPr>
      </p:pic>
    </p:spTree>
    <p:extLst>
      <p:ext uri="{BB962C8B-B14F-4D97-AF65-F5344CB8AC3E}">
        <p14:creationId xmlns:p14="http://schemas.microsoft.com/office/powerpoint/2010/main" val="4077206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73205-1B35-AF25-6CE8-4B6987E4A23D}"/>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2343176C-10C9-3F44-4C13-5F54DA117F68}"/>
              </a:ext>
            </a:extLst>
          </p:cNvPr>
          <p:cNvSpPr>
            <a:spLocks noGrp="1"/>
          </p:cNvSpPr>
          <p:nvPr>
            <p:ph type="subTitle" idx="1"/>
          </p:nvPr>
        </p:nvSpPr>
        <p:spPr/>
        <p:txBody>
          <a:bodyPr/>
          <a:lstStyle/>
          <a:p>
            <a:r>
              <a:rPr lang="en-US"/>
              <a:t>Modules</a:t>
            </a:r>
          </a:p>
        </p:txBody>
      </p:sp>
      <p:sp>
        <p:nvSpPr>
          <p:cNvPr id="6" name="Text Placeholder 5">
            <a:extLst>
              <a:ext uri="{FF2B5EF4-FFF2-40B4-BE49-F238E27FC236}">
                <a16:creationId xmlns:a16="http://schemas.microsoft.com/office/drawing/2014/main" id="{1898F616-3C13-2F6B-2772-39BE4566BB58}"/>
              </a:ext>
            </a:extLst>
          </p:cNvPr>
          <p:cNvSpPr>
            <a:spLocks noGrp="1"/>
          </p:cNvSpPr>
          <p:nvPr>
            <p:ph type="body" idx="2"/>
          </p:nvPr>
        </p:nvSpPr>
        <p:spPr>
          <a:xfrm>
            <a:off x="411828" y="1960341"/>
            <a:ext cx="6291103" cy="1907823"/>
          </a:xfrm>
          <a:solidFill>
            <a:schemeClr val="tx1"/>
          </a:solidFill>
        </p:spPr>
        <p:txBody>
          <a:bodyPr/>
          <a:lstStyle/>
          <a:p>
            <a:pPr marL="182880" indent="0">
              <a:buNone/>
            </a:pPr>
            <a:br>
              <a:rPr lang="en-US" sz="1200"/>
            </a:br>
            <a:r>
              <a:rPr lang="en-US" sz="1200">
                <a:solidFill>
                  <a:srgbClr val="92D050"/>
                </a:solidFill>
              </a:rPr>
              <a:t># list puppet modules and its path, usually has to be execute with </a:t>
            </a:r>
            <a:r>
              <a:rPr lang="en-US" sz="1200" err="1">
                <a:solidFill>
                  <a:srgbClr val="92D050"/>
                </a:solidFill>
              </a:rPr>
              <a:t>sudo</a:t>
            </a:r>
            <a:r>
              <a:rPr lang="en-US" sz="1200"/>
              <a:t> </a:t>
            </a:r>
            <a:br>
              <a:rPr lang="en-US" sz="1200"/>
            </a:br>
            <a:r>
              <a:rPr lang="en-US" sz="1200">
                <a:solidFill>
                  <a:schemeClr val="bg1">
                    <a:lumMod val="95000"/>
                  </a:schemeClr>
                </a:solidFill>
              </a:rPr>
              <a:t>$ puppet module list</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chemeClr val="bg1">
                    <a:lumMod val="95000"/>
                  </a:schemeClr>
                </a:solidFill>
              </a:rPr>
              <a:t>$ puppet config print </a:t>
            </a:r>
            <a:r>
              <a:rPr lang="en-US" sz="1200" err="1">
                <a:solidFill>
                  <a:schemeClr val="bg1">
                    <a:lumMod val="95000"/>
                  </a:schemeClr>
                </a:solidFill>
              </a:rPr>
              <a:t>modulepath</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rgbClr val="92D050"/>
                </a:solidFill>
              </a:rPr>
              <a:t># install puppet modules, usually has to be execute with </a:t>
            </a:r>
            <a:r>
              <a:rPr lang="en-US" sz="1200" err="1">
                <a:solidFill>
                  <a:srgbClr val="92D050"/>
                </a:solidFill>
              </a:rPr>
              <a:t>sudo</a:t>
            </a:r>
            <a:r>
              <a:rPr lang="en-US" sz="1200">
                <a:solidFill>
                  <a:srgbClr val="92D050"/>
                </a:solidFill>
              </a:rPr>
              <a:t> </a:t>
            </a:r>
            <a:br>
              <a:rPr lang="en-US" sz="1200">
                <a:solidFill>
                  <a:schemeClr val="bg1">
                    <a:lumMod val="95000"/>
                  </a:schemeClr>
                </a:solidFill>
              </a:rPr>
            </a:br>
            <a:r>
              <a:rPr lang="en-US" sz="1200">
                <a:solidFill>
                  <a:schemeClr val="bg1">
                    <a:lumMod val="95000"/>
                  </a:schemeClr>
                </a:solidFill>
              </a:rPr>
              <a:t>$ puppet module install </a:t>
            </a:r>
            <a:r>
              <a:rPr lang="en-US" sz="1200" err="1">
                <a:solidFill>
                  <a:schemeClr val="bg1">
                    <a:lumMod val="95000"/>
                  </a:schemeClr>
                </a:solidFill>
              </a:rPr>
              <a:t>stdlib</a:t>
            </a:r>
            <a:br>
              <a:rPr lang="en-US" sz="1200">
                <a:solidFill>
                  <a:schemeClr val="bg1">
                    <a:lumMod val="95000"/>
                  </a:schemeClr>
                </a:solidFill>
              </a:rPr>
            </a:br>
            <a:r>
              <a:rPr lang="en-US" sz="1200">
                <a:solidFill>
                  <a:schemeClr val="bg1">
                    <a:lumMod val="95000"/>
                  </a:schemeClr>
                </a:solidFill>
              </a:rPr>
              <a:t>:</a:t>
            </a:r>
          </a:p>
        </p:txBody>
      </p:sp>
      <p:sp>
        <p:nvSpPr>
          <p:cNvPr id="8" name="TextBox 7">
            <a:extLst>
              <a:ext uri="{FF2B5EF4-FFF2-40B4-BE49-F238E27FC236}">
                <a16:creationId xmlns:a16="http://schemas.microsoft.com/office/drawing/2014/main" id="{83BDEB4F-21ED-0F03-BC56-9397B063F908}"/>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Module relevant commands</a:t>
            </a:r>
          </a:p>
        </p:txBody>
      </p:sp>
      <p:sp>
        <p:nvSpPr>
          <p:cNvPr id="9" name="TextBox 8">
            <a:extLst>
              <a:ext uri="{FF2B5EF4-FFF2-40B4-BE49-F238E27FC236}">
                <a16:creationId xmlns:a16="http://schemas.microsoft.com/office/drawing/2014/main" id="{009BD06C-296E-FB02-C784-9D1D8767C636}"/>
              </a:ext>
            </a:extLst>
          </p:cNvPr>
          <p:cNvSpPr txBox="1"/>
          <p:nvPr/>
        </p:nvSpPr>
        <p:spPr>
          <a:xfrm>
            <a:off x="353683" y="5913378"/>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See</a:t>
            </a:r>
            <a:r>
              <a:rPr lang="en-US">
                <a:solidFill>
                  <a:schemeClr val="bg2">
                    <a:lumMod val="50000"/>
                  </a:schemeClr>
                </a:solidFill>
                <a:ea typeface="+mn-lt"/>
                <a:cs typeface="+mn-lt"/>
              </a:rPr>
              <a:t>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Modules</a:t>
            </a:r>
            <a:r>
              <a:rPr lang="en-US" b="1">
                <a:solidFill>
                  <a:schemeClr val="bg2">
                    <a:lumMod val="50000"/>
                  </a:schemeClr>
                </a:solidFill>
                <a:ea typeface="+mn-lt"/>
                <a:cs typeface="+mn-lt"/>
              </a:rPr>
              <a:t> </a:t>
            </a:r>
            <a:r>
              <a:rPr lang="en-US">
                <a:solidFill>
                  <a:schemeClr val="bg2">
                    <a:lumMod val="50000"/>
                  </a:schemeClr>
                </a:solidFill>
                <a:ea typeface="+mn-lt"/>
                <a:cs typeface="+mn-lt"/>
              </a:rPr>
              <a:t>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b="1">
                <a:solidFill>
                  <a:schemeClr val="bg2">
                    <a:lumMod val="50000"/>
                  </a:schemeClr>
                </a:solidFill>
                <a:ea typeface="+mn-lt"/>
                <a:cs typeface="+mn-lt"/>
              </a:rPr>
              <a:t> </a:t>
            </a:r>
            <a:r>
              <a:rPr lang="en-US">
                <a:solidFill>
                  <a:schemeClr val="bg2">
                    <a:lumMod val="50000"/>
                  </a:schemeClr>
                </a:solidFill>
                <a:ea typeface="+mn-lt"/>
                <a:cs typeface="+mn-lt"/>
              </a:rPr>
              <a:t>in Puppet channel in YouTube and homepage. </a:t>
            </a:r>
            <a:endParaRPr lang="en-US">
              <a:solidFill>
                <a:schemeClr val="bg2">
                  <a:lumMod val="50000"/>
                </a:schemeClr>
              </a:solidFill>
              <a:cs typeface="Calibri"/>
            </a:endParaRPr>
          </a:p>
        </p:txBody>
      </p:sp>
    </p:spTree>
    <p:extLst>
      <p:ext uri="{BB962C8B-B14F-4D97-AF65-F5344CB8AC3E}">
        <p14:creationId xmlns:p14="http://schemas.microsoft.com/office/powerpoint/2010/main" val="308200752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Variables</a:t>
            </a:r>
          </a:p>
        </p:txBody>
      </p:sp>
      <p:sp>
        <p:nvSpPr>
          <p:cNvPr id="6" name="Text Placeholder 5">
            <a:extLst>
              <a:ext uri="{FF2B5EF4-FFF2-40B4-BE49-F238E27FC236}">
                <a16:creationId xmlns:a16="http://schemas.microsoft.com/office/drawing/2014/main" id="{A4338ADD-1F34-9296-E97A-496A64FE405A}"/>
              </a:ext>
            </a:extLst>
          </p:cNvPr>
          <p:cNvSpPr>
            <a:spLocks noGrp="1"/>
          </p:cNvSpPr>
          <p:nvPr>
            <p:ph type="body" idx="2"/>
          </p:nvPr>
        </p:nvSpPr>
        <p:spPr>
          <a:xfrm>
            <a:off x="187598" y="1434164"/>
            <a:ext cx="6454690" cy="755652"/>
          </a:xfrm>
        </p:spPr>
        <p:txBody>
          <a:bodyPr/>
          <a:lstStyle/>
          <a:p>
            <a:pPr marL="182880" indent="0">
              <a:buNone/>
            </a:pPr>
            <a:r>
              <a:rPr lang="en-US"/>
              <a:t>Variables exists in order to be interpolated in strings to avoid rework in case the value is updated.</a:t>
            </a:r>
          </a:p>
        </p:txBody>
      </p:sp>
      <p:pic>
        <p:nvPicPr>
          <p:cNvPr id="7" name="Picture 7" descr="Graphical user interface, text, application&#10;&#10;Description automatically generated">
            <a:extLst>
              <a:ext uri="{FF2B5EF4-FFF2-40B4-BE49-F238E27FC236}">
                <a16:creationId xmlns:a16="http://schemas.microsoft.com/office/drawing/2014/main" id="{C06E8E59-6E7C-4E58-D5C7-F06769F79D61}"/>
              </a:ext>
            </a:extLst>
          </p:cNvPr>
          <p:cNvPicPr>
            <a:picLocks noChangeAspect="1"/>
          </p:cNvPicPr>
          <p:nvPr/>
        </p:nvPicPr>
        <p:blipFill>
          <a:blip r:embed="rId2"/>
          <a:stretch>
            <a:fillRect/>
          </a:stretch>
        </p:blipFill>
        <p:spPr>
          <a:xfrm>
            <a:off x="437188" y="2280634"/>
            <a:ext cx="3112655" cy="1858007"/>
          </a:xfrm>
          <a:prstGeom prst="rect">
            <a:avLst/>
          </a:prstGeom>
        </p:spPr>
      </p:pic>
      <p:pic>
        <p:nvPicPr>
          <p:cNvPr id="8" name="Picture 8" descr="Graphical user interface, text, application, chat or text message&#10;&#10;Description automatically generated">
            <a:extLst>
              <a:ext uri="{FF2B5EF4-FFF2-40B4-BE49-F238E27FC236}">
                <a16:creationId xmlns:a16="http://schemas.microsoft.com/office/drawing/2014/main" id="{6F5E747C-8DAE-0BDF-F04D-322505E37DBF}"/>
              </a:ext>
            </a:extLst>
          </p:cNvPr>
          <p:cNvPicPr>
            <a:picLocks noChangeAspect="1"/>
          </p:cNvPicPr>
          <p:nvPr/>
        </p:nvPicPr>
        <p:blipFill>
          <a:blip r:embed="rId3"/>
          <a:stretch>
            <a:fillRect/>
          </a:stretch>
        </p:blipFill>
        <p:spPr>
          <a:xfrm>
            <a:off x="3623734" y="2282075"/>
            <a:ext cx="3559079" cy="2201484"/>
          </a:xfrm>
          <a:prstGeom prst="rect">
            <a:avLst/>
          </a:prstGeom>
        </p:spPr>
      </p:pic>
      <p:sp>
        <p:nvSpPr>
          <p:cNvPr id="10" name="Text Placeholder 5">
            <a:extLst>
              <a:ext uri="{FF2B5EF4-FFF2-40B4-BE49-F238E27FC236}">
                <a16:creationId xmlns:a16="http://schemas.microsoft.com/office/drawing/2014/main" id="{CD946D2D-EC5B-F6AE-4372-02479FC835CA}"/>
              </a:ext>
            </a:extLst>
          </p:cNvPr>
          <p:cNvSpPr txBox="1">
            <a:spLocks/>
          </p:cNvSpPr>
          <p:nvPr/>
        </p:nvSpPr>
        <p:spPr>
          <a:xfrm>
            <a:off x="247634" y="5812201"/>
            <a:ext cx="6454690" cy="755652"/>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Font typeface="IBM Plex Sans"/>
              <a:buNone/>
            </a:pPr>
            <a:r>
              <a:rPr lang="en-US">
                <a:solidFill>
                  <a:schemeClr val="bg2">
                    <a:lumMod val="50000"/>
                  </a:schemeClr>
                </a:solidFill>
                <a:latin typeface="-apple-system"/>
                <a:ea typeface="-apple-system"/>
                <a:cs typeface="-apple-system"/>
              </a:rPr>
              <a:t>See also in  </a:t>
            </a:r>
            <a:r>
              <a:rPr lang="en-US" b="1">
                <a:solidFill>
                  <a:schemeClr val="accent1"/>
                </a:solidFill>
                <a:latin typeface="-apple-system"/>
                <a:ea typeface="-apple-system"/>
                <a:cs typeface="-apple-system"/>
                <a:hlinkClick r:id="rId4">
                  <a:extLst>
                    <a:ext uri="{A12FA001-AC4F-418D-AE19-62706E023703}">
                      <ahyp:hlinkClr xmlns:ahyp="http://schemas.microsoft.com/office/drawing/2018/hyperlinkcolor" val="tx"/>
                    </a:ext>
                  </a:extLst>
                </a:hlinkClick>
              </a:rPr>
              <a:t>Variables</a:t>
            </a:r>
            <a:r>
              <a:rPr lang="en-US" b="1">
                <a:solidFill>
                  <a:schemeClr val="bg2">
                    <a:lumMod val="50000"/>
                  </a:schemeClr>
                </a:solidFill>
                <a:latin typeface="-apple-system"/>
                <a:ea typeface="-apple-system"/>
                <a:cs typeface="-apple-system"/>
              </a:rPr>
              <a:t> </a:t>
            </a:r>
            <a:r>
              <a:rPr lang="en-US">
                <a:solidFill>
                  <a:schemeClr val="bg2">
                    <a:lumMod val="50000"/>
                  </a:schemeClr>
                </a:solidFill>
                <a:latin typeface="-apple-system"/>
                <a:ea typeface="-apple-system"/>
                <a:cs typeface="-apple-system"/>
              </a:rPr>
              <a:t>of </a:t>
            </a:r>
            <a:r>
              <a:rPr lang="en-US" b="1">
                <a:solidFill>
                  <a:schemeClr val="accent1"/>
                </a:solidFill>
                <a:latin typeface="-apple-system"/>
                <a:ea typeface="-apple-system"/>
                <a:cs typeface="-apple-system"/>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latin typeface="-apple-system"/>
                <a:ea typeface="-apple-system"/>
                <a:cs typeface="-apple-system"/>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90307409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2387410"/>
          </a:xfrm>
        </p:spPr>
        <p:txBody>
          <a:bodyPr/>
          <a:lstStyle/>
          <a:p>
            <a:pPr marL="182880" indent="0">
              <a:buNone/>
            </a:pPr>
            <a:r>
              <a:rPr lang="en-US"/>
              <a:t>When a Puppet manifest is loaded the resources inside the manifest are  managed the order they are declared. But when you need a group of resources to be managed in different or specific order you must explicit  declare the relationships there where the </a:t>
            </a:r>
            <a:r>
              <a:rPr lang="en-US" b="1" err="1"/>
              <a:t>Metaparameters</a:t>
            </a:r>
            <a:r>
              <a:rPr lang="en-US" b="1"/>
              <a:t> </a:t>
            </a:r>
            <a:r>
              <a:rPr lang="en-US"/>
              <a:t>come in. </a:t>
            </a:r>
            <a:r>
              <a:rPr lang="en-US" b="1" err="1"/>
              <a:t>Metaparameters</a:t>
            </a:r>
            <a:r>
              <a:rPr lang="en-US" b="1"/>
              <a:t> </a:t>
            </a:r>
            <a:r>
              <a:rPr lang="en-US"/>
              <a:t>are special attributes that can be used in any resource type, and specify how your system act to the resource rather than mapping directly to the system state.</a:t>
            </a:r>
          </a:p>
        </p:txBody>
      </p:sp>
      <p:pic>
        <p:nvPicPr>
          <p:cNvPr id="3" name="Picture 4" descr="Diagram&#10;&#10;Description automatically generated">
            <a:extLst>
              <a:ext uri="{FF2B5EF4-FFF2-40B4-BE49-F238E27FC236}">
                <a16:creationId xmlns:a16="http://schemas.microsoft.com/office/drawing/2014/main" id="{A3D438FC-42FC-F291-02F3-D4B98E62EB7A}"/>
              </a:ext>
            </a:extLst>
          </p:cNvPr>
          <p:cNvPicPr>
            <a:picLocks noChangeAspect="1"/>
          </p:cNvPicPr>
          <p:nvPr/>
        </p:nvPicPr>
        <p:blipFill>
          <a:blip r:embed="rId2"/>
          <a:stretch>
            <a:fillRect/>
          </a:stretch>
        </p:blipFill>
        <p:spPr>
          <a:xfrm>
            <a:off x="1383915" y="4070890"/>
            <a:ext cx="4567381" cy="2295310"/>
          </a:xfrm>
          <a:prstGeom prst="rect">
            <a:avLst/>
          </a:prstGeom>
        </p:spPr>
      </p:pic>
    </p:spTree>
    <p:extLst>
      <p:ext uri="{BB962C8B-B14F-4D97-AF65-F5344CB8AC3E}">
        <p14:creationId xmlns:p14="http://schemas.microsoft.com/office/powerpoint/2010/main" val="36812067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801835"/>
          </a:xfrm>
        </p:spPr>
        <p:txBody>
          <a:bodyPr/>
          <a:lstStyle/>
          <a:p>
            <a:pPr marL="182880" indent="0">
              <a:buNone/>
            </a:pPr>
            <a:r>
              <a:rPr lang="en-US"/>
              <a:t>The Puppet Language uses four </a:t>
            </a:r>
            <a:r>
              <a:rPr lang="en-US" err="1"/>
              <a:t>Metaparameters</a:t>
            </a:r>
            <a:r>
              <a:rPr lang="en-US"/>
              <a:t> to establish relationships.</a:t>
            </a:r>
          </a:p>
        </p:txBody>
      </p:sp>
      <p:pic>
        <p:nvPicPr>
          <p:cNvPr id="3" name="Picture 4">
            <a:extLst>
              <a:ext uri="{FF2B5EF4-FFF2-40B4-BE49-F238E27FC236}">
                <a16:creationId xmlns:a16="http://schemas.microsoft.com/office/drawing/2014/main" id="{6B9A39CC-1E38-A002-00FB-F66D07A732A1}"/>
              </a:ext>
            </a:extLst>
          </p:cNvPr>
          <p:cNvPicPr>
            <a:picLocks noChangeAspect="1"/>
          </p:cNvPicPr>
          <p:nvPr/>
        </p:nvPicPr>
        <p:blipFill>
          <a:blip r:embed="rId2"/>
          <a:stretch>
            <a:fillRect/>
          </a:stretch>
        </p:blipFill>
        <p:spPr>
          <a:xfrm>
            <a:off x="521855" y="2308448"/>
            <a:ext cx="2743200" cy="2164135"/>
          </a:xfrm>
          <a:prstGeom prst="rect">
            <a:avLst/>
          </a:prstGeom>
        </p:spPr>
      </p:pic>
      <p:pic>
        <p:nvPicPr>
          <p:cNvPr id="10" name="Picture 10" descr="Graphical user interface, text, application&#10;&#10;Description automatically generated">
            <a:extLst>
              <a:ext uri="{FF2B5EF4-FFF2-40B4-BE49-F238E27FC236}">
                <a16:creationId xmlns:a16="http://schemas.microsoft.com/office/drawing/2014/main" id="{3B6E0C75-B397-2A70-42D9-3829B27DC93C}"/>
              </a:ext>
            </a:extLst>
          </p:cNvPr>
          <p:cNvPicPr>
            <a:picLocks noChangeAspect="1"/>
          </p:cNvPicPr>
          <p:nvPr/>
        </p:nvPicPr>
        <p:blipFill>
          <a:blip r:embed="rId3"/>
          <a:stretch>
            <a:fillRect/>
          </a:stretch>
        </p:blipFill>
        <p:spPr>
          <a:xfrm>
            <a:off x="3577553" y="3430905"/>
            <a:ext cx="3174231" cy="742796"/>
          </a:xfrm>
          <a:prstGeom prst="rect">
            <a:avLst/>
          </a:prstGeom>
        </p:spPr>
      </p:pic>
      <p:pic>
        <p:nvPicPr>
          <p:cNvPr id="11" name="Picture 11" descr="Graphical user interface, text, application&#10;&#10;Description automatically generated">
            <a:extLst>
              <a:ext uri="{FF2B5EF4-FFF2-40B4-BE49-F238E27FC236}">
                <a16:creationId xmlns:a16="http://schemas.microsoft.com/office/drawing/2014/main" id="{532F15D8-4C07-9088-98A5-02D81DFFB910}"/>
              </a:ext>
            </a:extLst>
          </p:cNvPr>
          <p:cNvPicPr>
            <a:picLocks noChangeAspect="1"/>
          </p:cNvPicPr>
          <p:nvPr/>
        </p:nvPicPr>
        <p:blipFill>
          <a:blip r:embed="rId4"/>
          <a:stretch>
            <a:fillRect/>
          </a:stretch>
        </p:blipFill>
        <p:spPr>
          <a:xfrm>
            <a:off x="3577551" y="2309000"/>
            <a:ext cx="3451321" cy="977698"/>
          </a:xfrm>
          <a:prstGeom prst="rect">
            <a:avLst/>
          </a:prstGeom>
        </p:spPr>
      </p:pic>
      <p:pic>
        <p:nvPicPr>
          <p:cNvPr id="12" name="Picture 12" descr="Graphical user interface, text, application&#10;&#10;Description automatically generated">
            <a:extLst>
              <a:ext uri="{FF2B5EF4-FFF2-40B4-BE49-F238E27FC236}">
                <a16:creationId xmlns:a16="http://schemas.microsoft.com/office/drawing/2014/main" id="{7DAD9D51-E9D3-281A-70DB-AE1DC24D950A}"/>
              </a:ext>
            </a:extLst>
          </p:cNvPr>
          <p:cNvPicPr>
            <a:picLocks noChangeAspect="1"/>
          </p:cNvPicPr>
          <p:nvPr/>
        </p:nvPicPr>
        <p:blipFill>
          <a:blip r:embed="rId5"/>
          <a:stretch>
            <a:fillRect/>
          </a:stretch>
        </p:blipFill>
        <p:spPr>
          <a:xfrm>
            <a:off x="3577552" y="4312140"/>
            <a:ext cx="3081866" cy="766022"/>
          </a:xfrm>
          <a:prstGeom prst="rect">
            <a:avLst/>
          </a:prstGeom>
        </p:spPr>
      </p:pic>
      <p:sp>
        <p:nvSpPr>
          <p:cNvPr id="14" name="Text Placeholder 5">
            <a:extLst>
              <a:ext uri="{FF2B5EF4-FFF2-40B4-BE49-F238E27FC236}">
                <a16:creationId xmlns:a16="http://schemas.microsoft.com/office/drawing/2014/main" id="{9AC7C048-393B-E175-7B4E-20E72CF2E1C1}"/>
              </a:ext>
            </a:extLst>
          </p:cNvPr>
          <p:cNvSpPr txBox="1">
            <a:spLocks/>
          </p:cNvSpPr>
          <p:nvPr/>
        </p:nvSpPr>
        <p:spPr>
          <a:xfrm>
            <a:off x="347695" y="5812201"/>
            <a:ext cx="6454690" cy="801835"/>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a:t>See also in  </a:t>
            </a:r>
            <a:r>
              <a:rPr lang="en-US" b="1">
                <a:hlinkClick r:id="rId6"/>
              </a:rPr>
              <a:t>Metaparameters</a:t>
            </a:r>
            <a:r>
              <a:rPr lang="en-US"/>
              <a:t> of </a:t>
            </a:r>
            <a:r>
              <a:rPr lang="en-US" b="1">
                <a:hlinkClick r:id="rId7"/>
              </a:rPr>
              <a:t>Puppet Language Basics</a:t>
            </a:r>
            <a:r>
              <a:rPr lang="en-US"/>
              <a:t> in Puppet channel in YouTube and homepage. </a:t>
            </a:r>
          </a:p>
        </p:txBody>
      </p:sp>
    </p:spTree>
    <p:extLst>
      <p:ext uri="{BB962C8B-B14F-4D97-AF65-F5344CB8AC3E}">
        <p14:creationId xmlns:p14="http://schemas.microsoft.com/office/powerpoint/2010/main" val="386851518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a:t>Puppet Code and Language Evaluator</a:t>
            </a:r>
          </a:p>
          <a:p>
            <a:pPr indent="-264795" fontAlgn="base"/>
            <a:r>
              <a:rPr lang="en-US"/>
              <a:t>Fully Featured </a:t>
            </a:r>
            <a:r>
              <a:rPr lang="en-US" b="1"/>
              <a:t>REPL</a:t>
            </a:r>
          </a:p>
          <a:p>
            <a:pPr indent="-264795"/>
            <a:r>
              <a:rPr lang="en-US"/>
              <a:t>Mock real or fake systems using </a:t>
            </a:r>
            <a:r>
              <a:rPr lang="en-US" b="1" err="1"/>
              <a:t>facterdb</a:t>
            </a:r>
            <a:endParaRPr lang="en-US" b="1"/>
          </a:p>
          <a:p>
            <a:pPr indent="-264795"/>
            <a:r>
              <a:rPr lang="en-US"/>
              <a:t>Works with puppet </a:t>
            </a:r>
            <a:r>
              <a:rPr lang="en-US" b="1"/>
              <a:t>4.x</a:t>
            </a:r>
            <a:r>
              <a:rPr lang="en-US"/>
              <a:t>, </a:t>
            </a:r>
            <a:r>
              <a:rPr lang="en-US" b="1"/>
              <a:t>5.x</a:t>
            </a:r>
            <a:r>
              <a:rPr lang="en-US"/>
              <a:t>, and </a:t>
            </a:r>
            <a:r>
              <a:rPr lang="en-US" b="1"/>
              <a:t>6.x</a:t>
            </a:r>
          </a:p>
          <a:p>
            <a:pPr indent="-264795"/>
            <a:r>
              <a:rPr lang="en-US"/>
              <a:t>Easy Gem installation</a:t>
            </a:r>
          </a:p>
          <a:p>
            <a:pPr indent="-264795"/>
            <a:r>
              <a:rPr lang="en-US"/>
              <a:t>Easy Code Playback</a:t>
            </a:r>
          </a:p>
          <a:p>
            <a:pPr indent="-264795"/>
            <a:r>
              <a:rPr lang="en-US"/>
              <a:t>Set Breakpoints</a:t>
            </a:r>
          </a:p>
          <a:p>
            <a:pPr indent="-264795"/>
            <a:r>
              <a:rPr lang="en-US"/>
              <a:t>List all functions, datatypes, types</a:t>
            </a:r>
          </a:p>
          <a:p>
            <a:pPr indent="-264795"/>
            <a:r>
              <a:rPr lang="en-US"/>
              <a:t>Plugin system for additional functionality</a:t>
            </a:r>
          </a:p>
          <a:p>
            <a:pPr indent="-264795"/>
            <a:r>
              <a:rPr lang="en-US"/>
              <a:t>Test snippets of code in </a:t>
            </a:r>
            <a:r>
              <a:rPr lang="en-US" err="1"/>
              <a:t>realtime</a:t>
            </a:r>
            <a:endParaRPr lang="en-US"/>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Features </a:t>
            </a:r>
          </a:p>
        </p:txBody>
      </p:sp>
      <p:pic>
        <p:nvPicPr>
          <p:cNvPr id="5" name="Picture 5" descr="Qr code&#10;&#10;Description automatically generated">
            <a:extLst>
              <a:ext uri="{FF2B5EF4-FFF2-40B4-BE49-F238E27FC236}">
                <a16:creationId xmlns:a16="http://schemas.microsoft.com/office/drawing/2014/main" id="{086AFE49-9856-F109-96EF-4CA3ABDC8CF2}"/>
              </a:ext>
            </a:extLst>
          </p:cNvPr>
          <p:cNvPicPr>
            <a:picLocks noChangeAspect="1"/>
          </p:cNvPicPr>
          <p:nvPr/>
        </p:nvPicPr>
        <p:blipFill>
          <a:blip r:embed="rId2"/>
          <a:stretch>
            <a:fillRect/>
          </a:stretch>
        </p:blipFill>
        <p:spPr>
          <a:xfrm>
            <a:off x="9219430" y="3581400"/>
            <a:ext cx="2743200" cy="2743200"/>
          </a:xfrm>
          <a:prstGeom prst="rect">
            <a:avLst/>
          </a:prstGeom>
        </p:spPr>
      </p:pic>
    </p:spTree>
    <p:extLst>
      <p:ext uri="{BB962C8B-B14F-4D97-AF65-F5344CB8AC3E}">
        <p14:creationId xmlns:p14="http://schemas.microsoft.com/office/powerpoint/2010/main" val="8388472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Debugger Commands </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1563834"/>
          </a:xfrm>
        </p:spPr>
        <p:txBody>
          <a:bodyPr/>
          <a:lstStyle/>
          <a:p>
            <a:pPr marL="182880" indent="0">
              <a:buNone/>
            </a:pPr>
            <a:r>
              <a:rPr lang="en-US"/>
              <a:t>The debugger comes with many commands that allow you to inspect the catalog, your code or reference items currently in scope. All commands are plugins that can process, modify or perform some action on the input and/or output of the debugger.</a:t>
            </a:r>
          </a:p>
          <a:p>
            <a:pPr indent="-264795"/>
            <a:endParaRPr lang="en-US"/>
          </a:p>
        </p:txBody>
      </p:sp>
      <p:pic>
        <p:nvPicPr>
          <p:cNvPr id="8" name="Picture 8" descr="Text&#10;&#10;Description automatically generated">
            <a:extLst>
              <a:ext uri="{FF2B5EF4-FFF2-40B4-BE49-F238E27FC236}">
                <a16:creationId xmlns:a16="http://schemas.microsoft.com/office/drawing/2014/main" id="{A9B3090E-280D-43EF-66A4-6AC6D05F9D60}"/>
              </a:ext>
            </a:extLst>
          </p:cNvPr>
          <p:cNvPicPr>
            <a:picLocks noChangeAspect="1"/>
          </p:cNvPicPr>
          <p:nvPr/>
        </p:nvPicPr>
        <p:blipFill>
          <a:blip r:embed="rId2"/>
          <a:stretch>
            <a:fillRect/>
          </a:stretch>
        </p:blipFill>
        <p:spPr>
          <a:xfrm>
            <a:off x="437188" y="3202108"/>
            <a:ext cx="6460835" cy="3263176"/>
          </a:xfrm>
          <a:prstGeom prst="rect">
            <a:avLst/>
          </a:prstGeom>
        </p:spPr>
      </p:pic>
      <p:pic>
        <p:nvPicPr>
          <p:cNvPr id="3" name="Picture 5" descr="Qr code&#10;&#10;Description automatically generated">
            <a:extLst>
              <a:ext uri="{FF2B5EF4-FFF2-40B4-BE49-F238E27FC236}">
                <a16:creationId xmlns:a16="http://schemas.microsoft.com/office/drawing/2014/main" id="{27A7EFA3-ABC6-0AC7-E20E-B51D9677D891}"/>
              </a:ext>
            </a:extLst>
          </p:cNvPr>
          <p:cNvPicPr>
            <a:picLocks noChangeAspect="1"/>
          </p:cNvPicPr>
          <p:nvPr/>
        </p:nvPicPr>
        <p:blipFill>
          <a:blip r:embed="rId3"/>
          <a:stretch>
            <a:fillRect/>
          </a:stretch>
        </p:blipFill>
        <p:spPr>
          <a:xfrm>
            <a:off x="9173248" y="3566006"/>
            <a:ext cx="2743200" cy="2743200"/>
          </a:xfrm>
          <a:prstGeom prst="rect">
            <a:avLst/>
          </a:prstGeom>
        </p:spPr>
      </p:pic>
    </p:spTree>
    <p:extLst>
      <p:ext uri="{BB962C8B-B14F-4D97-AF65-F5344CB8AC3E}">
        <p14:creationId xmlns:p14="http://schemas.microsoft.com/office/powerpoint/2010/main" val="347299959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Extensions </a:t>
            </a:r>
          </a:p>
        </p:txBody>
      </p:sp>
      <p:pic>
        <p:nvPicPr>
          <p:cNvPr id="7" name="Picture 7" descr="Graphical user interface, application&#10;&#10;Description automatically generated">
            <a:extLst>
              <a:ext uri="{FF2B5EF4-FFF2-40B4-BE49-F238E27FC236}">
                <a16:creationId xmlns:a16="http://schemas.microsoft.com/office/drawing/2014/main" id="{AEAB8B01-8FF5-DF60-66E3-2FFAF44CE93F}"/>
              </a:ext>
            </a:extLst>
          </p:cNvPr>
          <p:cNvPicPr>
            <a:picLocks noChangeAspect="1"/>
          </p:cNvPicPr>
          <p:nvPr/>
        </p:nvPicPr>
        <p:blipFill>
          <a:blip r:embed="rId2"/>
          <a:stretch>
            <a:fillRect/>
          </a:stretch>
        </p:blipFill>
        <p:spPr>
          <a:xfrm>
            <a:off x="468351" y="2041994"/>
            <a:ext cx="5754028" cy="3396617"/>
          </a:xfrm>
          <a:prstGeom prst="rect">
            <a:avLst/>
          </a:prstGeom>
        </p:spPr>
      </p:pic>
      <p:sp>
        <p:nvSpPr>
          <p:cNvPr id="8" name="TextBox 7">
            <a:extLst>
              <a:ext uri="{FF2B5EF4-FFF2-40B4-BE49-F238E27FC236}">
                <a16:creationId xmlns:a16="http://schemas.microsoft.com/office/drawing/2014/main" id="{4D7392B1-F162-0324-39E0-8468D1B00574}"/>
              </a:ext>
            </a:extLst>
          </p:cNvPr>
          <p:cNvSpPr txBox="1"/>
          <p:nvPr/>
        </p:nvSpPr>
        <p:spPr>
          <a:xfrm>
            <a:off x="375424" y="1323277"/>
            <a:ext cx="581907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ea typeface="+mn-lt"/>
                <a:cs typeface="+mn-lt"/>
                <a:hlinkClick r:id="rId3"/>
              </a:rPr>
              <a:t>Chrome</a:t>
            </a:r>
            <a:r>
              <a:rPr lang="en-US" sz="1600">
                <a:ea typeface="+mn-lt"/>
                <a:cs typeface="+mn-lt"/>
              </a:rPr>
              <a:t> </a:t>
            </a:r>
            <a:r>
              <a:rPr lang="en-US" sz="1600" err="1">
                <a:ea typeface="+mn-lt"/>
                <a:cs typeface="+mn-lt"/>
              </a:rPr>
              <a:t>ans</a:t>
            </a:r>
            <a:r>
              <a:rPr lang="en-US" sz="1600">
                <a:ea typeface="+mn-lt"/>
                <a:cs typeface="+mn-lt"/>
              </a:rPr>
              <a:t> </a:t>
            </a:r>
            <a:r>
              <a:rPr lang="en-US" sz="1600" b="1">
                <a:ea typeface="+mn-lt"/>
                <a:cs typeface="+mn-lt"/>
                <a:hlinkClick r:id="rId4"/>
              </a:rPr>
              <a:t>VSCode</a:t>
            </a:r>
            <a:r>
              <a:rPr lang="en-US" sz="1600">
                <a:ea typeface="+mn-lt"/>
                <a:cs typeface="+mn-lt"/>
              </a:rPr>
              <a:t> can help you stay productive and get more out of your browser and code editor.</a:t>
            </a:r>
            <a:endParaRPr lang="en-US" sz="1600"/>
          </a:p>
        </p:txBody>
      </p:sp>
      <p:sp>
        <p:nvSpPr>
          <p:cNvPr id="9" name="TextBox 8">
            <a:extLst>
              <a:ext uri="{FF2B5EF4-FFF2-40B4-BE49-F238E27FC236}">
                <a16:creationId xmlns:a16="http://schemas.microsoft.com/office/drawing/2014/main" id="{78AF787F-16FF-9C9E-9D47-1B57258BE00B}"/>
              </a:ext>
            </a:extLst>
          </p:cNvPr>
          <p:cNvSpPr txBox="1"/>
          <p:nvPr/>
        </p:nvSpPr>
        <p:spPr>
          <a:xfrm>
            <a:off x="375425" y="5532862"/>
            <a:ext cx="5819078"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mn-lt"/>
                <a:cs typeface="+mn-lt"/>
                <a:hlinkClick r:id="rId5"/>
              </a:rPr>
              <a:t>Puppet</a:t>
            </a:r>
            <a:r>
              <a:rPr lang="en-US" sz="1200">
                <a:ea typeface="+mn-lt"/>
                <a:cs typeface="+mn-lt"/>
              </a:rPr>
              <a:t> - Chrome apps for Puppet configuration management.</a:t>
            </a:r>
            <a:br>
              <a:rPr lang="en-US" sz="1200"/>
            </a:br>
            <a:r>
              <a:rPr lang="en-US" sz="1200">
                <a:ea typeface="+mn-lt"/>
                <a:cs typeface="+mn-lt"/>
              </a:rPr>
              <a:t>For </a:t>
            </a:r>
            <a:r>
              <a:rPr lang="en-US" sz="1200" err="1">
                <a:ea typeface="+mn-lt"/>
                <a:cs typeface="+mn-lt"/>
              </a:rPr>
              <a:t>futher</a:t>
            </a:r>
            <a:r>
              <a:rPr lang="en-US" sz="1200">
                <a:ea typeface="+mn-lt"/>
                <a:cs typeface="+mn-lt"/>
              </a:rPr>
              <a:t> info about Chrome Apps check  </a:t>
            </a:r>
            <a:r>
              <a:rPr lang="en-US" sz="1200">
                <a:ea typeface="+mn-lt"/>
                <a:cs typeface="+mn-lt"/>
                <a:hlinkClick r:id="rId6"/>
              </a:rPr>
              <a:t>Create and publish custom Chrome apps &amp; extensions</a:t>
            </a:r>
            <a:r>
              <a:rPr lang="en-US" sz="1200">
                <a:ea typeface="+mn-lt"/>
                <a:cs typeface="+mn-lt"/>
              </a:rPr>
              <a:t>.</a:t>
            </a:r>
            <a:br>
              <a:rPr lang="en-US" sz="1200">
                <a:ea typeface="+mn-lt"/>
                <a:cs typeface="+mn-lt"/>
              </a:rPr>
            </a:br>
            <a:br>
              <a:rPr lang="en-US" sz="1200">
                <a:ea typeface="+mn-lt"/>
                <a:cs typeface="+mn-lt"/>
              </a:rPr>
            </a:br>
            <a:r>
              <a:rPr lang="en-US" sz="1200" b="1">
                <a:ea typeface="+mn-lt"/>
                <a:cs typeface="+mn-lt"/>
                <a:hlinkClick r:id="rId7"/>
              </a:rPr>
              <a:t>puppet.puppet-vscode</a:t>
            </a:r>
            <a:r>
              <a:rPr lang="en-US" sz="1200">
                <a:ea typeface="+mn-lt"/>
                <a:cs typeface="+mn-lt"/>
              </a:rPr>
              <a:t> - Puppet Visual Studio Code Extension.</a:t>
            </a:r>
            <a:br>
              <a:rPr lang="en-US" sz="1200">
                <a:ea typeface="+mn-lt"/>
                <a:cs typeface="+mn-lt"/>
              </a:rPr>
            </a:br>
            <a:r>
              <a:rPr lang="en-US" sz="1200">
                <a:ea typeface="+mn-lt"/>
                <a:cs typeface="+mn-lt"/>
              </a:rPr>
              <a:t>For further extensions check </a:t>
            </a:r>
            <a:r>
              <a:rPr lang="en-US" sz="1200">
                <a:ea typeface="+mn-lt"/>
                <a:cs typeface="+mn-lt"/>
                <a:hlinkClick r:id="rId8"/>
              </a:rPr>
              <a:t>VSCode marketplace</a:t>
            </a:r>
            <a:r>
              <a:rPr lang="en-US" sz="1200">
                <a:ea typeface="+mn-lt"/>
                <a:cs typeface="+mn-lt"/>
              </a:rPr>
              <a:t>.</a:t>
            </a:r>
          </a:p>
        </p:txBody>
      </p:sp>
      <p:pic>
        <p:nvPicPr>
          <p:cNvPr id="3" name="Picture 4" descr="Qr code&#10;&#10;Description automatically generated">
            <a:extLst>
              <a:ext uri="{FF2B5EF4-FFF2-40B4-BE49-F238E27FC236}">
                <a16:creationId xmlns:a16="http://schemas.microsoft.com/office/drawing/2014/main" id="{60802D3F-7820-C0E0-25A7-0BED16552FC7}"/>
              </a:ext>
            </a:extLst>
          </p:cNvPr>
          <p:cNvPicPr>
            <a:picLocks noChangeAspect="1"/>
          </p:cNvPicPr>
          <p:nvPr/>
        </p:nvPicPr>
        <p:blipFill>
          <a:blip r:embed="rId9"/>
          <a:stretch>
            <a:fillRect/>
          </a:stretch>
        </p:blipFill>
        <p:spPr>
          <a:xfrm>
            <a:off x="9204036" y="3581400"/>
            <a:ext cx="2743200" cy="2743200"/>
          </a:xfrm>
          <a:prstGeom prst="rect">
            <a:avLst/>
          </a:prstGeom>
        </p:spPr>
      </p:pic>
    </p:spTree>
    <p:extLst>
      <p:ext uri="{BB962C8B-B14F-4D97-AF65-F5344CB8AC3E}">
        <p14:creationId xmlns:p14="http://schemas.microsoft.com/office/powerpoint/2010/main" val="14350206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a:xfrm>
            <a:off x="118325" y="3765407"/>
            <a:ext cx="6454690" cy="2649107"/>
          </a:xfrm>
        </p:spPr>
        <p:txBody>
          <a:bodyPr/>
          <a:lstStyle/>
          <a:p>
            <a:pPr indent="-264795">
              <a:buNone/>
            </a:pPr>
            <a:r>
              <a:rPr lang="en-US" sz="1400" dirty="0"/>
              <a:t>      1. </a:t>
            </a:r>
            <a:r>
              <a:rPr lang="en-US" sz="1400" dirty="0">
                <a:hlinkClick r:id="rId2"/>
              </a:rPr>
              <a:t>Puppet in Wikipedia</a:t>
            </a:r>
            <a:br>
              <a:rPr lang="en-US" sz="1400" dirty="0"/>
            </a:br>
            <a:r>
              <a:rPr lang="en-US" sz="1400" dirty="0"/>
              <a:t>2. </a:t>
            </a:r>
            <a:r>
              <a:rPr lang="en-US" sz="1400" dirty="0">
                <a:hlinkClick r:id="rId3"/>
              </a:rPr>
              <a:t>Docker Installation</a:t>
            </a:r>
            <a:br>
              <a:rPr lang="en-US" sz="1400" dirty="0"/>
            </a:br>
            <a:r>
              <a:rPr lang="en-US" sz="1400" dirty="0"/>
              <a:t>3. </a:t>
            </a:r>
            <a:r>
              <a:rPr lang="en-US" sz="1400" dirty="0">
                <a:hlinkClick r:id="rId4"/>
              </a:rPr>
              <a:t>Puppet Language Basics</a:t>
            </a:r>
            <a:br>
              <a:rPr lang="en-US" sz="1400" dirty="0"/>
            </a:br>
            <a:r>
              <a:rPr lang="en-US" sz="1400" dirty="0"/>
              <a:t>4. </a:t>
            </a:r>
            <a:r>
              <a:rPr lang="en-US" sz="1400" dirty="0">
                <a:hlinkClick r:id="rId5"/>
              </a:rPr>
              <a:t>Puppet Forge</a:t>
            </a:r>
            <a:br>
              <a:rPr lang="en-US" sz="1400" dirty="0"/>
            </a:br>
            <a:r>
              <a:rPr lang="en-US" sz="1400" dirty="0"/>
              <a:t>5.</a:t>
            </a:r>
            <a:r>
              <a:rPr lang="en-US" sz="1400" dirty="0">
                <a:hlinkClick r:id="rId6"/>
              </a:rPr>
              <a:t> </a:t>
            </a:r>
            <a:r>
              <a:rPr lang="en-US" sz="1400" dirty="0">
                <a:hlinkClick r:id="rId7"/>
              </a:rPr>
              <a:t>Puppet Debugger</a:t>
            </a:r>
            <a:br>
              <a:rPr lang="en-US" sz="1400" dirty="0"/>
            </a:br>
            <a:r>
              <a:rPr lang="en-US" sz="1400" dirty="0"/>
              <a:t>6. </a:t>
            </a:r>
            <a:r>
              <a:rPr lang="en-US" sz="1400" dirty="0">
                <a:hlinkClick r:id="rId8"/>
              </a:rPr>
              <a:t>Using the Puppet Debugger for Lightweight Exploration -Corey Osman</a:t>
            </a:r>
            <a:br>
              <a:rPr lang="en-US" sz="1400" dirty="0"/>
            </a:br>
            <a:r>
              <a:rPr lang="en-US" sz="1400" dirty="0"/>
              <a:t>7. </a:t>
            </a:r>
            <a:r>
              <a:rPr lang="en-US" sz="1400" dirty="0">
                <a:hlinkClick r:id="rId9"/>
              </a:rPr>
              <a:t>Puppet VS Code Tips and tricks</a:t>
            </a:r>
            <a:br>
              <a:rPr lang="en-US" sz="1400" dirty="0"/>
            </a:br>
            <a:r>
              <a:rPr lang="en-US" sz="1400" dirty="0"/>
              <a:t>8. </a:t>
            </a:r>
            <a:r>
              <a:rPr lang="en-US" sz="1400" dirty="0">
                <a:hlinkClick r:id="rId10"/>
              </a:rPr>
              <a:t>Puppet YouTube Channel</a:t>
            </a:r>
            <a:br>
              <a:rPr lang="en-US" sz="1400" dirty="0"/>
            </a:br>
            <a:r>
              <a:rPr lang="en-US" sz="1400" dirty="0"/>
              <a:t>9. </a:t>
            </a:r>
            <a:r>
              <a:rPr lang="en-US" sz="1400" dirty="0">
                <a:hlinkClick r:id="rId11"/>
              </a:rPr>
              <a:t>Puppet Cookbook</a:t>
            </a:r>
            <a:br>
              <a:rPr lang="en-US" sz="1400" dirty="0"/>
            </a:br>
            <a:r>
              <a:rPr lang="en-US" sz="1400" dirty="0"/>
              <a:t>0. </a:t>
            </a:r>
            <a:r>
              <a:rPr lang="en-US" sz="1400" dirty="0">
                <a:hlinkClick r:id="rId12"/>
              </a:rPr>
              <a:t>Awesome Puppet</a:t>
            </a:r>
            <a:endParaRPr lang="en-US" dirty="0"/>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References</a:t>
            </a:r>
            <a:endParaRPr lang="en-US"/>
          </a:p>
        </p:txBody>
      </p:sp>
      <p:pic>
        <p:nvPicPr>
          <p:cNvPr id="5" name="Picture 5" descr="Icon&#10;&#10;Description automatically generated">
            <a:extLst>
              <a:ext uri="{FF2B5EF4-FFF2-40B4-BE49-F238E27FC236}">
                <a16:creationId xmlns:a16="http://schemas.microsoft.com/office/drawing/2014/main" id="{E4F9AA8C-7A3A-2901-0647-0F639B48EDD0}"/>
              </a:ext>
            </a:extLst>
          </p:cNvPr>
          <p:cNvPicPr>
            <a:picLocks noChangeAspect="1"/>
          </p:cNvPicPr>
          <p:nvPr/>
        </p:nvPicPr>
        <p:blipFill>
          <a:blip r:embed="rId13"/>
          <a:stretch>
            <a:fillRect/>
          </a:stretch>
        </p:blipFill>
        <p:spPr>
          <a:xfrm>
            <a:off x="524670" y="1437844"/>
            <a:ext cx="2204225" cy="1993772"/>
          </a:xfrm>
          <a:prstGeom prst="rect">
            <a:avLst/>
          </a:prstGeom>
        </p:spPr>
      </p:pic>
    </p:spTree>
    <p:extLst>
      <p:ext uri="{BB962C8B-B14F-4D97-AF65-F5344CB8AC3E}">
        <p14:creationId xmlns:p14="http://schemas.microsoft.com/office/powerpoint/2010/main" val="1452264974"/>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7089B-02B1-B14D-BBDA-C2F6DB575916}"/>
              </a:ext>
            </a:extLst>
          </p:cNvPr>
          <p:cNvSpPr>
            <a:spLocks noGrp="1"/>
          </p:cNvSpPr>
          <p:nvPr>
            <p:ph type="title"/>
          </p:nvPr>
        </p:nvSpPr>
        <p:spPr/>
        <p:txBody>
          <a:bodyPr/>
          <a:lstStyle/>
          <a:p>
            <a:r>
              <a:rPr lang="en-US"/>
              <a:t>Accelerate with Confidence</a:t>
            </a:r>
          </a:p>
        </p:txBody>
      </p:sp>
      <p:sp>
        <p:nvSpPr>
          <p:cNvPr id="3" name="Subtitle 2">
            <a:extLst>
              <a:ext uri="{FF2B5EF4-FFF2-40B4-BE49-F238E27FC236}">
                <a16:creationId xmlns:a16="http://schemas.microsoft.com/office/drawing/2014/main" id="{75A9493A-7B0C-C546-9515-045C460E5E5B}"/>
              </a:ext>
            </a:extLst>
          </p:cNvPr>
          <p:cNvSpPr>
            <a:spLocks noGrp="1"/>
          </p:cNvSpPr>
          <p:nvPr>
            <p:ph type="subTitle" idx="1"/>
          </p:nvPr>
        </p:nvSpPr>
        <p:spPr/>
        <p:txBody>
          <a:bodyPr/>
          <a:lstStyle/>
          <a:p>
            <a:r>
              <a:rPr lang="en-US"/>
              <a:t>Experience with Hundreds of tools and Platforms</a:t>
            </a:r>
          </a:p>
        </p:txBody>
      </p:sp>
      <p:sp>
        <p:nvSpPr>
          <p:cNvPr id="4" name="Text Placeholder 3">
            <a:extLst>
              <a:ext uri="{FF2B5EF4-FFF2-40B4-BE49-F238E27FC236}">
                <a16:creationId xmlns:a16="http://schemas.microsoft.com/office/drawing/2014/main" id="{81BE59AC-BCFB-D247-ADB6-8DC926983D06}"/>
              </a:ext>
            </a:extLst>
          </p:cNvPr>
          <p:cNvSpPr>
            <a:spLocks noGrp="1"/>
          </p:cNvSpPr>
          <p:nvPr>
            <p:ph type="body" sz="quarter" idx="10"/>
          </p:nvPr>
        </p:nvSpPr>
        <p:spPr/>
        <p:txBody>
          <a:bodyPr/>
          <a:lstStyle/>
          <a:p>
            <a:r>
              <a:rPr lang="en-US" sz="2200"/>
              <a:t>Our experience with software development</a:t>
            </a:r>
            <a:br>
              <a:rPr lang="en-US" sz="2200"/>
            </a:br>
            <a:r>
              <a:rPr lang="en-US" sz="2200"/>
              <a:t>tools and technologies </a:t>
            </a:r>
            <a:r>
              <a:rPr lang="en-US" sz="2200">
                <a:solidFill>
                  <a:srgbClr val="FABD00"/>
                </a:solidFill>
              </a:rPr>
              <a:t>accelerates deliverables and remove risks </a:t>
            </a:r>
            <a:r>
              <a:rPr lang="en-US" sz="2200"/>
              <a:t>from schedules and budgets</a:t>
            </a:r>
          </a:p>
        </p:txBody>
      </p:sp>
    </p:spTree>
    <p:extLst>
      <p:ext uri="{BB962C8B-B14F-4D97-AF65-F5344CB8AC3E}">
        <p14:creationId xmlns:p14="http://schemas.microsoft.com/office/powerpoint/2010/main" val="470067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3BBBFC-4BEC-E14F-B631-281F22254AF3}"/>
              </a:ext>
            </a:extLst>
          </p:cNvPr>
          <p:cNvSpPr>
            <a:spLocks noGrp="1"/>
          </p:cNvSpPr>
          <p:nvPr>
            <p:ph type="body" sz="quarter" idx="10"/>
          </p:nvPr>
        </p:nvSpPr>
        <p:spPr/>
        <p:txBody>
          <a:bodyPr/>
          <a:lstStyle/>
          <a:p>
            <a:r>
              <a:rPr lang="en-US"/>
              <a:t>Thank you!</a:t>
            </a:r>
          </a:p>
        </p:txBody>
      </p:sp>
    </p:spTree>
    <p:extLst>
      <p:ext uri="{BB962C8B-B14F-4D97-AF65-F5344CB8AC3E}">
        <p14:creationId xmlns:p14="http://schemas.microsoft.com/office/powerpoint/2010/main" val="32912686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aitan is Now Enco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27</Slides>
  <Notes>0</Notes>
  <HiddenSlides>0</HiddenSlide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Daitan is Now Encora</vt:lpstr>
      <vt:lpstr>Puppet Debugger</vt:lpstr>
      <vt:lpstr>Puppet Debugger</vt:lpstr>
      <vt:lpstr>Puppet Debugger</vt:lpstr>
      <vt:lpstr>Puppet Debugger</vt:lpstr>
      <vt:lpstr>PowerPoint Presentation</vt:lpstr>
      <vt:lpstr>Puppet </vt:lpstr>
      <vt:lpstr>Puppet</vt:lpstr>
      <vt:lpstr>Puppet Debugger </vt:lpstr>
      <vt:lpstr>Puppet Language Basics </vt:lpstr>
      <vt:lpstr>Puppet Language Basics </vt:lpstr>
      <vt:lpstr>Puppet Language Basics</vt:lpstr>
      <vt:lpstr>Puppet Language Basics </vt:lpstr>
      <vt:lpstr>Puppet Language Basics </vt:lpstr>
      <vt:lpstr>Puppet Language Basics </vt:lpstr>
      <vt:lpstr>Puppet Language Basics </vt:lpstr>
      <vt:lpstr>Puppet Language Basics </vt:lpstr>
      <vt:lpstr>Puppet Language Basics</vt:lpstr>
      <vt:lpstr>Puppet Language Basics</vt:lpstr>
      <vt:lpstr>Puppet Language Basics</vt:lpstr>
      <vt:lpstr>Puppet Language Basics</vt:lpstr>
      <vt:lpstr>Puppet Language Basics</vt:lpstr>
      <vt:lpstr>Puppet Debugger</vt:lpstr>
      <vt:lpstr>Puppet Debugger </vt:lpstr>
      <vt:lpstr>Puppet Debugger </vt:lpstr>
      <vt:lpstr>Puppet Debugger</vt:lpstr>
      <vt:lpstr>Accelerate with Confidence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38</cp:revision>
  <dcterms:created xsi:type="dcterms:W3CDTF">2022-04-09T05:13:41Z</dcterms:created>
  <dcterms:modified xsi:type="dcterms:W3CDTF">2022-05-23T09:08:03Z</dcterms:modified>
</cp:coreProperties>
</file>