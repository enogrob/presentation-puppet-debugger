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8" r:id="rId3"/>
    <p:sldId id="271" r:id="rId4"/>
    <p:sldId id="280" r:id="rId5"/>
    <p:sldId id="263" r:id="rId6"/>
    <p:sldId id="282" r:id="rId7"/>
    <p:sldId id="292" r:id="rId8"/>
    <p:sldId id="281" r:id="rId9"/>
    <p:sldId id="283" r:id="rId10"/>
    <p:sldId id="284" r:id="rId11"/>
    <p:sldId id="289" r:id="rId12"/>
    <p:sldId id="285" r:id="rId13"/>
    <p:sldId id="291" r:id="rId14"/>
    <p:sldId id="290" r:id="rId15"/>
    <p:sldId id="286" r:id="rId16"/>
    <p:sldId id="293" r:id="rId17"/>
    <p:sldId id="294" r:id="rId18"/>
    <p:sldId id="295" r:id="rId19"/>
    <p:sldId id="287" r:id="rId20"/>
    <p:sldId id="296" r:id="rId21"/>
    <p:sldId id="288" r:id="rId22"/>
    <p:sldId id="264" r:id="rId23"/>
    <p:sldId id="275" r:id="rId24"/>
    <p:sldId id="298" r:id="rId25"/>
    <p:sldId id="303" r:id="rId26"/>
    <p:sldId id="304" r:id="rId27"/>
    <p:sldId id="305" r:id="rId28"/>
    <p:sldId id="306" r:id="rId29"/>
    <p:sldId id="301" r:id="rId30"/>
    <p:sldId id="307" r:id="rId31"/>
    <p:sldId id="308" r:id="rId32"/>
    <p:sldId id="297" r:id="rId33"/>
    <p:sldId id="302" r:id="rId34"/>
    <p:sldId id="299" r:id="rId35"/>
    <p:sldId id="300" r:id="rId36"/>
    <p:sldId id="279" r:id="rId37"/>
    <p:sldId id="274" r:id="rId38"/>
    <p:sldId id="269" r:id="rId39"/>
    <p:sldId id="27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7DFCC-C30B-0ED1-1EFC-7026701546DB}" v="546" dt="2022-05-25T03:14:43.391"/>
    <p1510:client id="{1FFE3B1A-B1FC-4F51-A658-37CA57EA7B56}" v="1495" dt="2022-05-21T00:25:43.963"/>
    <p1510:client id="{55C757C2-806E-593D-5C96-4B874A25BE8F}" v="837" dt="2022-04-09T06:36:34.914"/>
    <p1510:client id="{929F5F19-8F1C-943E-0222-6D3219759001}" v="4" dt="2022-05-23T08:38:14.443"/>
    <p1510:client id="{CB3B232D-834F-4050-B4AC-178F4ED5BFE4}" v="30" dt="2022-04-09T05:22:22.148"/>
    <p1510:client id="{D2FBED19-5DE7-82BE-1321-448B682F9065}" v="701" dt="2022-05-24T10:27:04.102"/>
    <p1510:client id="{DC5978DF-3958-7532-8038-F262DC8DB3D3}" v="2225" dt="2022-05-22T23:40:28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image" Target="../media/image42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9" Type="http://schemas.openxmlformats.org/officeDocument/2006/relationships/image" Target="../media/image32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jpe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20" Type="http://schemas.openxmlformats.org/officeDocument/2006/relationships/image" Target="../media/image23.png"/><Relationship Id="rId41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9" Type="http://schemas.openxmlformats.org/officeDocument/2006/relationships/image" Target="../media/image90.png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38" Type="http://schemas.openxmlformats.org/officeDocument/2006/relationships/image" Target="../media/image89.png"/><Relationship Id="rId2" Type="http://schemas.openxmlformats.org/officeDocument/2006/relationships/image" Target="../media/image5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37" Type="http://schemas.openxmlformats.org/officeDocument/2006/relationships/image" Target="../media/image88.png"/><Relationship Id="rId40" Type="http://schemas.openxmlformats.org/officeDocument/2006/relationships/image" Target="../media/image91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36" Type="http://schemas.openxmlformats.org/officeDocument/2006/relationships/image" Target="../media/image87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2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Relationship Id="rId8" Type="http://schemas.openxmlformats.org/officeDocument/2006/relationships/image" Target="../media/image59.png"/><Relationship Id="rId3" Type="http://schemas.openxmlformats.org/officeDocument/2006/relationships/image" Target="../media/image5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2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3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4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arge bridge over water&#10;&#10;Description automatically generated with low confidence">
            <a:extLst>
              <a:ext uri="{FF2B5EF4-FFF2-40B4-BE49-F238E27FC236}">
                <a16:creationId xmlns:a16="http://schemas.microsoft.com/office/drawing/2014/main" id="{9A528685-8C04-1145-9D0A-EF9DAAB159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oogle Shape;25;p28">
            <a:extLst>
              <a:ext uri="{FF2B5EF4-FFF2-40B4-BE49-F238E27FC236}">
                <a16:creationId xmlns:a16="http://schemas.microsoft.com/office/drawing/2014/main" id="{6ECFDF7F-FB87-7748-AC07-B6F3122D45BA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69DEB-6CAB-4E4B-8931-E4D5FE7C461F}"/>
              </a:ext>
            </a:extLst>
          </p:cNvPr>
          <p:cNvSpPr txBox="1"/>
          <p:nvPr userDrawn="1"/>
        </p:nvSpPr>
        <p:spPr>
          <a:xfrm>
            <a:off x="1238657" y="3247489"/>
            <a:ext cx="4711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chemeClr val="bg1"/>
                </a:solidFill>
                <a:latin typeface="Montserrat" pitchFamily="2" charset="77"/>
              </a:rPr>
              <a:t>The quality software development partner who </a:t>
            </a:r>
            <a:r>
              <a:rPr lang="en-US" sz="1800" b="1" i="0">
                <a:solidFill>
                  <a:schemeClr val="bg1"/>
                </a:solidFill>
                <a:latin typeface="Montserrat SemiBold" pitchFamily="2" charset="77"/>
              </a:rPr>
              <a:t>significantly accelerates </a:t>
            </a:r>
            <a:r>
              <a:rPr lang="en-US" sz="1800">
                <a:solidFill>
                  <a:schemeClr val="bg1"/>
                </a:solidFill>
                <a:latin typeface="Montserrat" pitchFamily="2" charset="77"/>
              </a:rPr>
              <a:t>your time-to-market.</a:t>
            </a: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9D067D6-3B47-D74F-8213-A28573DF95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39168" y="3217993"/>
            <a:ext cx="3695833" cy="108581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ADF78-F243-DA4E-9213-71DE7DB60F5E}"/>
              </a:ext>
            </a:extLst>
          </p:cNvPr>
          <p:cNvCxnSpPr/>
          <p:nvPr userDrawn="1"/>
        </p:nvCxnSpPr>
        <p:spPr>
          <a:xfrm>
            <a:off x="6145160" y="3028335"/>
            <a:ext cx="0" cy="127546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FCAD1462-0700-FE40-9673-54DA2A6CB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7978" y="1641733"/>
            <a:ext cx="5093821" cy="619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8812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Slide 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0E0EF25-1FAE-2441-BA70-4FA87DD174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F24FB99-86D3-4543-9E85-61DAA57CFB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793106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think-cell Slide" r:id="rId5" imgW="668" imgH="670" progId="TCLayout.ActiveDocument.1">
                  <p:embed/>
                </p:oleObj>
              </mc:Choice>
              <mc:Fallback>
                <p:oleObj name="think-cell Slide" r:id="rId5" imgW="668" imgH="67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F24FB99-86D3-4543-9E85-61DAA57CF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32;g8d09728e15_0_47">
            <a:extLst>
              <a:ext uri="{FF2B5EF4-FFF2-40B4-BE49-F238E27FC236}">
                <a16:creationId xmlns:a16="http://schemas.microsoft.com/office/drawing/2014/main" id="{B97C71B0-CE35-FB4E-AC38-1FB1DB0B26F3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" name="Google Shape;25;p28">
            <a:extLst>
              <a:ext uri="{FF2B5EF4-FFF2-40B4-BE49-F238E27FC236}">
                <a16:creationId xmlns:a16="http://schemas.microsoft.com/office/drawing/2014/main" id="{37F0122E-DEE2-2342-8D1E-6CBE9AB438CB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Google Shape;26;p28">
            <a:extLst>
              <a:ext uri="{FF2B5EF4-FFF2-40B4-BE49-F238E27FC236}">
                <a16:creationId xmlns:a16="http://schemas.microsoft.com/office/drawing/2014/main" id="{10F20CB1-3D5E-454C-A736-6E74AC29B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6" y="390399"/>
            <a:ext cx="6454776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29;p28">
            <a:extLst>
              <a:ext uri="{FF2B5EF4-FFF2-40B4-BE49-F238E27FC236}">
                <a16:creationId xmlns:a16="http://schemas.microsoft.com/office/drawing/2014/main" id="{D099787B-36EF-E14C-A29F-2E340B8A1624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349234" y="1434164"/>
            <a:ext cx="6454690" cy="46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US"/>
              <a:t>Level 1 bullet</a:t>
            </a:r>
          </a:p>
          <a:p>
            <a:pPr lvl="1"/>
            <a:r>
              <a:rPr lang="en-US"/>
              <a:t>Level 2 bullet</a:t>
            </a:r>
          </a:p>
          <a:p>
            <a:pPr lvl="2"/>
            <a:r>
              <a:rPr lang="en-US"/>
              <a:t>Level 3 bullet</a:t>
            </a:r>
          </a:p>
          <a:p>
            <a:pPr lvl="3"/>
            <a:r>
              <a:rPr lang="en-US"/>
              <a:t>Level 4 bullet</a:t>
            </a:r>
          </a:p>
          <a:p>
            <a:pPr lvl="4"/>
            <a:r>
              <a:rPr lang="en-US"/>
              <a:t>Level 5 bullet</a:t>
            </a:r>
          </a:p>
          <a:p>
            <a:pPr lvl="5"/>
            <a:r>
              <a:rPr lang="en-US"/>
              <a:t>Level 6 bullet</a:t>
            </a:r>
          </a:p>
          <a:p>
            <a:pPr lvl="6"/>
            <a:r>
              <a:rPr lang="en-US"/>
              <a:t>Level 7 bullet</a:t>
            </a:r>
          </a:p>
          <a:p>
            <a:pPr lvl="7"/>
            <a:r>
              <a:rPr lang="en-US"/>
              <a:t>Level 8 bullet</a:t>
            </a:r>
          </a:p>
          <a:p>
            <a:pPr lvl="8"/>
            <a:r>
              <a:rPr lang="en-US"/>
              <a:t>Level 9 bullet</a:t>
            </a:r>
          </a:p>
          <a:p>
            <a:pPr lvl="8"/>
            <a:endParaRPr lang="en-US"/>
          </a:p>
          <a:p>
            <a:pPr lvl="7"/>
            <a:endParaRPr lang="en-US"/>
          </a:p>
          <a:p>
            <a:pPr lvl="7"/>
            <a:endParaRPr lang="en-US"/>
          </a:p>
          <a:p>
            <a:pPr lvl="5"/>
            <a:endParaRPr lang="en-US"/>
          </a:p>
        </p:txBody>
      </p:sp>
      <p:sp>
        <p:nvSpPr>
          <p:cNvPr id="12" name="Google Shape;35;g8d09728e15_0_47">
            <a:extLst>
              <a:ext uri="{FF2B5EF4-FFF2-40B4-BE49-F238E27FC236}">
                <a16:creationId xmlns:a16="http://schemas.microsoft.com/office/drawing/2014/main" id="{6DD905F2-FA05-5143-9A54-877F446B7F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4" y="775065"/>
            <a:ext cx="6454776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C725192-8F54-1C48-8B37-FD394B1F2A4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4292" y="462255"/>
            <a:ext cx="2007969" cy="58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577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4;p28">
            <a:extLst>
              <a:ext uri="{FF2B5EF4-FFF2-40B4-BE49-F238E27FC236}">
                <a16:creationId xmlns:a16="http://schemas.microsoft.com/office/drawing/2014/main" id="{D41E7699-077A-FF4B-BAE1-A7031F878313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rgbClr val="44197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rgbClr val="44197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25;p28">
            <a:extLst>
              <a:ext uri="{FF2B5EF4-FFF2-40B4-BE49-F238E27FC236}">
                <a16:creationId xmlns:a16="http://schemas.microsoft.com/office/drawing/2014/main" id="{F54E1BBF-55C8-A247-A6B6-E6D6B9C3DC8C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" name="Google Shape;26;p28">
            <a:extLst>
              <a:ext uri="{FF2B5EF4-FFF2-40B4-BE49-F238E27FC236}">
                <a16:creationId xmlns:a16="http://schemas.microsoft.com/office/drawing/2014/main" id="{6FDB34F8-F6FA-0648-8126-A27A33129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5" y="390399"/>
            <a:ext cx="9444089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35;g8d09728e15_0_47">
            <a:extLst>
              <a:ext uri="{FF2B5EF4-FFF2-40B4-BE49-F238E27FC236}">
                <a16:creationId xmlns:a16="http://schemas.microsoft.com/office/drawing/2014/main" id="{A778E17A-A6A4-BD43-B49F-E4B05AC2B5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3" y="775065"/>
            <a:ext cx="9444089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20931E2B-F3C8-DD4C-9AA1-23119FBE1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7920" y="500574"/>
            <a:ext cx="1929313" cy="5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4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4;p28">
            <a:extLst>
              <a:ext uri="{FF2B5EF4-FFF2-40B4-BE49-F238E27FC236}">
                <a16:creationId xmlns:a16="http://schemas.microsoft.com/office/drawing/2014/main" id="{E3F9EE80-CE5A-734D-8A2C-7ACBA4970C9A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rgbClr val="44197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rgbClr val="44197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25;p28">
            <a:extLst>
              <a:ext uri="{FF2B5EF4-FFF2-40B4-BE49-F238E27FC236}">
                <a16:creationId xmlns:a16="http://schemas.microsoft.com/office/drawing/2014/main" id="{B859B730-C2F3-424B-9097-3BCB6184BA8D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" name="Google Shape;26;p28">
            <a:extLst>
              <a:ext uri="{FF2B5EF4-FFF2-40B4-BE49-F238E27FC236}">
                <a16:creationId xmlns:a16="http://schemas.microsoft.com/office/drawing/2014/main" id="{15FA3057-1516-C548-9EDC-38128DDD4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5" y="390399"/>
            <a:ext cx="9444089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35;g8d09728e15_0_47">
            <a:extLst>
              <a:ext uri="{FF2B5EF4-FFF2-40B4-BE49-F238E27FC236}">
                <a16:creationId xmlns:a16="http://schemas.microsoft.com/office/drawing/2014/main" id="{1DCA3210-0299-1E41-814C-C322D66A2C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3" y="775065"/>
            <a:ext cx="9444089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E0643C79-E14F-7949-8A78-4C3D61E6D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7920" y="500574"/>
            <a:ext cx="1929313" cy="525202"/>
          </a:xfrm>
          <a:prstGeom prst="rect">
            <a:avLst/>
          </a:prstGeom>
        </p:spPr>
      </p:pic>
      <p:sp>
        <p:nvSpPr>
          <p:cNvPr id="8" name="Redondear rectángulo de esquina diagonal 3">
            <a:extLst>
              <a:ext uri="{FF2B5EF4-FFF2-40B4-BE49-F238E27FC236}">
                <a16:creationId xmlns:a16="http://schemas.microsoft.com/office/drawing/2014/main" id="{90097881-447F-E44F-8058-7045ECDF1A9F}"/>
              </a:ext>
            </a:extLst>
          </p:cNvPr>
          <p:cNvSpPr/>
          <p:nvPr userDrawn="1"/>
        </p:nvSpPr>
        <p:spPr>
          <a:xfrm>
            <a:off x="7325833" y="1467293"/>
            <a:ext cx="4199860" cy="4657060"/>
          </a:xfrm>
          <a:prstGeom prst="round2DiagRect">
            <a:avLst/>
          </a:prstGeom>
          <a:solidFill>
            <a:srgbClr val="4A1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2400" noProof="0">
              <a:latin typeface="Montserrat" pitchFamily="2" charset="77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27735F6-2AF3-E040-B15E-91E2A4DD2F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45400" y="1789471"/>
            <a:ext cx="3701026" cy="387821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1">
                <a:solidFill>
                  <a:schemeClr val="bg1"/>
                </a:solidFill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Click to edit text.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B14091C-884B-E540-BCDE-094593186671}"/>
              </a:ext>
            </a:extLst>
          </p:cNvPr>
          <p:cNvGrpSpPr/>
          <p:nvPr userDrawn="1"/>
        </p:nvGrpSpPr>
        <p:grpSpPr>
          <a:xfrm>
            <a:off x="417927" y="1593903"/>
            <a:ext cx="6574659" cy="4489032"/>
            <a:chOff x="417928" y="1593903"/>
            <a:chExt cx="5543586" cy="3785038"/>
          </a:xfrm>
        </p:grpSpPr>
        <p:pic>
          <p:nvPicPr>
            <p:cNvPr id="50" name="Picture 3">
              <a:extLst>
                <a:ext uri="{FF2B5EF4-FFF2-40B4-BE49-F238E27FC236}">
                  <a16:creationId xmlns:a16="http://schemas.microsoft.com/office/drawing/2014/main" id="{D49A4368-89B5-3B4B-B30E-D80FC579EC5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13" y="1593903"/>
              <a:ext cx="569810" cy="296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5">
              <a:extLst>
                <a:ext uri="{FF2B5EF4-FFF2-40B4-BE49-F238E27FC236}">
                  <a16:creationId xmlns:a16="http://schemas.microsoft.com/office/drawing/2014/main" id="{43F6E698-65BE-834A-A633-A76D4AE2F4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9832" y="1630942"/>
              <a:ext cx="616262" cy="308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7">
              <a:extLst>
                <a:ext uri="{FF2B5EF4-FFF2-40B4-BE49-F238E27FC236}">
                  <a16:creationId xmlns:a16="http://schemas.microsoft.com/office/drawing/2014/main" id="{F89B23E8-4A8D-1940-9811-BF474D813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5882" y="1702979"/>
              <a:ext cx="1195306" cy="187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9" descr="Production-Grade Container Orchestration - Kubernetes">
              <a:extLst>
                <a:ext uri="{FF2B5EF4-FFF2-40B4-BE49-F238E27FC236}">
                  <a16:creationId xmlns:a16="http://schemas.microsoft.com/office/drawing/2014/main" id="{DE670EB5-DEDC-8C40-94A6-1D2F374FF82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7377" y="1654583"/>
              <a:ext cx="1315409" cy="2844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11" descr="A gentle introduction to Apache Druid in Google Cloud Platform">
              <a:extLst>
                <a:ext uri="{FF2B5EF4-FFF2-40B4-BE49-F238E27FC236}">
                  <a16:creationId xmlns:a16="http://schemas.microsoft.com/office/drawing/2014/main" id="{7A54A53E-2031-A141-BE51-44DADA5EC2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477" y="1714464"/>
              <a:ext cx="762000" cy="20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3" descr="The Python Logo | Python Software Foundation">
              <a:extLst>
                <a:ext uri="{FF2B5EF4-FFF2-40B4-BE49-F238E27FC236}">
                  <a16:creationId xmlns:a16="http://schemas.microsoft.com/office/drawing/2014/main" id="{F124501E-AD37-6440-8306-46645B27BE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13" y="1954881"/>
              <a:ext cx="1162926" cy="392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15" descr="Thousands of MongoDB databases compromised and held to ransom ...">
              <a:extLst>
                <a:ext uri="{FF2B5EF4-FFF2-40B4-BE49-F238E27FC236}">
                  <a16:creationId xmlns:a16="http://schemas.microsoft.com/office/drawing/2014/main" id="{CA3C6776-2610-1844-A3C0-9F8F711D22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8620" y="1733929"/>
              <a:ext cx="1595761" cy="83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7" descr="Resultado de imagem para react JS logo png">
              <a:extLst>
                <a:ext uri="{FF2B5EF4-FFF2-40B4-BE49-F238E27FC236}">
                  <a16:creationId xmlns:a16="http://schemas.microsoft.com/office/drawing/2014/main" id="{90D22EF9-126B-E149-B0BA-9C4E46BCEB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5216" y="2017878"/>
              <a:ext cx="1007278" cy="2835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21" descr="Chef Infra | Chef">
              <a:extLst>
                <a:ext uri="{FF2B5EF4-FFF2-40B4-BE49-F238E27FC236}">
                  <a16:creationId xmlns:a16="http://schemas.microsoft.com/office/drawing/2014/main" id="{0F2E467D-9E20-2046-A9ED-0B6BFC6E18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5582" y="1919603"/>
              <a:ext cx="914440" cy="48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3" descr="Node Js Logo Nodejs - Free vector graphic on Pixabay">
              <a:extLst>
                <a:ext uri="{FF2B5EF4-FFF2-40B4-BE49-F238E27FC236}">
                  <a16:creationId xmlns:a16="http://schemas.microsoft.com/office/drawing/2014/main" id="{070871B2-69A9-494F-A11F-75085939F6E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033" y="1876437"/>
              <a:ext cx="1067204" cy="533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5" descr="Apache HBase – Apache HBase™ Home">
              <a:extLst>
                <a:ext uri="{FF2B5EF4-FFF2-40B4-BE49-F238E27FC236}">
                  <a16:creationId xmlns:a16="http://schemas.microsoft.com/office/drawing/2014/main" id="{A57BBD26-527C-A040-878A-A5F8EE4333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13" y="2347683"/>
              <a:ext cx="1162926" cy="296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7" descr="C++ - Wikipedia">
              <a:extLst>
                <a:ext uri="{FF2B5EF4-FFF2-40B4-BE49-F238E27FC236}">
                  <a16:creationId xmlns:a16="http://schemas.microsoft.com/office/drawing/2014/main" id="{18010AE1-DA1C-504B-84D9-ABE683E35D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1378" y="2347683"/>
              <a:ext cx="349431" cy="392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9" descr="Terraform Logos - Terraform by HashiCorp">
              <a:extLst>
                <a:ext uri="{FF2B5EF4-FFF2-40B4-BE49-F238E27FC236}">
                  <a16:creationId xmlns:a16="http://schemas.microsoft.com/office/drawing/2014/main" id="{A7E8293B-A1D9-684A-83BD-A4165EB4CE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9043" y="2406199"/>
              <a:ext cx="1169596" cy="285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31" descr="Jenkins Artwork">
              <a:extLst>
                <a:ext uri="{FF2B5EF4-FFF2-40B4-BE49-F238E27FC236}">
                  <a16:creationId xmlns:a16="http://schemas.microsoft.com/office/drawing/2014/main" id="{D3386D90-0580-DF45-BF43-1E22355AE6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7137" y="2330096"/>
              <a:ext cx="954156" cy="47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33" descr="Resultado de imagem para Javascript logo png">
              <a:extLst>
                <a:ext uri="{FF2B5EF4-FFF2-40B4-BE49-F238E27FC236}">
                  <a16:creationId xmlns:a16="http://schemas.microsoft.com/office/drawing/2014/main" id="{6F9DBB36-8FAD-AD42-BA5A-4A456E6CED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6826" y="2428595"/>
              <a:ext cx="246464" cy="246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35" descr="Apache Hadoop – What It Is, What It Does, and Why It Matters? | MapR">
              <a:extLst>
                <a:ext uri="{FF2B5EF4-FFF2-40B4-BE49-F238E27FC236}">
                  <a16:creationId xmlns:a16="http://schemas.microsoft.com/office/drawing/2014/main" id="{37E311B3-7175-424E-8665-A2232A66907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5125" y="2142058"/>
              <a:ext cx="1086389" cy="790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37" descr="Cassandra Logo Horizontal | Tech logos, Logos, Cassandra">
              <a:extLst>
                <a:ext uri="{FF2B5EF4-FFF2-40B4-BE49-F238E27FC236}">
                  <a16:creationId xmlns:a16="http://schemas.microsoft.com/office/drawing/2014/main" id="{C6EAC24F-C0B9-DD4A-9755-A23C4AA0DBC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500" y="2777440"/>
              <a:ext cx="1162926" cy="348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39" descr="Elastic Branding | Elastic">
              <a:extLst>
                <a:ext uri="{FF2B5EF4-FFF2-40B4-BE49-F238E27FC236}">
                  <a16:creationId xmlns:a16="http://schemas.microsoft.com/office/drawing/2014/main" id="{19123DB9-5D0B-6E40-AD8F-2620D6533C9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7465" y="2791064"/>
              <a:ext cx="831117" cy="283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41" descr="Angular Logo PNG Transparent &amp; SVG Vector - Freebie Supply">
              <a:extLst>
                <a:ext uri="{FF2B5EF4-FFF2-40B4-BE49-F238E27FC236}">
                  <a16:creationId xmlns:a16="http://schemas.microsoft.com/office/drawing/2014/main" id="{6851CE6B-290C-414B-B1C5-32B4458E3C7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677" y="2539007"/>
              <a:ext cx="1073048" cy="804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43">
              <a:extLst>
                <a:ext uri="{FF2B5EF4-FFF2-40B4-BE49-F238E27FC236}">
                  <a16:creationId xmlns:a16="http://schemas.microsoft.com/office/drawing/2014/main" id="{84253A75-E3A3-D549-8655-2BB5C1EFEE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8381" y="2276284"/>
              <a:ext cx="1970856" cy="1313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5">
              <a:extLst>
                <a:ext uri="{FF2B5EF4-FFF2-40B4-BE49-F238E27FC236}">
                  <a16:creationId xmlns:a16="http://schemas.microsoft.com/office/drawing/2014/main" id="{B4A06958-C340-5340-BB67-31C67F1474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876" y="3125872"/>
              <a:ext cx="299950" cy="274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47" descr="Redis - Wikipedia">
              <a:extLst>
                <a:ext uri="{FF2B5EF4-FFF2-40B4-BE49-F238E27FC236}">
                  <a16:creationId xmlns:a16="http://schemas.microsoft.com/office/drawing/2014/main" id="{01C82DA1-7FB0-1D45-98BA-6E24E85300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963" y="3149096"/>
              <a:ext cx="956908" cy="319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49" descr="Erlang-logo - Software Engineering Daily">
              <a:extLst>
                <a:ext uri="{FF2B5EF4-FFF2-40B4-BE49-F238E27FC236}">
                  <a16:creationId xmlns:a16="http://schemas.microsoft.com/office/drawing/2014/main" id="{5065FAB2-DCC0-BA4E-8821-0A79FA37BCD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1221" y="3122716"/>
              <a:ext cx="959151" cy="319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51">
              <a:extLst>
                <a:ext uri="{FF2B5EF4-FFF2-40B4-BE49-F238E27FC236}">
                  <a16:creationId xmlns:a16="http://schemas.microsoft.com/office/drawing/2014/main" id="{425A7F74-13D2-594C-878C-C92B710FAE2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0470" y="3138930"/>
              <a:ext cx="429360" cy="429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53">
              <a:extLst>
                <a:ext uri="{FF2B5EF4-FFF2-40B4-BE49-F238E27FC236}">
                  <a16:creationId xmlns:a16="http://schemas.microsoft.com/office/drawing/2014/main" id="{BADA558B-A084-094E-ADC1-03677CA5B2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7171" y="3207845"/>
              <a:ext cx="987108" cy="294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55" descr="Ansible - Full Stack Python">
              <a:extLst>
                <a:ext uri="{FF2B5EF4-FFF2-40B4-BE49-F238E27FC236}">
                  <a16:creationId xmlns:a16="http://schemas.microsoft.com/office/drawing/2014/main" id="{A51CCA56-DEBA-6C4E-AF3B-CAD35710A0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1246" y="3189669"/>
              <a:ext cx="1057992" cy="3082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57" descr="NGINX | High Performance Load Balancer, Web Server, &amp; Reverse Proxy">
              <a:extLst>
                <a:ext uri="{FF2B5EF4-FFF2-40B4-BE49-F238E27FC236}">
                  <a16:creationId xmlns:a16="http://schemas.microsoft.com/office/drawing/2014/main" id="{206F3D37-364F-A64A-AC00-9DEC9B2A6F0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928" y="3532804"/>
              <a:ext cx="812838" cy="272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59" descr="Apache Airflow">
              <a:extLst>
                <a:ext uri="{FF2B5EF4-FFF2-40B4-BE49-F238E27FC236}">
                  <a16:creationId xmlns:a16="http://schemas.microsoft.com/office/drawing/2014/main" id="{1E89F902-5D85-A04A-B714-5249CB8949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6034" y="3497916"/>
              <a:ext cx="980618" cy="414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61" descr="Apache Solr vs. Elasticsearch - Shrey Narayan - Medium">
              <a:extLst>
                <a:ext uri="{FF2B5EF4-FFF2-40B4-BE49-F238E27FC236}">
                  <a16:creationId xmlns:a16="http://schemas.microsoft.com/office/drawing/2014/main" id="{5CAFEC9E-FE97-ED4F-88B7-D3787E640C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5335" y="3520519"/>
              <a:ext cx="517413" cy="388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63" descr="Aline Deschamps on Twitter: &quot;Does someone know a package for ...">
              <a:extLst>
                <a:ext uri="{FF2B5EF4-FFF2-40B4-BE49-F238E27FC236}">
                  <a16:creationId xmlns:a16="http://schemas.microsoft.com/office/drawing/2014/main" id="{4B4C4CCA-9419-D140-BB88-B963F25401D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4584" y="3661008"/>
              <a:ext cx="1135880" cy="282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65" descr="WebRTC">
              <a:extLst>
                <a:ext uri="{FF2B5EF4-FFF2-40B4-BE49-F238E27FC236}">
                  <a16:creationId xmlns:a16="http://schemas.microsoft.com/office/drawing/2014/main" id="{25FF2838-BEEE-8644-936A-F0627BB981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427" y="3607933"/>
              <a:ext cx="1002544" cy="282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67">
              <a:extLst>
                <a:ext uri="{FF2B5EF4-FFF2-40B4-BE49-F238E27FC236}">
                  <a16:creationId xmlns:a16="http://schemas.microsoft.com/office/drawing/2014/main" id="{03FED0AD-134F-6F4B-81F7-B39E861081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616" y="3907101"/>
              <a:ext cx="608864" cy="290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69">
              <a:extLst>
                <a:ext uri="{FF2B5EF4-FFF2-40B4-BE49-F238E27FC236}">
                  <a16:creationId xmlns:a16="http://schemas.microsoft.com/office/drawing/2014/main" id="{D7C44E9F-A7C2-3A47-88C0-CE69797E43E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2573" y="4013079"/>
              <a:ext cx="843745" cy="243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71" descr="Diagnosing Go software failures just got easier">
              <a:extLst>
                <a:ext uri="{FF2B5EF4-FFF2-40B4-BE49-F238E27FC236}">
                  <a16:creationId xmlns:a16="http://schemas.microsoft.com/office/drawing/2014/main" id="{E6A3D220-33FB-E141-91DB-459F83BC8F7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9406" y="3968246"/>
              <a:ext cx="683342" cy="38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73" descr="amazon aws logo - Ventureforth, Inc.">
              <a:extLst>
                <a:ext uri="{FF2B5EF4-FFF2-40B4-BE49-F238E27FC236}">
                  <a16:creationId xmlns:a16="http://schemas.microsoft.com/office/drawing/2014/main" id="{4288D5B7-E9AE-AD42-AA02-2422A877BC4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3877" y="4043695"/>
              <a:ext cx="825639" cy="310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75" descr="Java – Logos Download">
              <a:extLst>
                <a:ext uri="{FF2B5EF4-FFF2-40B4-BE49-F238E27FC236}">
                  <a16:creationId xmlns:a16="http://schemas.microsoft.com/office/drawing/2014/main" id="{165C71B9-C108-6A41-B4FD-90E85B50712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480" y="3968246"/>
              <a:ext cx="688540" cy="38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77" descr="Powerful infrastructure automation and delivery | Puppet | Puppet.com">
              <a:extLst>
                <a:ext uri="{FF2B5EF4-FFF2-40B4-BE49-F238E27FC236}">
                  <a16:creationId xmlns:a16="http://schemas.microsoft.com/office/drawing/2014/main" id="{D8ACAEDA-EAC5-0940-8FD8-BFA2A133DE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3163" y="3988289"/>
              <a:ext cx="811647" cy="289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79" descr="Download The OpenStack Logo - OpenStack is open source software ...">
              <a:extLst>
                <a:ext uri="{FF2B5EF4-FFF2-40B4-BE49-F238E27FC236}">
                  <a16:creationId xmlns:a16="http://schemas.microsoft.com/office/drawing/2014/main" id="{B67AD288-2675-3240-ADFB-8E28934AFA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89" y="4457029"/>
              <a:ext cx="1369235" cy="243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81" descr="Katalon | File Upload | Using Robot Framework - Priyank Shah - Medium">
              <a:extLst>
                <a:ext uri="{FF2B5EF4-FFF2-40B4-BE49-F238E27FC236}">
                  <a16:creationId xmlns:a16="http://schemas.microsoft.com/office/drawing/2014/main" id="{793F8EFB-29A2-EB41-A9DE-D9DC8C1A849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64" r="27794"/>
            <a:stretch/>
          </p:blipFill>
          <p:spPr bwMode="auto">
            <a:xfrm>
              <a:off x="1880809" y="4383820"/>
              <a:ext cx="703974" cy="414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83">
              <a:extLst>
                <a:ext uri="{FF2B5EF4-FFF2-40B4-BE49-F238E27FC236}">
                  <a16:creationId xmlns:a16="http://schemas.microsoft.com/office/drawing/2014/main" id="{6EC9CF66-0514-6F4D-8893-125873F98B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2259" y="4541754"/>
              <a:ext cx="1210576" cy="231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85" descr="GitHub - dwyl/learn-circleci: A quick intro to Circle CI ...">
              <a:extLst>
                <a:ext uri="{FF2B5EF4-FFF2-40B4-BE49-F238E27FC236}">
                  <a16:creationId xmlns:a16="http://schemas.microsoft.com/office/drawing/2014/main" id="{D4F741B9-871F-3141-9507-8C9A3CBE96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9571" y="4458509"/>
              <a:ext cx="967787" cy="274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87">
              <a:extLst>
                <a:ext uri="{FF2B5EF4-FFF2-40B4-BE49-F238E27FC236}">
                  <a16:creationId xmlns:a16="http://schemas.microsoft.com/office/drawing/2014/main" id="{D4B06870-ADD3-8B47-B2E3-F4759CF3AF6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89" y="4900979"/>
              <a:ext cx="995726" cy="265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89">
              <a:extLst>
                <a:ext uri="{FF2B5EF4-FFF2-40B4-BE49-F238E27FC236}">
                  <a16:creationId xmlns:a16="http://schemas.microsoft.com/office/drawing/2014/main" id="{1E1DAA1C-D78A-2E44-9F74-131869F0B46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861" y="4918825"/>
              <a:ext cx="728019" cy="391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91">
              <a:extLst>
                <a:ext uri="{FF2B5EF4-FFF2-40B4-BE49-F238E27FC236}">
                  <a16:creationId xmlns:a16="http://schemas.microsoft.com/office/drawing/2014/main" id="{21C89EAF-484E-4447-84D7-7F40E9BA36F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554" y="4999714"/>
              <a:ext cx="959152" cy="191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93" descr="Spring Boot">
              <a:extLst>
                <a:ext uri="{FF2B5EF4-FFF2-40B4-BE49-F238E27FC236}">
                  <a16:creationId xmlns:a16="http://schemas.microsoft.com/office/drawing/2014/main" id="{840F3CCE-5C3C-4C46-AEFB-9D73AACC3AF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38" t="25554" r="14279" b="26403"/>
            <a:stretch/>
          </p:blipFill>
          <p:spPr bwMode="auto">
            <a:xfrm>
              <a:off x="3355331" y="4810436"/>
              <a:ext cx="1129803" cy="38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95">
              <a:extLst>
                <a:ext uri="{FF2B5EF4-FFF2-40B4-BE49-F238E27FC236}">
                  <a16:creationId xmlns:a16="http://schemas.microsoft.com/office/drawing/2014/main" id="{228B351A-5595-1649-92E6-028D38AAE4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4229" y="4837378"/>
              <a:ext cx="1321871" cy="210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Picture 97" descr="TypeScript / official or unofficial logo · Issue #78 · exercism ...">
              <a:extLst>
                <a:ext uri="{FF2B5EF4-FFF2-40B4-BE49-F238E27FC236}">
                  <a16:creationId xmlns:a16="http://schemas.microsoft.com/office/drawing/2014/main" id="{BA064970-C1F0-9B44-B18C-776BDADC3B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0543" y="5168572"/>
              <a:ext cx="860428" cy="210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4929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Slide 1" preserve="1" userDrawn="1">
  <p:cSld name="Half Slid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5;p28">
            <a:extLst>
              <a:ext uri="{FF2B5EF4-FFF2-40B4-BE49-F238E27FC236}">
                <a16:creationId xmlns:a16="http://schemas.microsoft.com/office/drawing/2014/main" id="{4AE5CAB4-70C9-2842-A8EB-64F1C95B8509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2218A16-CD58-0649-B636-95BB17BAA6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4292" y="462255"/>
            <a:ext cx="2007969" cy="589927"/>
          </a:xfrm>
          <a:prstGeom prst="rect">
            <a:avLst/>
          </a:prstGeom>
        </p:spPr>
      </p:pic>
      <p:sp>
        <p:nvSpPr>
          <p:cNvPr id="8" name="Google Shape;32;g8d09728e15_0_47">
            <a:extLst>
              <a:ext uri="{FF2B5EF4-FFF2-40B4-BE49-F238E27FC236}">
                <a16:creationId xmlns:a16="http://schemas.microsoft.com/office/drawing/2014/main" id="{87691CAC-1685-B24C-B8D8-376EC996A84A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" name="Google Shape;26;p28">
            <a:extLst>
              <a:ext uri="{FF2B5EF4-FFF2-40B4-BE49-F238E27FC236}">
                <a16:creationId xmlns:a16="http://schemas.microsoft.com/office/drawing/2014/main" id="{5786CB3B-D3F3-1443-A7FD-6A421530B0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6" y="390399"/>
            <a:ext cx="5500338" cy="3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35;g8d09728e15_0_47">
            <a:extLst>
              <a:ext uri="{FF2B5EF4-FFF2-40B4-BE49-F238E27FC236}">
                <a16:creationId xmlns:a16="http://schemas.microsoft.com/office/drawing/2014/main" id="{757F0FB1-06C2-F54F-B04F-6F5CE36369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4" y="775065"/>
            <a:ext cx="5500338" cy="27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29;p28">
            <a:extLst>
              <a:ext uri="{FF2B5EF4-FFF2-40B4-BE49-F238E27FC236}">
                <a16:creationId xmlns:a16="http://schemas.microsoft.com/office/drawing/2014/main" id="{45AB28B4-C309-F249-AF5F-915CF04EC382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349233" y="1434164"/>
            <a:ext cx="5500239" cy="46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US"/>
              <a:t>Level 1 bullet</a:t>
            </a:r>
          </a:p>
          <a:p>
            <a:pPr lvl="1"/>
            <a:r>
              <a:rPr lang="en-US"/>
              <a:t>Level 2 bullet</a:t>
            </a:r>
          </a:p>
          <a:p>
            <a:pPr lvl="2"/>
            <a:r>
              <a:rPr lang="en-US"/>
              <a:t>Level 3 bullet</a:t>
            </a:r>
          </a:p>
          <a:p>
            <a:pPr lvl="3"/>
            <a:r>
              <a:rPr lang="en-US"/>
              <a:t>Level 4 bullet</a:t>
            </a:r>
          </a:p>
          <a:p>
            <a:pPr lvl="4"/>
            <a:r>
              <a:rPr lang="en-US"/>
              <a:t>Level 5 bullet</a:t>
            </a:r>
          </a:p>
          <a:p>
            <a:pPr lvl="5"/>
            <a:r>
              <a:rPr lang="en-US"/>
              <a:t>Level 6 bullet</a:t>
            </a:r>
          </a:p>
          <a:p>
            <a:pPr lvl="6"/>
            <a:r>
              <a:rPr lang="en-US"/>
              <a:t>Level 7 bullet</a:t>
            </a:r>
          </a:p>
          <a:p>
            <a:pPr lvl="7"/>
            <a:r>
              <a:rPr lang="en-US"/>
              <a:t>Level 8 bullet</a:t>
            </a:r>
          </a:p>
          <a:p>
            <a:pPr lvl="8"/>
            <a:r>
              <a:rPr lang="en-US"/>
              <a:t>Level 9 bullet</a:t>
            </a:r>
          </a:p>
          <a:p>
            <a:pPr lvl="8"/>
            <a:endParaRPr lang="en-US"/>
          </a:p>
          <a:p>
            <a:pPr lvl="7"/>
            <a:endParaRPr lang="en-US"/>
          </a:p>
          <a:p>
            <a:pPr lvl="7"/>
            <a:endParaRPr lang="en-US"/>
          </a:p>
          <a:p>
            <a:pPr lvl="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-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4;p28">
            <a:extLst>
              <a:ext uri="{FF2B5EF4-FFF2-40B4-BE49-F238E27FC236}">
                <a16:creationId xmlns:a16="http://schemas.microsoft.com/office/drawing/2014/main" id="{E3F9EE80-CE5A-734D-8A2C-7ACBA4970C9A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rgbClr val="44197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rgbClr val="44197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25;p28">
            <a:extLst>
              <a:ext uri="{FF2B5EF4-FFF2-40B4-BE49-F238E27FC236}">
                <a16:creationId xmlns:a16="http://schemas.microsoft.com/office/drawing/2014/main" id="{B859B730-C2F3-424B-9097-3BCB6184BA8D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" name="Google Shape;26;p28">
            <a:extLst>
              <a:ext uri="{FF2B5EF4-FFF2-40B4-BE49-F238E27FC236}">
                <a16:creationId xmlns:a16="http://schemas.microsoft.com/office/drawing/2014/main" id="{15FA3057-1516-C548-9EDC-38128DDD4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5" y="390399"/>
            <a:ext cx="9444089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35;g8d09728e15_0_47">
            <a:extLst>
              <a:ext uri="{FF2B5EF4-FFF2-40B4-BE49-F238E27FC236}">
                <a16:creationId xmlns:a16="http://schemas.microsoft.com/office/drawing/2014/main" id="{1DCA3210-0299-1E41-814C-C322D66A2C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3" y="775065"/>
            <a:ext cx="9444089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E0643C79-E14F-7949-8A78-4C3D61E6D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7920" y="500574"/>
            <a:ext cx="1929313" cy="525202"/>
          </a:xfrm>
          <a:prstGeom prst="rect">
            <a:avLst/>
          </a:prstGeom>
        </p:spPr>
      </p:pic>
      <p:sp>
        <p:nvSpPr>
          <p:cNvPr id="8" name="Redondear rectángulo de esquina diagonal 3">
            <a:extLst>
              <a:ext uri="{FF2B5EF4-FFF2-40B4-BE49-F238E27FC236}">
                <a16:creationId xmlns:a16="http://schemas.microsoft.com/office/drawing/2014/main" id="{90097881-447F-E44F-8058-7045ECDF1A9F}"/>
              </a:ext>
            </a:extLst>
          </p:cNvPr>
          <p:cNvSpPr/>
          <p:nvPr userDrawn="1"/>
        </p:nvSpPr>
        <p:spPr>
          <a:xfrm>
            <a:off x="7325833" y="1467293"/>
            <a:ext cx="4199860" cy="4657060"/>
          </a:xfrm>
          <a:prstGeom prst="round2DiagRect">
            <a:avLst/>
          </a:prstGeom>
          <a:solidFill>
            <a:srgbClr val="4A15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2400" noProof="0">
              <a:latin typeface="Montserrat" pitchFamily="2" charset="77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27735F6-2AF3-E040-B15E-91E2A4DD2F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45400" y="1789471"/>
            <a:ext cx="3701026" cy="387821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1">
                <a:solidFill>
                  <a:schemeClr val="bg1"/>
                </a:solidFill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Click to edit text.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366174-BAAC-C143-B360-E961F0DD1C4F}"/>
              </a:ext>
            </a:extLst>
          </p:cNvPr>
          <p:cNvGrpSpPr/>
          <p:nvPr userDrawn="1"/>
        </p:nvGrpSpPr>
        <p:grpSpPr>
          <a:xfrm>
            <a:off x="442161" y="1599836"/>
            <a:ext cx="6534663" cy="4845801"/>
            <a:chOff x="442161" y="1599836"/>
            <a:chExt cx="6534663" cy="4845801"/>
          </a:xfrm>
        </p:grpSpPr>
        <p:pic>
          <p:nvPicPr>
            <p:cNvPr id="11" name="Picture 83">
              <a:extLst>
                <a:ext uri="{FF2B5EF4-FFF2-40B4-BE49-F238E27FC236}">
                  <a16:creationId xmlns:a16="http://schemas.microsoft.com/office/drawing/2014/main" id="{A64D101E-7168-CF44-B2CB-B01B4FB05CA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947" y="1599836"/>
              <a:ext cx="500974" cy="271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5">
              <a:extLst>
                <a:ext uri="{FF2B5EF4-FFF2-40B4-BE49-F238E27FC236}">
                  <a16:creationId xmlns:a16="http://schemas.microsoft.com/office/drawing/2014/main" id="{7089D04C-6C8A-5A46-8166-9ABE1F0103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2919" y="1613471"/>
              <a:ext cx="574288" cy="274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7">
              <a:extLst>
                <a:ext uri="{FF2B5EF4-FFF2-40B4-BE49-F238E27FC236}">
                  <a16:creationId xmlns:a16="http://schemas.microsoft.com/office/drawing/2014/main" id="{988146AA-E8A8-E641-892C-5581D1D022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9963" y="1634110"/>
              <a:ext cx="1484313" cy="277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9">
              <a:extLst>
                <a:ext uri="{FF2B5EF4-FFF2-40B4-BE49-F238E27FC236}">
                  <a16:creationId xmlns:a16="http://schemas.microsoft.com/office/drawing/2014/main" id="{3E18FF78-E19D-D346-BDBE-FCE8D0F7893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1496" y="1633222"/>
              <a:ext cx="1138143" cy="292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91">
              <a:extLst>
                <a:ext uri="{FF2B5EF4-FFF2-40B4-BE49-F238E27FC236}">
                  <a16:creationId xmlns:a16="http://schemas.microsoft.com/office/drawing/2014/main" id="{FDE0FBB3-6C47-EF48-9305-6FD55C0270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149" y="2030523"/>
              <a:ext cx="1017674" cy="364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93">
              <a:extLst>
                <a:ext uri="{FF2B5EF4-FFF2-40B4-BE49-F238E27FC236}">
                  <a16:creationId xmlns:a16="http://schemas.microsoft.com/office/drawing/2014/main" id="{A25F26F0-DA21-4F40-A476-F6B928CEF1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8586" y="2128240"/>
              <a:ext cx="1267657" cy="277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96">
              <a:extLst>
                <a:ext uri="{FF2B5EF4-FFF2-40B4-BE49-F238E27FC236}">
                  <a16:creationId xmlns:a16="http://schemas.microsoft.com/office/drawing/2014/main" id="{8D6B0602-E5D2-074A-96EB-C1019DFD8F2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5230" y="2054350"/>
              <a:ext cx="1191768" cy="391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98">
              <a:extLst>
                <a:ext uri="{FF2B5EF4-FFF2-40B4-BE49-F238E27FC236}">
                  <a16:creationId xmlns:a16="http://schemas.microsoft.com/office/drawing/2014/main" id="{EE6B09B5-0BC5-F242-92D1-7176D8F38D0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5936" y="2076668"/>
              <a:ext cx="341761" cy="3417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0">
              <a:extLst>
                <a:ext uri="{FF2B5EF4-FFF2-40B4-BE49-F238E27FC236}">
                  <a16:creationId xmlns:a16="http://schemas.microsoft.com/office/drawing/2014/main" id="{B4C6984C-C099-4748-841D-14F2EFD49A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117" y="2634370"/>
              <a:ext cx="894752" cy="324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02">
              <a:extLst>
                <a:ext uri="{FF2B5EF4-FFF2-40B4-BE49-F238E27FC236}">
                  <a16:creationId xmlns:a16="http://schemas.microsoft.com/office/drawing/2014/main" id="{770D20AB-53AD-A94A-86A2-70C9FD80938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0374" y="2646000"/>
              <a:ext cx="1191768" cy="324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4">
              <a:extLst>
                <a:ext uri="{FF2B5EF4-FFF2-40B4-BE49-F238E27FC236}">
                  <a16:creationId xmlns:a16="http://schemas.microsoft.com/office/drawing/2014/main" id="{4BFE8003-955F-7F49-BD23-7F90048C8D9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9933" y="2699571"/>
              <a:ext cx="1230990" cy="181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6">
              <a:extLst>
                <a:ext uri="{FF2B5EF4-FFF2-40B4-BE49-F238E27FC236}">
                  <a16:creationId xmlns:a16="http://schemas.microsoft.com/office/drawing/2014/main" id="{4AA72667-0321-4A40-8F59-907A18BC36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091" y="2679896"/>
              <a:ext cx="1230990" cy="219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08">
              <a:extLst>
                <a:ext uri="{FF2B5EF4-FFF2-40B4-BE49-F238E27FC236}">
                  <a16:creationId xmlns:a16="http://schemas.microsoft.com/office/drawing/2014/main" id="{7F8DFC5E-A747-C94F-8A09-47BBEFB68A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947" y="3287766"/>
              <a:ext cx="1033526" cy="236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10">
              <a:extLst>
                <a:ext uri="{FF2B5EF4-FFF2-40B4-BE49-F238E27FC236}">
                  <a16:creationId xmlns:a16="http://schemas.microsoft.com/office/drawing/2014/main" id="{3235BEED-D0B1-214C-B6C5-4F1F461A0E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0063" y="3251032"/>
              <a:ext cx="1053419" cy="29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12">
              <a:extLst>
                <a:ext uri="{FF2B5EF4-FFF2-40B4-BE49-F238E27FC236}">
                  <a16:creationId xmlns:a16="http://schemas.microsoft.com/office/drawing/2014/main" id="{B649BA42-D474-A847-8C13-4343274AD84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9551" y="3143690"/>
              <a:ext cx="401637" cy="401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14">
              <a:extLst>
                <a:ext uri="{FF2B5EF4-FFF2-40B4-BE49-F238E27FC236}">
                  <a16:creationId xmlns:a16="http://schemas.microsoft.com/office/drawing/2014/main" id="{08812F13-09D2-2840-B47D-330AD56D3C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2049" y="3199443"/>
              <a:ext cx="1603937" cy="274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19">
              <a:extLst>
                <a:ext uri="{FF2B5EF4-FFF2-40B4-BE49-F238E27FC236}">
                  <a16:creationId xmlns:a16="http://schemas.microsoft.com/office/drawing/2014/main" id="{C81E762A-A46D-C148-AB7F-9CE52FBB83F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195" y="3843922"/>
              <a:ext cx="1177299" cy="230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1">
              <a:extLst>
                <a:ext uri="{FF2B5EF4-FFF2-40B4-BE49-F238E27FC236}">
                  <a16:creationId xmlns:a16="http://schemas.microsoft.com/office/drawing/2014/main" id="{C7166A93-18E3-8840-97E4-8076C096D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158" y="4109397"/>
              <a:ext cx="614492" cy="286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3">
              <a:extLst>
                <a:ext uri="{FF2B5EF4-FFF2-40B4-BE49-F238E27FC236}">
                  <a16:creationId xmlns:a16="http://schemas.microsoft.com/office/drawing/2014/main" id="{5A5A6362-F32B-204E-9956-FB7EE648722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7509" y="3871622"/>
              <a:ext cx="1382334" cy="244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5">
              <a:extLst>
                <a:ext uri="{FF2B5EF4-FFF2-40B4-BE49-F238E27FC236}">
                  <a16:creationId xmlns:a16="http://schemas.microsoft.com/office/drawing/2014/main" id="{C63E3A51-6516-434F-A454-51560AF386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0219" y="4091545"/>
              <a:ext cx="721096" cy="319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7">
              <a:extLst>
                <a:ext uri="{FF2B5EF4-FFF2-40B4-BE49-F238E27FC236}">
                  <a16:creationId xmlns:a16="http://schemas.microsoft.com/office/drawing/2014/main" id="{45BB9D93-EE0E-6040-8363-4F898F8919C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7060" y="3850399"/>
              <a:ext cx="1188205" cy="255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9">
              <a:extLst>
                <a:ext uri="{FF2B5EF4-FFF2-40B4-BE49-F238E27FC236}">
                  <a16:creationId xmlns:a16="http://schemas.microsoft.com/office/drawing/2014/main" id="{EDF088DB-65C6-954A-8243-DDE8929392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9860" y="4141860"/>
              <a:ext cx="893437" cy="156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31">
              <a:extLst>
                <a:ext uri="{FF2B5EF4-FFF2-40B4-BE49-F238E27FC236}">
                  <a16:creationId xmlns:a16="http://schemas.microsoft.com/office/drawing/2014/main" id="{492C6B7E-E171-924D-9F46-BDB7DD7D764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3739" y="4118516"/>
              <a:ext cx="580822" cy="255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33">
              <a:extLst>
                <a:ext uri="{FF2B5EF4-FFF2-40B4-BE49-F238E27FC236}">
                  <a16:creationId xmlns:a16="http://schemas.microsoft.com/office/drawing/2014/main" id="{16CE352F-88B0-794D-B9B7-B2B95E7A9B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0144" y="3783585"/>
              <a:ext cx="1507673" cy="384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35">
              <a:extLst>
                <a:ext uri="{FF2B5EF4-FFF2-40B4-BE49-F238E27FC236}">
                  <a16:creationId xmlns:a16="http://schemas.microsoft.com/office/drawing/2014/main" id="{1B8E073C-04C5-0545-97A3-8439632988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4764" y="4096690"/>
              <a:ext cx="729412" cy="255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37">
              <a:extLst>
                <a:ext uri="{FF2B5EF4-FFF2-40B4-BE49-F238E27FC236}">
                  <a16:creationId xmlns:a16="http://schemas.microsoft.com/office/drawing/2014/main" id="{29B60F64-1652-8040-B437-FDACB9E1B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161" y="4746806"/>
              <a:ext cx="1015672" cy="370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39">
              <a:extLst>
                <a:ext uri="{FF2B5EF4-FFF2-40B4-BE49-F238E27FC236}">
                  <a16:creationId xmlns:a16="http://schemas.microsoft.com/office/drawing/2014/main" id="{B544B043-0AC2-7649-A967-E3D6E271E6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1661" y="4587605"/>
              <a:ext cx="789654" cy="587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41">
              <a:extLst>
                <a:ext uri="{FF2B5EF4-FFF2-40B4-BE49-F238E27FC236}">
                  <a16:creationId xmlns:a16="http://schemas.microsoft.com/office/drawing/2014/main" id="{7FF0B3D3-2852-0346-9BFB-4B435973B3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9254" y="4827486"/>
              <a:ext cx="888613" cy="2016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43">
              <a:extLst>
                <a:ext uri="{FF2B5EF4-FFF2-40B4-BE49-F238E27FC236}">
                  <a16:creationId xmlns:a16="http://schemas.microsoft.com/office/drawing/2014/main" id="{2E61A39A-9576-9E47-93A4-03ABAAC27C0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4270" y="4668218"/>
              <a:ext cx="1183432" cy="479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45">
              <a:extLst>
                <a:ext uri="{FF2B5EF4-FFF2-40B4-BE49-F238E27FC236}">
                  <a16:creationId xmlns:a16="http://schemas.microsoft.com/office/drawing/2014/main" id="{969237E4-A2E4-9749-A5CB-C9042E4E3E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247" y="5523974"/>
              <a:ext cx="945652" cy="341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47">
              <a:extLst>
                <a:ext uri="{FF2B5EF4-FFF2-40B4-BE49-F238E27FC236}">
                  <a16:creationId xmlns:a16="http://schemas.microsoft.com/office/drawing/2014/main" id="{B6547E36-B51D-2642-B2A5-ADBC4B8B97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3479" y="5381701"/>
              <a:ext cx="988352" cy="276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49">
              <a:extLst>
                <a:ext uri="{FF2B5EF4-FFF2-40B4-BE49-F238E27FC236}">
                  <a16:creationId xmlns:a16="http://schemas.microsoft.com/office/drawing/2014/main" id="{CCFB31E8-7644-E841-AF77-33837C3B3E4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8808" y="5714883"/>
              <a:ext cx="714807" cy="142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51">
              <a:extLst>
                <a:ext uri="{FF2B5EF4-FFF2-40B4-BE49-F238E27FC236}">
                  <a16:creationId xmlns:a16="http://schemas.microsoft.com/office/drawing/2014/main" id="{91A48213-ED22-744A-9F54-B98E78F6891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1253" y="5690056"/>
              <a:ext cx="1067266" cy="2244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53">
              <a:extLst>
                <a:ext uri="{FF2B5EF4-FFF2-40B4-BE49-F238E27FC236}">
                  <a16:creationId xmlns:a16="http://schemas.microsoft.com/office/drawing/2014/main" id="{5D05229A-4546-E642-B5D9-9C658BA3C0B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5843" y="5680925"/>
              <a:ext cx="769218" cy="17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55">
              <a:extLst>
                <a:ext uri="{FF2B5EF4-FFF2-40B4-BE49-F238E27FC236}">
                  <a16:creationId xmlns:a16="http://schemas.microsoft.com/office/drawing/2014/main" id="{402D777D-D9D5-9642-8227-A616327FF8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9338" y="5382052"/>
              <a:ext cx="1427486" cy="633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57">
              <a:extLst>
                <a:ext uri="{FF2B5EF4-FFF2-40B4-BE49-F238E27FC236}">
                  <a16:creationId xmlns:a16="http://schemas.microsoft.com/office/drawing/2014/main" id="{BD5C6282-EF74-1E4E-9C9D-C3F670D332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947" y="6171546"/>
              <a:ext cx="1458771" cy="274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59">
              <a:extLst>
                <a:ext uri="{FF2B5EF4-FFF2-40B4-BE49-F238E27FC236}">
                  <a16:creationId xmlns:a16="http://schemas.microsoft.com/office/drawing/2014/main" id="{818997F3-8B96-B144-87D4-43471419F7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8065" y="6142813"/>
              <a:ext cx="1161795" cy="302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161">
              <a:extLst>
                <a:ext uri="{FF2B5EF4-FFF2-40B4-BE49-F238E27FC236}">
                  <a16:creationId xmlns:a16="http://schemas.microsoft.com/office/drawing/2014/main" id="{8B26BE2C-7585-C24A-AA53-ABD8B366E20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387" y="6205231"/>
              <a:ext cx="1207525" cy="210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0258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&amp; Quo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F24FB99-86D3-4543-9E85-61DAA57CFB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793106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think-cell Slide" r:id="rId4" imgW="668" imgH="670" progId="TCLayout.ActiveDocument.1">
                  <p:embed/>
                </p:oleObj>
              </mc:Choice>
              <mc:Fallback>
                <p:oleObj name="think-cell Slide" r:id="rId4" imgW="668" imgH="67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F24FB99-86D3-4543-9E85-61DAA57CF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E2C0CFDF-5E2A-4995-86D5-8DBC045407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7882"/>
          <a:stretch/>
        </p:blipFill>
        <p:spPr>
          <a:xfrm rot="10800000">
            <a:off x="7699847" y="0"/>
            <a:ext cx="4492153" cy="6858000"/>
          </a:xfrm>
          <a:prstGeom prst="rect">
            <a:avLst/>
          </a:prstGeom>
        </p:spPr>
      </p:pic>
      <p:sp>
        <p:nvSpPr>
          <p:cNvPr id="11" name="Google Shape;32;g8d09728e15_0_47">
            <a:extLst>
              <a:ext uri="{FF2B5EF4-FFF2-40B4-BE49-F238E27FC236}">
                <a16:creationId xmlns:a16="http://schemas.microsoft.com/office/drawing/2014/main" id="{B97C71B0-CE35-FB4E-AC38-1FB1DB0B26F3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rgbClr val="44197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rgbClr val="44197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" name="Google Shape;25;p28">
            <a:extLst>
              <a:ext uri="{FF2B5EF4-FFF2-40B4-BE49-F238E27FC236}">
                <a16:creationId xmlns:a16="http://schemas.microsoft.com/office/drawing/2014/main" id="{37F0122E-DEE2-2342-8D1E-6CBE9AB438CB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B1EA7A11-6A08-3343-A1B6-E948E253820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7920" y="500574"/>
            <a:ext cx="1929313" cy="525202"/>
          </a:xfrm>
          <a:prstGeom prst="rect">
            <a:avLst/>
          </a:prstGeom>
        </p:spPr>
      </p:pic>
      <p:sp>
        <p:nvSpPr>
          <p:cNvPr id="8" name="Google Shape;26;p28">
            <a:extLst>
              <a:ext uri="{FF2B5EF4-FFF2-40B4-BE49-F238E27FC236}">
                <a16:creationId xmlns:a16="http://schemas.microsoft.com/office/drawing/2014/main" id="{10F20CB1-3D5E-454C-A736-6E74AC29B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5" y="390399"/>
            <a:ext cx="7497009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35;g8d09728e15_0_47">
            <a:extLst>
              <a:ext uri="{FF2B5EF4-FFF2-40B4-BE49-F238E27FC236}">
                <a16:creationId xmlns:a16="http://schemas.microsoft.com/office/drawing/2014/main" id="{6DD905F2-FA05-5143-9A54-877F446B7F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3" y="775065"/>
            <a:ext cx="7497009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35FBBB7-C6E5-1B40-9619-E117DE29C1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55016" y="1789471"/>
            <a:ext cx="2791410" cy="387821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1">
                <a:solidFill>
                  <a:srgbClr val="4A1583"/>
                </a:solidFill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Click to edit text.</a:t>
            </a:r>
          </a:p>
        </p:txBody>
      </p:sp>
    </p:spTree>
    <p:extLst>
      <p:ext uri="{BB962C8B-B14F-4D97-AF65-F5344CB8AC3E}">
        <p14:creationId xmlns:p14="http://schemas.microsoft.com/office/powerpoint/2010/main" val="396688808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Slide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1DDE1868-D452-E442-88A5-32464866C2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F24FB99-86D3-4543-9E85-61DAA57CFB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793106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think-cell Slide" r:id="rId5" imgW="668" imgH="670" progId="TCLayout.ActiveDocument.1">
                  <p:embed/>
                </p:oleObj>
              </mc:Choice>
              <mc:Fallback>
                <p:oleObj name="think-cell Slide" r:id="rId5" imgW="668" imgH="67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F24FB99-86D3-4543-9E85-61DAA57CF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32;g8d09728e15_0_47">
            <a:extLst>
              <a:ext uri="{FF2B5EF4-FFF2-40B4-BE49-F238E27FC236}">
                <a16:creationId xmlns:a16="http://schemas.microsoft.com/office/drawing/2014/main" id="{B97C71B0-CE35-FB4E-AC38-1FB1DB0B26F3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" name="Google Shape;25;p28">
            <a:extLst>
              <a:ext uri="{FF2B5EF4-FFF2-40B4-BE49-F238E27FC236}">
                <a16:creationId xmlns:a16="http://schemas.microsoft.com/office/drawing/2014/main" id="{37F0122E-DEE2-2342-8D1E-6CBE9AB438CB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Google Shape;26;p28">
            <a:extLst>
              <a:ext uri="{FF2B5EF4-FFF2-40B4-BE49-F238E27FC236}">
                <a16:creationId xmlns:a16="http://schemas.microsoft.com/office/drawing/2014/main" id="{10F20CB1-3D5E-454C-A736-6E74AC29B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6" y="390399"/>
            <a:ext cx="6454776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29;p28">
            <a:extLst>
              <a:ext uri="{FF2B5EF4-FFF2-40B4-BE49-F238E27FC236}">
                <a16:creationId xmlns:a16="http://schemas.microsoft.com/office/drawing/2014/main" id="{D099787B-36EF-E14C-A29F-2E340B8A1624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349234" y="1434164"/>
            <a:ext cx="6454690" cy="46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US"/>
              <a:t>Level 1 bullet</a:t>
            </a:r>
          </a:p>
          <a:p>
            <a:pPr lvl="1"/>
            <a:r>
              <a:rPr lang="en-US"/>
              <a:t>Level 2 bullet</a:t>
            </a:r>
          </a:p>
          <a:p>
            <a:pPr lvl="2"/>
            <a:r>
              <a:rPr lang="en-US"/>
              <a:t>Level 3 bullet</a:t>
            </a:r>
          </a:p>
          <a:p>
            <a:pPr lvl="3"/>
            <a:r>
              <a:rPr lang="en-US"/>
              <a:t>Level 4 bullet</a:t>
            </a:r>
          </a:p>
          <a:p>
            <a:pPr lvl="4"/>
            <a:r>
              <a:rPr lang="en-US"/>
              <a:t>Level 5 bullet</a:t>
            </a:r>
          </a:p>
          <a:p>
            <a:pPr lvl="5"/>
            <a:r>
              <a:rPr lang="en-US"/>
              <a:t>Level 6 bullet</a:t>
            </a:r>
          </a:p>
          <a:p>
            <a:pPr lvl="6"/>
            <a:r>
              <a:rPr lang="en-US"/>
              <a:t>Level 7 bullet</a:t>
            </a:r>
          </a:p>
          <a:p>
            <a:pPr lvl="7"/>
            <a:r>
              <a:rPr lang="en-US"/>
              <a:t>Level 8 bullet</a:t>
            </a:r>
          </a:p>
          <a:p>
            <a:pPr lvl="8"/>
            <a:r>
              <a:rPr lang="en-US"/>
              <a:t>Level 9 bullet</a:t>
            </a:r>
          </a:p>
          <a:p>
            <a:pPr lvl="8"/>
            <a:endParaRPr lang="en-US"/>
          </a:p>
          <a:p>
            <a:pPr lvl="7"/>
            <a:endParaRPr lang="en-US"/>
          </a:p>
          <a:p>
            <a:pPr lvl="7"/>
            <a:endParaRPr lang="en-US"/>
          </a:p>
          <a:p>
            <a:pPr lvl="5"/>
            <a:endParaRPr lang="en-US"/>
          </a:p>
        </p:txBody>
      </p:sp>
      <p:sp>
        <p:nvSpPr>
          <p:cNvPr id="12" name="Google Shape;35;g8d09728e15_0_47">
            <a:extLst>
              <a:ext uri="{FF2B5EF4-FFF2-40B4-BE49-F238E27FC236}">
                <a16:creationId xmlns:a16="http://schemas.microsoft.com/office/drawing/2014/main" id="{6DD905F2-FA05-5143-9A54-877F446B7F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4" y="775065"/>
            <a:ext cx="6454776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C725192-8F54-1C48-8B37-FD394B1F2A4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4292" y="462255"/>
            <a:ext cx="2007969" cy="58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528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49D6CAC-079A-4C0C-9E95-15C5DEE6E7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8540247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think-cell Slide" r:id="rId5" imgW="668" imgH="670" progId="TCLayout.ActiveDocument.1">
                  <p:embed/>
                </p:oleObj>
              </mc:Choice>
              <mc:Fallback>
                <p:oleObj name="think-cell Slide" r:id="rId5" imgW="668" imgH="67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49D6CAC-079A-4C0C-9E95-15C5DEE6E7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44;g8e661b59ff_0_450">
            <a:extLst>
              <a:ext uri="{FF2B5EF4-FFF2-40B4-BE49-F238E27FC236}">
                <a16:creationId xmlns:a16="http://schemas.microsoft.com/office/drawing/2014/main" id="{BA8B4C33-393C-43FD-8E9D-967E88EA2D0F}"/>
              </a:ext>
            </a:extLst>
          </p:cNvPr>
          <p:cNvSpPr txBox="1"/>
          <p:nvPr userDrawn="1"/>
        </p:nvSpPr>
        <p:spPr>
          <a:xfrm rot="5400000">
            <a:off x="10703909" y="3367473"/>
            <a:ext cx="2614000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sz="800"/>
              <a:t>CONFIDENTIAL AND PROPRIETARY © ENCORA 202</a:t>
            </a:r>
            <a:r>
              <a:rPr lang="en-US" sz="800"/>
              <a:t>2</a:t>
            </a:r>
            <a:endParaRPr sz="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18B8FE-F948-FD43-80D4-8353908483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2143" y="1373051"/>
            <a:ext cx="8981728" cy="3857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ontserrat SemiBold" pitchFamily="2" charset="77"/>
              </a:defRPr>
            </a:lvl1pPr>
          </a:lstStyle>
          <a:p>
            <a:pPr lvl="0"/>
            <a:r>
              <a:rPr lang="en-US"/>
              <a:t>Click to add a quote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42985CF-3BAA-6349-B655-1EFD4B265FB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598419" y="5948516"/>
            <a:ext cx="2140749" cy="628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CF8457-4174-A747-BBB8-0BD07A956054}"/>
              </a:ext>
            </a:extLst>
          </p:cNvPr>
          <p:cNvSpPr txBox="1"/>
          <p:nvPr userDrawn="1"/>
        </p:nvSpPr>
        <p:spPr>
          <a:xfrm>
            <a:off x="452832" y="803032"/>
            <a:ext cx="8106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0">
                <a:solidFill>
                  <a:srgbClr val="FABD00"/>
                </a:solidFill>
                <a:latin typeface="Montserrat ExtraBold" pitchFamily="2" charset="77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80720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oup of people sitting at a table with computers&#10;&#10;Description automatically generated with low confidence">
            <a:extLst>
              <a:ext uri="{FF2B5EF4-FFF2-40B4-BE49-F238E27FC236}">
                <a16:creationId xmlns:a16="http://schemas.microsoft.com/office/drawing/2014/main" id="{4FEAAFB2-F2A9-C142-8AB9-E130ED6C5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Google Shape;10;g8d09728e15_0_479">
            <a:extLst>
              <a:ext uri="{FF2B5EF4-FFF2-40B4-BE49-F238E27FC236}">
                <a16:creationId xmlns:a16="http://schemas.microsoft.com/office/drawing/2014/main" id="{3BA9B3EB-51B4-ED42-B758-081CCE921DEF}"/>
              </a:ext>
            </a:extLst>
          </p:cNvPr>
          <p:cNvSpPr/>
          <p:nvPr userDrawn="1"/>
        </p:nvSpPr>
        <p:spPr>
          <a:xfrm>
            <a:off x="447100" y="6261833"/>
            <a:ext cx="59284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CONFIDENTIAL AND PROPRIETARY</a:t>
            </a:r>
            <a:endParaRPr sz="1867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0" i="0" u="none" strike="noStrike" cap="none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lang="en" sz="1200" b="0" i="0" u="none" strike="noStrike" cap="none" err="1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Encora</a:t>
            </a:r>
            <a:r>
              <a:rPr lang="en" sz="1200" b="0" i="0" u="none" strike="noStrike" cap="none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 2022.  Any use of this material without specific permission is strictly prohibited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848C84A-3C50-0543-A0D3-4C1955E786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7516" y="463734"/>
            <a:ext cx="3345168" cy="982787"/>
          </a:xfrm>
          <a:prstGeom prst="rect">
            <a:avLst/>
          </a:prstGeom>
        </p:spPr>
      </p:pic>
      <p:sp>
        <p:nvSpPr>
          <p:cNvPr id="13" name="Google Shape;8;g8d09728e15_0_479">
            <a:extLst>
              <a:ext uri="{FF2B5EF4-FFF2-40B4-BE49-F238E27FC236}">
                <a16:creationId xmlns:a16="http://schemas.microsoft.com/office/drawing/2014/main" id="{967D264A-22FD-CA44-BBE6-4482603CC6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445" y="3807015"/>
            <a:ext cx="11251960" cy="7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42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9;g8d09728e15_0_479">
            <a:extLst>
              <a:ext uri="{FF2B5EF4-FFF2-40B4-BE49-F238E27FC236}">
                <a16:creationId xmlns:a16="http://schemas.microsoft.com/office/drawing/2014/main" id="{C33B69C5-9CF3-1946-9272-3B714BC69C4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62099" y="4553637"/>
            <a:ext cx="1125196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Montserrat" pitchFamily="2" charset="77"/>
                <a:ea typeface="Montserrat" pitchFamily="2" charset="77"/>
                <a:cs typeface="Montserrat" pitchFamily="2" charset="77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add location and date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92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620A586A-018A-A24A-B515-926CAFC77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Google Shape;10;g8d09728e15_0_479">
            <a:extLst>
              <a:ext uri="{FF2B5EF4-FFF2-40B4-BE49-F238E27FC236}">
                <a16:creationId xmlns:a16="http://schemas.microsoft.com/office/drawing/2014/main" id="{3BA9B3EB-51B4-ED42-B758-081CCE921DEF}"/>
              </a:ext>
            </a:extLst>
          </p:cNvPr>
          <p:cNvSpPr/>
          <p:nvPr userDrawn="1"/>
        </p:nvSpPr>
        <p:spPr>
          <a:xfrm>
            <a:off x="447100" y="6261833"/>
            <a:ext cx="59284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CONFIDENTIAL AND PROPRIETARY</a:t>
            </a:r>
            <a:endParaRPr sz="1867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0" i="0" u="none" strike="noStrike" cap="none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lang="en" sz="1200" b="0" i="0" u="none" strike="noStrike" cap="none" err="1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Encora</a:t>
            </a:r>
            <a:r>
              <a:rPr lang="en" sz="1200" b="0" i="0" u="none" strike="noStrike" cap="none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 2022.  Any use of this material without specific permission is strictly prohibited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848C84A-3C50-0543-A0D3-4C1955E786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7516" y="463734"/>
            <a:ext cx="3345168" cy="982787"/>
          </a:xfrm>
          <a:prstGeom prst="rect">
            <a:avLst/>
          </a:prstGeom>
        </p:spPr>
      </p:pic>
      <p:sp>
        <p:nvSpPr>
          <p:cNvPr id="11" name="Google Shape;8;g8d09728e15_0_479">
            <a:extLst>
              <a:ext uri="{FF2B5EF4-FFF2-40B4-BE49-F238E27FC236}">
                <a16:creationId xmlns:a16="http://schemas.microsoft.com/office/drawing/2014/main" id="{07D223F5-14F5-F749-B012-E8C49FBB1B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445" y="3807015"/>
            <a:ext cx="11251960" cy="7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42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9;g8d09728e15_0_479">
            <a:extLst>
              <a:ext uri="{FF2B5EF4-FFF2-40B4-BE49-F238E27FC236}">
                <a16:creationId xmlns:a16="http://schemas.microsoft.com/office/drawing/2014/main" id="{302A9E79-C64E-9F47-AEA0-CBD2E8B16744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62099" y="4553637"/>
            <a:ext cx="1125196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Montserrat" pitchFamily="2" charset="77"/>
                <a:ea typeface="Montserrat" pitchFamily="2" charset="77"/>
                <a:cs typeface="Montserrat" pitchFamily="2" charset="77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add location and date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2713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4;p28">
            <a:extLst>
              <a:ext uri="{FF2B5EF4-FFF2-40B4-BE49-F238E27FC236}">
                <a16:creationId xmlns:a16="http://schemas.microsoft.com/office/drawing/2014/main" id="{3FD8FCE6-56F2-B140-AF08-F2F2864A8D35}"/>
              </a:ext>
            </a:extLst>
          </p:cNvPr>
          <p:cNvSpPr txBox="1"/>
          <p:nvPr userDrawn="1"/>
        </p:nvSpPr>
        <p:spPr>
          <a:xfrm>
            <a:off x="11213764" y="6275457"/>
            <a:ext cx="5032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333" b="0" i="0" u="none" strike="noStrike" cap="none">
                <a:solidFill>
                  <a:srgbClr val="44197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rgbClr val="44197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25;p28">
            <a:extLst>
              <a:ext uri="{FF2B5EF4-FFF2-40B4-BE49-F238E27FC236}">
                <a16:creationId xmlns:a16="http://schemas.microsoft.com/office/drawing/2014/main" id="{6163AEF3-8BD4-9547-B6B5-F557D0D7B06C}"/>
              </a:ext>
            </a:extLst>
          </p:cNvPr>
          <p:cNvSpPr txBox="1"/>
          <p:nvPr userDrawn="1"/>
        </p:nvSpPr>
        <p:spPr>
          <a:xfrm rot="5400000">
            <a:off x="10726976" y="3367474"/>
            <a:ext cx="26140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800" b="0" i="0" u="none" strike="noStrike" cap="none">
                <a:solidFill>
                  <a:srgbClr val="C0C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CONFIDENTIAL AND PROPRIETARY © ENCORA 2022</a:t>
            </a:r>
            <a:endParaRPr sz="2133" b="0" i="0" u="none" strike="noStrike" cap="none">
              <a:solidFill>
                <a:srgbClr val="C0C0C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" name="Google Shape;26;p28">
            <a:extLst>
              <a:ext uri="{FF2B5EF4-FFF2-40B4-BE49-F238E27FC236}">
                <a16:creationId xmlns:a16="http://schemas.microsoft.com/office/drawing/2014/main" id="{FFCEEB21-BA50-D743-BF80-B48F712CA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35" y="390399"/>
            <a:ext cx="9444089" cy="3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600" b="1" i="0" u="none" strike="noStrike" cap="none">
                <a:solidFill>
                  <a:srgbClr val="44197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35;g8d09728e15_0_47">
            <a:extLst>
              <a:ext uri="{FF2B5EF4-FFF2-40B4-BE49-F238E27FC236}">
                <a16:creationId xmlns:a16="http://schemas.microsoft.com/office/drawing/2014/main" id="{25B6AB68-B8B9-764C-B0A5-0E99C35A3E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133" y="775065"/>
            <a:ext cx="9444089" cy="27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A0EAB763-CB24-FF47-8EBE-EB5840379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7920" y="500574"/>
            <a:ext cx="1929313" cy="525202"/>
          </a:xfrm>
          <a:prstGeom prst="rect">
            <a:avLst/>
          </a:prstGeom>
        </p:spPr>
      </p:pic>
      <p:sp>
        <p:nvSpPr>
          <p:cNvPr id="8" name="Google Shape;29;p28">
            <a:extLst>
              <a:ext uri="{FF2B5EF4-FFF2-40B4-BE49-F238E27FC236}">
                <a16:creationId xmlns:a16="http://schemas.microsoft.com/office/drawing/2014/main" id="{53EFBF6E-1413-A640-AFF9-CB739487F212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349233" y="1434164"/>
            <a:ext cx="11367731" cy="46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rt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US"/>
              <a:t>Level 1 bullet</a:t>
            </a:r>
          </a:p>
          <a:p>
            <a:pPr lvl="1"/>
            <a:r>
              <a:rPr lang="en-US"/>
              <a:t>Level 2 bullet</a:t>
            </a:r>
          </a:p>
          <a:p>
            <a:pPr lvl="2"/>
            <a:r>
              <a:rPr lang="en-US"/>
              <a:t>Level 3 bullet</a:t>
            </a:r>
          </a:p>
          <a:p>
            <a:pPr lvl="3"/>
            <a:r>
              <a:rPr lang="en-US"/>
              <a:t>Level 4 bullet</a:t>
            </a:r>
          </a:p>
          <a:p>
            <a:pPr lvl="4"/>
            <a:r>
              <a:rPr lang="en-US"/>
              <a:t>Level 5 bullet</a:t>
            </a:r>
          </a:p>
          <a:p>
            <a:pPr lvl="5"/>
            <a:r>
              <a:rPr lang="en-US"/>
              <a:t>Level 6 bullet</a:t>
            </a:r>
          </a:p>
          <a:p>
            <a:pPr lvl="6"/>
            <a:r>
              <a:rPr lang="en-US"/>
              <a:t>Level 7 bullet</a:t>
            </a:r>
          </a:p>
          <a:p>
            <a:pPr lvl="7"/>
            <a:r>
              <a:rPr lang="en-US"/>
              <a:t>Level 8 bullet</a:t>
            </a:r>
          </a:p>
          <a:p>
            <a:pPr lvl="8"/>
            <a:r>
              <a:rPr lang="en-US"/>
              <a:t>Level 9 bullet</a:t>
            </a:r>
          </a:p>
          <a:p>
            <a:pPr lvl="8"/>
            <a:endParaRPr lang="en-US"/>
          </a:p>
          <a:p>
            <a:pPr lvl="7"/>
            <a:endParaRPr lang="en-US"/>
          </a:p>
          <a:p>
            <a:pPr lvl="7"/>
            <a:endParaRPr lang="en-US"/>
          </a:p>
          <a:p>
            <a:pPr lvl="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4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89AE4973-D275-0E4A-8162-B5C7B6DC3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Google Shape;10;g8d09728e15_0_479">
            <a:extLst>
              <a:ext uri="{FF2B5EF4-FFF2-40B4-BE49-F238E27FC236}">
                <a16:creationId xmlns:a16="http://schemas.microsoft.com/office/drawing/2014/main" id="{3BA9B3EB-51B4-ED42-B758-081CCE921DEF}"/>
              </a:ext>
            </a:extLst>
          </p:cNvPr>
          <p:cNvSpPr/>
          <p:nvPr userDrawn="1"/>
        </p:nvSpPr>
        <p:spPr>
          <a:xfrm>
            <a:off x="447100" y="6261833"/>
            <a:ext cx="59284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CONFIDENTIAL AND PROPRIETARY</a:t>
            </a:r>
            <a:endParaRPr sz="1867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200" b="0" i="0" u="none" strike="noStrike" cap="none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lang="en" sz="1200" b="0" i="0" u="none" strike="noStrike" cap="none" err="1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Encora</a:t>
            </a:r>
            <a:r>
              <a:rPr lang="en" sz="1200" b="0" i="0" u="none" strike="noStrike" cap="none">
                <a:solidFill>
                  <a:srgbClr val="C0C0C0"/>
                </a:solidFill>
                <a:latin typeface="Calibri"/>
                <a:ea typeface="Calibri"/>
                <a:cs typeface="Calibri"/>
                <a:sym typeface="Calibri"/>
              </a:rPr>
              <a:t> 2022.  Any use of this material without specific permission is strictly prohibited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848C84A-3C50-0543-A0D3-4C1955E786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7516" y="463734"/>
            <a:ext cx="3345168" cy="982787"/>
          </a:xfrm>
          <a:prstGeom prst="rect">
            <a:avLst/>
          </a:prstGeom>
        </p:spPr>
      </p:pic>
      <p:sp>
        <p:nvSpPr>
          <p:cNvPr id="11" name="Google Shape;8;g8d09728e15_0_479">
            <a:extLst>
              <a:ext uri="{FF2B5EF4-FFF2-40B4-BE49-F238E27FC236}">
                <a16:creationId xmlns:a16="http://schemas.microsoft.com/office/drawing/2014/main" id="{07D223F5-14F5-F749-B012-E8C49FBB1B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445" y="3807015"/>
            <a:ext cx="11251960" cy="7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42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9;g8d09728e15_0_479">
            <a:extLst>
              <a:ext uri="{FF2B5EF4-FFF2-40B4-BE49-F238E27FC236}">
                <a16:creationId xmlns:a16="http://schemas.microsoft.com/office/drawing/2014/main" id="{302A9E79-C64E-9F47-AEA0-CBD2E8B16744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62099" y="4553637"/>
            <a:ext cx="1125196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Montserrat" pitchFamily="2" charset="77"/>
                <a:ea typeface="Montserrat" pitchFamily="2" charset="77"/>
                <a:cs typeface="Montserrat" pitchFamily="2" charset="77"/>
                <a:sym typeface="Montserra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add location and date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450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15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697" r:id="rId2"/>
    <p:sldLayoutId id="2147483705" r:id="rId3"/>
    <p:sldLayoutId id="2147483709" r:id="rId4"/>
    <p:sldLayoutId id="2147483673" r:id="rId5"/>
    <p:sldLayoutId id="2147483708" r:id="rId6"/>
    <p:sldLayoutId id="2147483695" r:id="rId7"/>
    <p:sldLayoutId id="2147483699" r:id="rId8"/>
    <p:sldLayoutId id="2147483692" r:id="rId9"/>
    <p:sldLayoutId id="2147483679" r:id="rId10"/>
    <p:sldLayoutId id="2147483702" r:id="rId11"/>
    <p:sldLayoutId id="2147483706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oberto.nogueira@encora.com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hyperlink" Target="https://www.linkedin.com/public-profile/settings?trk=d_flagship3_profile_self_view_public_profil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www.puppet-debugger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hyperlink" Target="https://demo.puppet-debugger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configuration_management" TargetMode="External"/><Relationship Id="rId7" Type="http://schemas.openxmlformats.org/officeDocument/2006/relationships/image" Target="../media/image105.png"/><Relationship Id="rId2" Type="http://schemas.openxmlformats.org/officeDocument/2006/relationships/hyperlink" Target="https://en.wikipedia.org/wiki/Puppet_(software)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4.png"/><Relationship Id="rId5" Type="http://schemas.openxmlformats.org/officeDocument/2006/relationships/hyperlink" Target="https://en.wikipedia.org/wiki/System_configuration" TargetMode="External"/><Relationship Id="rId4" Type="http://schemas.openxmlformats.org/officeDocument/2006/relationships/hyperlink" Target="https://en.wikipedia.org/wiki/Declarative_languag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wrs.com/display/~rmartins/Puppet+Debugger+Presentation#PuppetDebuggerPresentation-References" TargetMode="External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hyperlink" Target="https://en.wikipedia.org/wiki/Client%E2%80%93server_model" TargetMode="External"/><Relationship Id="rId7" Type="http://schemas.openxmlformats.org/officeDocument/2006/relationships/hyperlink" Target="https://en.wikipedia.org/wiki/APT_(software)" TargetMode="External"/><Relationship Id="rId2" Type="http://schemas.openxmlformats.org/officeDocument/2006/relationships/hyperlink" Target="https://en.wikipedia.org/wiki/Declarative_programming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n.wikipedia.org/wiki/Yum_(software)" TargetMode="External"/><Relationship Id="rId5" Type="http://schemas.openxmlformats.org/officeDocument/2006/relationships/hyperlink" Target="https://en.wikipedia.org/wiki/RPM_Package_Manager" TargetMode="External"/><Relationship Id="rId4" Type="http://schemas.openxmlformats.org/officeDocument/2006/relationships/hyperlink" Target="https://en.wikipedia.org/wiki/Representational_state_transfer" TargetMode="External"/><Relationship Id="rId9" Type="http://schemas.openxmlformats.org/officeDocument/2006/relationships/image" Target="../media/image10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uppet.com/learning-training/kits/puppet-language-basics/" TargetMode="External"/><Relationship Id="rId2" Type="http://schemas.openxmlformats.org/officeDocument/2006/relationships/hyperlink" Target="https://www.youtube.com/watch?v=fMTQvqZZH7g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puppet.com/learning-training/kits/puppet-language-basics/" TargetMode="External"/><Relationship Id="rId4" Type="http://schemas.openxmlformats.org/officeDocument/2006/relationships/hyperlink" Target="https://www.youtube.com/watch?v=9vXM5AMBQqc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hyperlink" Target="https://forge.puppet.com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ppet.com/learning-training/kits/puppet-language-basics/" TargetMode="External"/><Relationship Id="rId2" Type="http://schemas.openxmlformats.org/officeDocument/2006/relationships/hyperlink" Target="https://www.youtube.com/watch?v=WWTV7Kz41Go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puppet.com/learning-training/kits/puppet-language-basics/" TargetMode="External"/><Relationship Id="rId4" Type="http://schemas.openxmlformats.org/officeDocument/2006/relationships/hyperlink" Target="https://www.youtube.com/watch?v=tctfRBqvFKw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hyperlink" Target="https://puppet.com/learning-training/kits/puppet-language-basics/" TargetMode="Externa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youtube.com/watch?v=gz9Nb6j6dss" TargetMode="Externa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hyperlink" Target="https://github.com/camptocamp/facterdb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hyperlink" Target="https://gist.githubusercontent.com/logicminds/f9b1ac65a3a440d562b0/raw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puppet-debugger.com/play?url=https://gist.github.com/logicminds/64f0fe9f64339f18f097a9f42acd6276" TargetMode="External"/><Relationship Id="rId7" Type="http://schemas.openxmlformats.org/officeDocument/2006/relationships/hyperlink" Target="https://demo.puppet-debugger.com" TargetMode="External"/><Relationship Id="rId2" Type="http://schemas.openxmlformats.org/officeDocument/2006/relationships/hyperlink" Target="https://www.puppet-debugger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mo.puppet-debugger.com/play?content=md5(%27dafsdfdsfasdfds%27)" TargetMode="External"/><Relationship Id="rId5" Type="http://schemas.openxmlformats.org/officeDocument/2006/relationships/hyperlink" Target="https://demo.puppet-debugger.com/play?content=vars" TargetMode="External"/><Relationship Id="rId4" Type="http://schemas.openxmlformats.org/officeDocument/2006/relationships/hyperlink" Target="https://demo.puppet-debugger.com/play?url=https://gist.github.com/logicminds/4f6bcfd723c92aad1f01f6a800319fa4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logicminds/4f6bcfd723c92aad1f01f6a800319fa4" TargetMode="External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emo.puppet-debugger.com/play?url=https://gist.github.com/logicminds/4f6bcfd723c92aad1f01f6a800319fa4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marketplace.visualstudio.com/" TargetMode="External"/><Relationship Id="rId3" Type="http://schemas.openxmlformats.org/officeDocument/2006/relationships/hyperlink" Target="https://en.wikipedia.org/wiki/Google_Chrome" TargetMode="External"/><Relationship Id="rId7" Type="http://schemas.openxmlformats.org/officeDocument/2006/relationships/hyperlink" Target="https://marketplace.visualstudio.com/items?itemName=puppet.puppet-vscode" TargetMode="Externa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support.google.com/chrome/a/answer/2714278?hl=en" TargetMode="External"/><Relationship Id="rId5" Type="http://schemas.openxmlformats.org/officeDocument/2006/relationships/hyperlink" Target="https://github.com/enogrob/chromeapps-puppet" TargetMode="External"/><Relationship Id="rId4" Type="http://schemas.openxmlformats.org/officeDocument/2006/relationships/hyperlink" Target="https://en.wikipedia.org/wiki/Visual_Studio_Code" TargetMode="External"/><Relationship Id="rId9" Type="http://schemas.openxmlformats.org/officeDocument/2006/relationships/image" Target="../media/image14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VVr4rU_9A_w" TargetMode="External"/><Relationship Id="rId13" Type="http://schemas.openxmlformats.org/officeDocument/2006/relationships/image" Target="../media/image98.png"/><Relationship Id="rId3" Type="http://schemas.openxmlformats.org/officeDocument/2006/relationships/hyperlink" Target="https://docs.docker.com/engine/install/" TargetMode="External"/><Relationship Id="rId7" Type="http://schemas.openxmlformats.org/officeDocument/2006/relationships/hyperlink" Target="https://www.puppet-debugger.com/" TargetMode="External"/><Relationship Id="rId12" Type="http://schemas.openxmlformats.org/officeDocument/2006/relationships/hyperlink" Target="https://github.com/rnelson0/awesome-puppet" TargetMode="External"/><Relationship Id="rId2" Type="http://schemas.openxmlformats.org/officeDocument/2006/relationships/hyperlink" Target="https://en.wikipedia.org/wiki/Puppet_(software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nfluence.wrs.com/pages/viewpage.action?pageId=38698781" TargetMode="External"/><Relationship Id="rId11" Type="http://schemas.openxmlformats.org/officeDocument/2006/relationships/hyperlink" Target="https://www.puppetcookbook.com/" TargetMode="External"/><Relationship Id="rId5" Type="http://schemas.openxmlformats.org/officeDocument/2006/relationships/hyperlink" Target="https://forge.puppet.com/" TargetMode="External"/><Relationship Id="rId10" Type="http://schemas.openxmlformats.org/officeDocument/2006/relationships/hyperlink" Target="https://www.youtube.com/user/PuppetLabsInc" TargetMode="External"/><Relationship Id="rId4" Type="http://schemas.openxmlformats.org/officeDocument/2006/relationships/hyperlink" Target="https://puppet.com/learning-training/kits/puppet-language-basics/" TargetMode="External"/><Relationship Id="rId9" Type="http://schemas.openxmlformats.org/officeDocument/2006/relationships/hyperlink" Target="https://www.youtube.com/watch?v=RT_e7kCyCH8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E4E5-B866-744B-BA76-E4115DE2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 Debugger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D1033-C37E-0441-AC23-2DABB43A1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Montserrat"/>
              </a:rPr>
              <a:t>Campinas, 06Mai22</a:t>
            </a:r>
            <a:endParaRPr lang="en-US"/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35D8DEDA-0632-53A9-97D4-9A699638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094" y="3830945"/>
            <a:ext cx="1107689" cy="1008749"/>
          </a:xfrm>
          <a:prstGeom prst="rect">
            <a:avLst/>
          </a:prstGeom>
        </p:spPr>
      </p:pic>
      <p:pic>
        <p:nvPicPr>
          <p:cNvPr id="5" name="Picture 5" descr="Qr code&#10;&#10;Description automatically generated">
            <a:extLst>
              <a:ext uri="{FF2B5EF4-FFF2-40B4-BE49-F238E27FC236}">
                <a16:creationId xmlns:a16="http://schemas.microsoft.com/office/drawing/2014/main" id="{EEED6D6B-5D31-C0FA-C651-4D9284EB2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188" y="254390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14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CD5D-F0C8-4C46-A615-E476A184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C8B4B8-79A1-4B41-8801-39D2A5685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About myself</a:t>
            </a:r>
            <a:endParaRPr lang="en-US"/>
          </a:p>
        </p:txBody>
      </p:sp>
      <p:pic>
        <p:nvPicPr>
          <p:cNvPr id="7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2A1A034-8DB5-3489-0DED-FCD598D91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97" y="1210576"/>
            <a:ext cx="6114472" cy="33438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C6451B-553D-5A54-17BF-3A347B5336C0}"/>
              </a:ext>
            </a:extLst>
          </p:cNvPr>
          <p:cNvSpPr txBox="1"/>
          <p:nvPr/>
        </p:nvSpPr>
        <p:spPr>
          <a:xfrm>
            <a:off x="415060" y="4656089"/>
            <a:ext cx="6245318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Systems Specialist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at Daitan (now </a:t>
            </a:r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Encora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) since 2021. Graduated in Software Engineering and Telecommunications, with more than 25 years of experience in the area and </a:t>
            </a:r>
            <a:r>
              <a:rPr lang="en-US" sz="1400" u="sng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Experienced Integrator certified by </a:t>
            </a:r>
            <a:r>
              <a:rPr lang="en-US" sz="1400" b="1" u="sng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Ericsson</a:t>
            </a:r>
            <a:br>
              <a:rPr lang="en-US" sz="1400" b="1" u="sng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</a:br>
            <a:endParaRPr lang="en-US" sz="1400" b="1" u="sng">
              <a:solidFill>
                <a:schemeClr val="tx1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  <a:p>
            <a:br>
              <a:rPr lang="en-US" sz="1400" b="1" u="sng">
                <a:ea typeface="+mn-lt"/>
                <a:cs typeface="+mn-lt"/>
              </a:rPr>
            </a:b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ea typeface="+mn-lt"/>
                <a:cs typeface="+mn-lt"/>
              </a:rPr>
              <a:t>Email   : 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roberto.nogueira@encora.com</a:t>
            </a:r>
            <a:br>
              <a:rPr lang="en-US" sz="800">
                <a:latin typeface="Consolas"/>
                <a:ea typeface="+mn-lt"/>
                <a:cs typeface="+mn-lt"/>
              </a:rPr>
            </a:b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Consolas"/>
                <a:ea typeface="+mn-lt"/>
                <a:cs typeface="+mn-lt"/>
              </a:rPr>
              <a:t>LinkedIn: </a:t>
            </a:r>
            <a:r>
              <a:rPr lang="en-US" sz="800">
                <a:latin typeface="Consolas"/>
                <a:ea typeface="+mn-lt"/>
                <a:cs typeface="+mn-lt"/>
                <a:hlinkClick r:id="rId4"/>
              </a:rPr>
              <a:t>https://www.linkedin.com/public-profile/settings?trk=d_flagship3_profile_self_view_public_profile</a:t>
            </a:r>
            <a:endParaRPr lang="en-US" sz="800">
              <a:solidFill>
                <a:srgbClr val="7F7F7F"/>
              </a:solidFill>
              <a:latin typeface="Consolas"/>
              <a:ea typeface="+mn-lt"/>
              <a:cs typeface="+mn-lt"/>
            </a:endParaRPr>
          </a:p>
        </p:txBody>
      </p:sp>
      <p:pic>
        <p:nvPicPr>
          <p:cNvPr id="3" name="Picture 4" descr="Qr code&#10;&#10;Description automatically generated">
            <a:extLst>
              <a:ext uri="{FF2B5EF4-FFF2-40B4-BE49-F238E27FC236}">
                <a16:creationId xmlns:a16="http://schemas.microsoft.com/office/drawing/2014/main" id="{F4850598-9189-8A28-311E-B85FF70A4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248" y="369685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9291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CD5D-F0C8-4C46-A615-E476A184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728C7-4E23-0D43-ABBB-743BB6D983E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25780" indent="-342900" fontAlgn="base">
              <a:buAutoNum type="arabicPeriod"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Objective</a:t>
            </a:r>
          </a:p>
          <a:p>
            <a:pPr marL="525780" indent="-342900">
              <a:buAutoNum type="arabicPeriod"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Puppet</a:t>
            </a:r>
          </a:p>
          <a:p>
            <a:pPr marL="525780" indent="-342900">
              <a:buAutoNum type="arabicPeriod"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Puppet Language Basics</a:t>
            </a:r>
          </a:p>
          <a:p>
            <a:pPr marL="525780" indent="-342900">
              <a:buAutoNum type="arabicPeriod"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Puppet Debugger</a:t>
            </a:r>
          </a:p>
          <a:p>
            <a:pPr marL="525780" indent="-342900">
              <a:buAutoNum type="arabicPeriod"/>
            </a:pPr>
            <a:r>
              <a:rPr lang="en-US" err="1">
                <a:solidFill>
                  <a:schemeClr val="bg2">
                    <a:lumMod val="50000"/>
                  </a:schemeClr>
                </a:solidFill>
              </a:rPr>
              <a:t>Pupper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 Debugger Commands</a:t>
            </a:r>
          </a:p>
          <a:p>
            <a:pPr marL="525780" indent="-342900">
              <a:buAutoNum type="arabicPeriod"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Puppet Extensions</a:t>
            </a:r>
          </a:p>
          <a:p>
            <a:pPr marL="525780" indent="-342900">
              <a:buAutoNum type="arabicPeriod"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References</a:t>
            </a:r>
          </a:p>
          <a:p>
            <a:pPr marL="525780" indent="-342900">
              <a:buAutoNum type="arabicPeriod"/>
            </a:pP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C8B4B8-79A1-4B41-8801-39D2A5685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1663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CD5D-F0C8-4C46-A615-E476A184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C8B4B8-79A1-4B41-8801-39D2A5685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Objective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944262-5739-1EC7-58AB-EFCF814AB9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5502" y="1331944"/>
            <a:ext cx="6454690" cy="1259803"/>
          </a:xfrm>
        </p:spPr>
        <p:txBody>
          <a:bodyPr/>
          <a:lstStyle/>
          <a:p>
            <a:pPr marL="182880" indent="0">
              <a:buNone/>
            </a:pPr>
            <a:r>
              <a:rPr lang="en-US"/>
              <a:t>It is to introduce a </a:t>
            </a:r>
            <a:r>
              <a:rPr lang="en-US" b="1">
                <a:hlinkClick r:id="rId2"/>
              </a:rPr>
              <a:t>Pupper Debugger</a:t>
            </a:r>
            <a:r>
              <a:rPr lang="en-US"/>
              <a:t>, a command line tool to help you write, understand, and debug Puppet code. </a:t>
            </a:r>
            <a:br>
              <a:rPr lang="en-US"/>
            </a:br>
            <a:r>
              <a:rPr lang="en-US"/>
              <a:t>In order to achieve that  the Puppet and its language  is revised.</a:t>
            </a:r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7B4624EA-F2DB-9B51-20E7-F37738E98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46" y="2698520"/>
            <a:ext cx="6441687" cy="2994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F25DDA-58C5-3D94-6791-7AC469A76D47}"/>
              </a:ext>
            </a:extLst>
          </p:cNvPr>
          <p:cNvSpPr txBox="1"/>
          <p:nvPr/>
        </p:nvSpPr>
        <p:spPr>
          <a:xfrm>
            <a:off x="254620" y="6062547"/>
            <a:ext cx="6413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  <a:hlinkClick r:id="rId4"/>
              </a:rPr>
              <a:t>Demo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is an Online Puppet Debugger.</a:t>
            </a:r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4" descr="Qr code&#10;&#10;Description automatically generated">
            <a:extLst>
              <a:ext uri="{FF2B5EF4-FFF2-40B4-BE49-F238E27FC236}">
                <a16:creationId xmlns:a16="http://schemas.microsoft.com/office/drawing/2014/main" id="{182D6CAF-0226-92D4-37B8-C25083F13B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2521" y="3681461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732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6FD4DE-99E4-C243-808B-391008D200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sz="4000" b="0">
                <a:latin typeface="Montserrat SemiBold"/>
              </a:rPr>
              <a:t>A command line tool to help you write, understand, and debug </a:t>
            </a:r>
            <a:r>
              <a:rPr lang="en-US" sz="4000" b="0">
                <a:solidFill>
                  <a:srgbClr val="FFC000"/>
                </a:solidFill>
                <a:latin typeface="Montserrat SemiBold"/>
              </a:rPr>
              <a:t>Puppet</a:t>
            </a:r>
            <a:r>
              <a:rPr lang="en-US" sz="4000" b="0">
                <a:latin typeface="Montserrat SemiBold"/>
              </a:rPr>
              <a:t> code</a:t>
            </a:r>
            <a:endParaRPr lang="en-US" sz="4000"/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5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Architecture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506058-F402-38FF-F8AF-DAE747A220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901" y="1397878"/>
            <a:ext cx="6454690" cy="1265851"/>
          </a:xfrm>
        </p:spPr>
        <p:txBody>
          <a:bodyPr/>
          <a:lstStyle/>
          <a:p>
            <a:pPr marL="182880" indent="0">
              <a:buNone/>
            </a:pPr>
            <a:r>
              <a:rPr lang="en-US" b="1">
                <a:hlinkClick r:id="rId2"/>
              </a:rPr>
              <a:t>Puppet</a:t>
            </a:r>
            <a:r>
              <a:rPr lang="en-US"/>
              <a:t> is a </a:t>
            </a:r>
            <a:r>
              <a:rPr lang="en-US">
                <a:hlinkClick r:id="rId3"/>
              </a:rPr>
              <a:t>software configuration management</a:t>
            </a:r>
            <a:r>
              <a:rPr lang="en-US"/>
              <a:t> tool which includes its own </a:t>
            </a:r>
            <a:r>
              <a:rPr lang="en-US">
                <a:hlinkClick r:id="rId4"/>
              </a:rPr>
              <a:t>declarative language</a:t>
            </a:r>
            <a:r>
              <a:rPr lang="en-US"/>
              <a:t> to describe </a:t>
            </a:r>
            <a:r>
              <a:rPr lang="en-US">
                <a:hlinkClick r:id="rId5"/>
              </a:rPr>
              <a:t>system configuration</a:t>
            </a:r>
            <a:r>
              <a:rPr lang="en-US"/>
              <a:t>. </a:t>
            </a:r>
            <a:endParaRPr lang="en-US" baseline="30000"/>
          </a:p>
        </p:txBody>
      </p:sp>
      <p:pic>
        <p:nvPicPr>
          <p:cNvPr id="3" name="Picture 4" descr="A picture containing timeline&#10;&#10;Description automatically generated">
            <a:extLst>
              <a:ext uri="{FF2B5EF4-FFF2-40B4-BE49-F238E27FC236}">
                <a16:creationId xmlns:a16="http://schemas.microsoft.com/office/drawing/2014/main" id="{35E2764D-4DB0-4A7B-502B-DB707CBE1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24" y="2555919"/>
            <a:ext cx="5416247" cy="4080544"/>
          </a:xfrm>
          <a:prstGeom prst="rect">
            <a:avLst/>
          </a:prstGeom>
        </p:spPr>
      </p:pic>
      <p:pic>
        <p:nvPicPr>
          <p:cNvPr id="7" name="Picture 7" descr="Qr code&#10;&#10;Description automatically generated">
            <a:extLst>
              <a:ext uri="{FF2B5EF4-FFF2-40B4-BE49-F238E27FC236}">
                <a16:creationId xmlns:a16="http://schemas.microsoft.com/office/drawing/2014/main" id="{06DAE6BE-A6CC-1F6C-E53A-FDCCF394C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3248" y="365837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4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0182-83F2-45B9-5F89-3DA7445E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A7E3A21-147C-5946-3689-842BF12E8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Installation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0F29E-1A55-8A5A-5181-E1D6104B8E46}"/>
              </a:ext>
            </a:extLst>
          </p:cNvPr>
          <p:cNvSpPr txBox="1"/>
          <p:nvPr/>
        </p:nvSpPr>
        <p:spPr>
          <a:xfrm>
            <a:off x="3200400" y="281555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7B6AAEC-BA6E-7ADF-288E-5ED8B76A8A7C}"/>
              </a:ext>
            </a:extLst>
          </p:cNvPr>
          <p:cNvSpPr txBox="1">
            <a:spLocks/>
          </p:cNvSpPr>
          <p:nvPr/>
        </p:nvSpPr>
        <p:spPr>
          <a:xfrm>
            <a:off x="346097" y="1797864"/>
            <a:ext cx="6411908" cy="23534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$ docker run --name=debian11 -t -</a:t>
            </a:r>
            <a:r>
              <a:rPr lang="en-US" sz="1200" err="1">
                <a:solidFill>
                  <a:schemeClr val="bg1"/>
                </a:solidFill>
              </a:rPr>
              <a:t>i</a:t>
            </a:r>
            <a:r>
              <a:rPr lang="en-US" sz="1200">
                <a:solidFill>
                  <a:schemeClr val="bg1"/>
                </a:solidFill>
              </a:rPr>
              <a:t> --rm debian:11 bash</a:t>
            </a:r>
            <a:br>
              <a:rPr lang="en-US" sz="1200">
                <a:solidFill>
                  <a:schemeClr val="bg1"/>
                </a:solidFill>
              </a:rPr>
            </a:b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update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apt install </a:t>
            </a:r>
            <a:r>
              <a:rPr lang="en-US" sz="1200" err="1">
                <a:solidFill>
                  <a:schemeClr val="bg1"/>
                </a:solidFill>
              </a:rPr>
              <a:t>systemctl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wget</a:t>
            </a:r>
            <a:r>
              <a:rPr lang="en-US" sz="1200">
                <a:solidFill>
                  <a:schemeClr val="bg1"/>
                </a:solidFill>
              </a:rPr>
              <a:t> </a:t>
            </a:r>
            <a:r>
              <a:rPr lang="en-US" sz="1200" err="1">
                <a:solidFill>
                  <a:schemeClr val="bg1"/>
                </a:solidFill>
              </a:rPr>
              <a:t>lsb</a:t>
            </a:r>
            <a:r>
              <a:rPr lang="en-US" sz="1200">
                <a:solidFill>
                  <a:schemeClr val="bg1"/>
                </a:solidFill>
              </a:rPr>
              <a:t>-release -y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</a:t>
            </a:r>
            <a:r>
              <a:rPr lang="en-US" sz="1200" err="1">
                <a:solidFill>
                  <a:schemeClr val="bg1"/>
                </a:solidFill>
              </a:rPr>
              <a:t>wget</a:t>
            </a:r>
            <a:r>
              <a:rPr lang="en-US" sz="1200">
                <a:solidFill>
                  <a:schemeClr val="bg1"/>
                </a:solidFill>
              </a:rPr>
              <a:t> </a:t>
            </a:r>
            <a:r>
              <a:rPr lang="en-US" sz="1200" u="sng">
                <a:solidFill>
                  <a:schemeClr val="accent5">
                    <a:lumMod val="60000"/>
                    <a:lumOff val="40000"/>
                  </a:schemeClr>
                </a:solidFill>
              </a:rPr>
              <a:t>https://apt.puppetlabs.com/puppet7-release-bionic.deb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</a:t>
            </a:r>
            <a:r>
              <a:rPr lang="en-US" sz="1200" err="1">
                <a:solidFill>
                  <a:schemeClr val="bg1"/>
                </a:solidFill>
              </a:rPr>
              <a:t>dpkg</a:t>
            </a:r>
            <a:r>
              <a:rPr lang="en-US" sz="1200">
                <a:solidFill>
                  <a:schemeClr val="bg1"/>
                </a:solidFill>
              </a:rPr>
              <a:t> -</a:t>
            </a:r>
            <a:r>
              <a:rPr lang="en-US" sz="1200" err="1">
                <a:solidFill>
                  <a:schemeClr val="bg1"/>
                </a:solidFill>
              </a:rPr>
              <a:t>i</a:t>
            </a:r>
            <a:r>
              <a:rPr lang="en-US" sz="1200">
                <a:solidFill>
                  <a:schemeClr val="bg1"/>
                </a:solidFill>
              </a:rPr>
              <a:t> puppet7-release-bionic.deb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apt update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apt-get install puppet-agent -y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echo </a:t>
            </a:r>
            <a:r>
              <a:rPr lang="en-US" sz="1200">
                <a:solidFill>
                  <a:srgbClr val="00B050"/>
                </a:solidFill>
              </a:rPr>
              <a:t>'export PATH=$PATH:/opt/</a:t>
            </a:r>
            <a:r>
              <a:rPr lang="en-US" sz="1200" err="1">
                <a:solidFill>
                  <a:srgbClr val="00B050"/>
                </a:solidFill>
              </a:rPr>
              <a:t>puppetlabs</a:t>
            </a:r>
            <a:r>
              <a:rPr lang="en-US" sz="1200">
                <a:solidFill>
                  <a:srgbClr val="00B050"/>
                </a:solidFill>
              </a:rPr>
              <a:t>/puppet/bin'</a:t>
            </a:r>
            <a:r>
              <a:rPr lang="en-US" sz="1200">
                <a:solidFill>
                  <a:schemeClr val="bg1"/>
                </a:solidFill>
              </a:rPr>
              <a:t> &gt;&gt; ~/.</a:t>
            </a:r>
            <a:r>
              <a:rPr lang="en-US" sz="1200" err="1">
                <a:solidFill>
                  <a:schemeClr val="bg1"/>
                </a:solidFill>
              </a:rPr>
              <a:t>bashrc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source ~/.</a:t>
            </a:r>
            <a:r>
              <a:rPr lang="en-US" sz="1200" err="1">
                <a:solidFill>
                  <a:schemeClr val="bg1"/>
                </a:solidFill>
              </a:rPr>
              <a:t>bashrc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$ gem install --no-document puppet-debugger</a:t>
            </a:r>
          </a:p>
          <a:p>
            <a:pPr marL="182880" indent="0">
              <a:buNone/>
            </a:pPr>
            <a:br>
              <a:rPr lang="en-US">
                <a:solidFill>
                  <a:srgbClr val="00B050"/>
                </a:solidFill>
              </a:rPr>
            </a:br>
            <a:endParaRPr lang="en-US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DCB31-BEFB-55AE-63A4-D2F97C3BE596}"/>
              </a:ext>
            </a:extLst>
          </p:cNvPr>
          <p:cNvSpPr txBox="1"/>
          <p:nvPr/>
        </p:nvSpPr>
        <p:spPr>
          <a:xfrm>
            <a:off x="299804" y="1426045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Install Puppet and Puppet Debugger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DE8A291-10AE-DA93-316A-BC504A0070E1}"/>
              </a:ext>
            </a:extLst>
          </p:cNvPr>
          <p:cNvSpPr txBox="1">
            <a:spLocks/>
          </p:cNvSpPr>
          <p:nvPr/>
        </p:nvSpPr>
        <p:spPr>
          <a:xfrm>
            <a:off x="346097" y="4693897"/>
            <a:ext cx="6383466" cy="13248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182880" indent="0">
              <a:buNone/>
            </a:pPr>
            <a:r>
              <a:rPr lang="en-US" sz="1200">
                <a:solidFill>
                  <a:srgbClr val="92D050"/>
                </a:solidFill>
              </a:rPr>
              <a:t># print puppet configuration, usually has to be execute with </a:t>
            </a:r>
            <a:r>
              <a:rPr lang="en-US" sz="1200" err="1">
                <a:solidFill>
                  <a:srgbClr val="92D050"/>
                </a:solidFill>
              </a:rPr>
              <a:t>sudo</a:t>
            </a:r>
            <a:br>
              <a:rPr lang="en-US" sz="1200"/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config print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   :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# set log level to debug, usually has to be execute with </a:t>
            </a:r>
            <a:r>
              <a:rPr lang="en-US" sz="1200" err="1">
                <a:solidFill>
                  <a:srgbClr val="92D050"/>
                </a:solidFill>
              </a:rPr>
              <a:t>sudo</a:t>
            </a:r>
            <a:br>
              <a:rPr lang="en-US" sz="1200"/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config set </a:t>
            </a:r>
            <a:r>
              <a:rPr lang="en-US" sz="1200" err="1">
                <a:solidFill>
                  <a:schemeClr val="bg1">
                    <a:lumMod val="95000"/>
                  </a:schemeClr>
                </a:solidFill>
              </a:rPr>
              <a:t>log_level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 debug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   :</a:t>
            </a:r>
            <a:br>
              <a:rPr lang="en-US" sz="1200"/>
            </a:br>
            <a:endParaRPr lang="en-US" b="1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C4014-92C5-BDEB-A337-994D4F575DB3}"/>
              </a:ext>
            </a:extLst>
          </p:cNvPr>
          <p:cNvSpPr txBox="1"/>
          <p:nvPr/>
        </p:nvSpPr>
        <p:spPr>
          <a:xfrm>
            <a:off x="261319" y="4327803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Puppet relevant commands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FD38B3-817B-C1C6-ED3D-989522961C1F}"/>
              </a:ext>
            </a:extLst>
          </p:cNvPr>
          <p:cNvSpPr txBox="1"/>
          <p:nvPr/>
        </p:nvSpPr>
        <p:spPr>
          <a:xfrm>
            <a:off x="230530" y="6128893"/>
            <a:ext cx="64669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In order to install 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Puppet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the way it is described here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is required see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Ref.1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for further installation.</a:t>
            </a:r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733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AEB98-04EC-3F49-BBF9-6FB184058F3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indent="-264795" fontAlgn="base"/>
            <a:r>
              <a:rPr lang="en-US">
                <a:solidFill>
                  <a:schemeClr val="bg2">
                    <a:lumMod val="50000"/>
                  </a:schemeClr>
                </a:solidFill>
              </a:rPr>
              <a:t>Introduction</a:t>
            </a:r>
          </a:p>
          <a:p>
            <a:pPr indent="-264795" fontAlgn="base"/>
            <a:r>
              <a:rPr lang="en-US">
                <a:solidFill>
                  <a:schemeClr val="bg2">
                    <a:lumMod val="50000"/>
                  </a:schemeClr>
                </a:solidFill>
              </a:rPr>
              <a:t>Resources</a:t>
            </a:r>
            <a:endParaRPr lang="en-US" b="1">
              <a:solidFill>
                <a:schemeClr val="bg2">
                  <a:lumMod val="50000"/>
                </a:schemeClr>
              </a:solidFill>
            </a:endParaRPr>
          </a:p>
          <a:p>
            <a:pPr indent="-264795"/>
            <a:r>
              <a:rPr lang="en-US">
                <a:solidFill>
                  <a:schemeClr val="bg2">
                    <a:lumMod val="50000"/>
                  </a:schemeClr>
                </a:solidFill>
              </a:rPr>
              <a:t>Classes</a:t>
            </a:r>
            <a:endParaRPr lang="en-US" b="1">
              <a:solidFill>
                <a:schemeClr val="bg2">
                  <a:lumMod val="50000"/>
                </a:schemeClr>
              </a:solidFill>
            </a:endParaRPr>
          </a:p>
          <a:p>
            <a:pPr indent="-264795"/>
            <a:r>
              <a:rPr lang="en-US">
                <a:solidFill>
                  <a:schemeClr val="bg2">
                    <a:lumMod val="50000"/>
                  </a:schemeClr>
                </a:solidFill>
              </a:rPr>
              <a:t>Modules</a:t>
            </a:r>
            <a:endParaRPr lang="en-US" b="1">
              <a:solidFill>
                <a:schemeClr val="bg2">
                  <a:lumMod val="50000"/>
                </a:schemeClr>
              </a:solidFill>
            </a:endParaRPr>
          </a:p>
          <a:p>
            <a:pPr indent="-264795"/>
            <a:r>
              <a:rPr lang="en-US">
                <a:solidFill>
                  <a:schemeClr val="bg2">
                    <a:lumMod val="50000"/>
                  </a:schemeClr>
                </a:solidFill>
              </a:rPr>
              <a:t>Variables</a:t>
            </a:r>
          </a:p>
          <a:p>
            <a:pPr indent="-264795"/>
            <a:r>
              <a:rPr lang="en-US" err="1">
                <a:solidFill>
                  <a:schemeClr val="bg2">
                    <a:lumMod val="50000"/>
                  </a:schemeClr>
                </a:solidFill>
              </a:rPr>
              <a:t>Metaparameters</a:t>
            </a:r>
            <a:endParaRPr lang="en-US">
              <a:solidFill>
                <a:schemeClr val="bg2">
                  <a:lumMod val="50000"/>
                </a:schemeClr>
              </a:solidFill>
            </a:endParaRPr>
          </a:p>
          <a:p>
            <a:pPr indent="-264795"/>
            <a:endParaRPr lang="en-US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/>
          </a:p>
          <a:p>
            <a:pPr indent="-264795" fontAlgn="base"/>
            <a:endParaRPr lang="en-US"/>
          </a:p>
          <a:p>
            <a:pPr indent="-264795"/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Puppet Language Basics </a:t>
            </a:r>
          </a:p>
        </p:txBody>
      </p:sp>
    </p:spTree>
    <p:extLst>
      <p:ext uri="{BB962C8B-B14F-4D97-AF65-F5344CB8AC3E}">
        <p14:creationId xmlns:p14="http://schemas.microsoft.com/office/powerpoint/2010/main" val="2061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AEB98-04EC-3F49-BBF9-6FB184058F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901" y="1361593"/>
            <a:ext cx="6454690" cy="3188994"/>
          </a:xfrm>
        </p:spPr>
        <p:txBody>
          <a:bodyPr/>
          <a:lstStyle/>
          <a:p>
            <a:pPr marL="182880" indent="0" fontAlgn="base">
              <a:buNone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Puppet consists of a custom </a:t>
            </a:r>
            <a:r>
              <a:rPr lang="en-US" b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declarative language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 to describe system configuration, which can be either applied directly on the system, or compiled into a catalog and distributed to the target system via </a:t>
            </a:r>
            <a:r>
              <a:rPr lang="en-US" b="1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client–server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b="1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paradigm</a:t>
            </a:r>
            <a:r>
              <a:rPr lang="en-US">
                <a:solidFill>
                  <a:schemeClr val="accent1"/>
                </a:solidFill>
              </a:rPr>
              <a:t> 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(using a </a:t>
            </a:r>
            <a:r>
              <a:rPr lang="en-US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 API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), and the agent uses system specific </a:t>
            </a:r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providers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 to enforce the resource specified in the manifests. The resource abstraction layer enables administrators to describe the configuration in high-level terms, such as users, services and packages without the need to specify OS specific commands (such as </a:t>
            </a:r>
            <a:r>
              <a:rPr lang="en-US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rpm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, </a:t>
            </a:r>
            <a:r>
              <a:rPr lang="en-US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yum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, </a:t>
            </a:r>
            <a:r>
              <a:rPr lang="en-US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apt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).</a:t>
            </a:r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/>
          </a:p>
          <a:p>
            <a:pPr indent="-264795" fontAlgn="base"/>
            <a:endParaRPr lang="en-US"/>
          </a:p>
          <a:p>
            <a:pPr indent="-264795"/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pic>
        <p:nvPicPr>
          <p:cNvPr id="6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ECCE263-9F5F-D866-5F2D-B5B6C00EAC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24" y="4790506"/>
            <a:ext cx="6141961" cy="1800607"/>
          </a:xfrm>
          <a:prstGeom prst="rect">
            <a:avLst/>
          </a:prstGeom>
        </p:spPr>
      </p:pic>
      <p:pic>
        <p:nvPicPr>
          <p:cNvPr id="5" name="Picture 6" descr="Qr code&#10;&#10;Description automatically generated">
            <a:extLst>
              <a:ext uri="{FF2B5EF4-FFF2-40B4-BE49-F238E27FC236}">
                <a16:creationId xmlns:a16="http://schemas.microsoft.com/office/drawing/2014/main" id="{2833D40A-4695-21C7-B9F2-6C258A41C8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8891" y="3667664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0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Resources 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82D38E-A69D-AD67-7B35-4D8E00B6F6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16186" y="1361593"/>
            <a:ext cx="6551451" cy="1568232"/>
          </a:xfrm>
        </p:spPr>
        <p:txBody>
          <a:bodyPr/>
          <a:lstStyle/>
          <a:p>
            <a:pPr marL="182880" indent="0">
              <a:buNone/>
            </a:pPr>
            <a:r>
              <a:rPr lang="en-US"/>
              <a:t>Are the fundamental</a:t>
            </a:r>
            <a:r>
              <a:rPr lang="en-US" b="1"/>
              <a:t> building blocks</a:t>
            </a:r>
            <a:r>
              <a:rPr lang="en-US"/>
              <a:t> of the Puppet Language. </a:t>
            </a:r>
          </a:p>
          <a:p>
            <a:pPr marL="182880" indent="0">
              <a:buNone/>
            </a:pPr>
            <a:r>
              <a:rPr lang="en-US"/>
              <a:t>Is characteristic of a </a:t>
            </a:r>
            <a:r>
              <a:rPr lang="en-US" b="1"/>
              <a:t>node</a:t>
            </a:r>
            <a:r>
              <a:rPr lang="en-US"/>
              <a:t> that needs to be managed overtime.</a:t>
            </a:r>
          </a:p>
          <a:p>
            <a:pPr indent="-264795"/>
            <a:endParaRPr lang="en-US"/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9D60D15D-04F9-5803-0F1B-04F5ACD5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7" y="2827345"/>
            <a:ext cx="5476723" cy="29329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3B89AF-A0C7-56E1-2911-98ED735D47CE}"/>
              </a:ext>
            </a:extLst>
          </p:cNvPr>
          <p:cNvSpPr txBox="1"/>
          <p:nvPr/>
        </p:nvSpPr>
        <p:spPr>
          <a:xfrm>
            <a:off x="515257" y="6006495"/>
            <a:ext cx="62629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Resorces Types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 are e.g. User, Package and Service.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62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DD57-35DF-AE40-8A5A-BB8E7738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BC5-E7E5-22AF-0C56-F1B90B1D8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FB37807-20C0-9F17-93A7-C171092B9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92" y="3857173"/>
            <a:ext cx="3814313" cy="2231279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A53D41D-0D2B-A275-1621-D718D3C15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92" y="2337335"/>
            <a:ext cx="3037585" cy="945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92190-F009-EE71-0853-75FA98F0C1B6}"/>
              </a:ext>
            </a:extLst>
          </p:cNvPr>
          <p:cNvSpPr txBox="1"/>
          <p:nvPr/>
        </p:nvSpPr>
        <p:spPr>
          <a:xfrm>
            <a:off x="346143" y="1544373"/>
            <a:ext cx="65675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Resource Declaration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  adds a resource to the catalog and tells Puppet to manage that resource state.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2159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Resources Examples in Debian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9CB9B-4489-5928-0501-A61322B104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1828" y="1960341"/>
            <a:ext cx="6411908" cy="1108841"/>
          </a:xfrm>
          <a:solidFill>
            <a:schemeClr val="tx1"/>
          </a:solidFill>
        </p:spPr>
        <p:txBody>
          <a:bodyPr/>
          <a:lstStyle/>
          <a:p>
            <a:pPr marL="182880" indent="0">
              <a:buNone/>
            </a:pPr>
            <a:r>
              <a:rPr lang="en-US" sz="1200">
                <a:solidFill>
                  <a:srgbClr val="FFFFFF"/>
                </a:solidFill>
              </a:rPr>
              <a:t>$ puppet resource --</a:t>
            </a:r>
            <a:r>
              <a:rPr lang="en-US" sz="1200" err="1">
                <a:solidFill>
                  <a:srgbClr val="FFFFFF"/>
                </a:solidFill>
              </a:rPr>
              <a:t>types</a:t>
            </a:r>
            <a:r>
              <a:rPr lang="en-US" sz="1200" err="1"/>
              <a:t>add</a:t>
            </a:r>
            <a:r>
              <a:rPr lang="en-US" sz="1200"/>
              <a:t> 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: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file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package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:</a:t>
            </a:r>
            <a:br>
              <a:rPr lang="en-US" sz="1200"/>
            </a:br>
            <a:br>
              <a:rPr lang="en-US">
                <a:solidFill>
                  <a:srgbClr val="FFFFFF"/>
                </a:solidFill>
              </a:rPr>
            </a:br>
            <a:br>
              <a:rPr lang="en-US">
                <a:solidFill>
                  <a:srgbClr val="FFFFFF"/>
                </a:solidFill>
              </a:rPr>
            </a:b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1944B-45AA-9129-4B30-1AF400557EC4}"/>
              </a:ext>
            </a:extLst>
          </p:cNvPr>
          <p:cNvSpPr txBox="1"/>
          <p:nvPr/>
        </p:nvSpPr>
        <p:spPr>
          <a:xfrm>
            <a:off x="353683" y="1587682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Check the existent resources types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65ACBCF-75FD-7DD5-E0F9-994F5CBCC9EF}"/>
              </a:ext>
            </a:extLst>
          </p:cNvPr>
          <p:cNvSpPr txBox="1">
            <a:spLocks/>
          </p:cNvSpPr>
          <p:nvPr/>
        </p:nvSpPr>
        <p:spPr>
          <a:xfrm>
            <a:off x="415370" y="3560471"/>
            <a:ext cx="6411908" cy="31462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182880" indent="0">
              <a:buNone/>
            </a:pPr>
            <a:r>
              <a:rPr lang="en-US" sz="1200">
                <a:solidFill>
                  <a:schemeClr val="bg1"/>
                </a:solidFill>
              </a:rPr>
              <a:t>$ puppet resource file '/</a:t>
            </a:r>
            <a:r>
              <a:rPr lang="en-US" sz="1200" err="1">
                <a:solidFill>
                  <a:schemeClr val="bg1"/>
                </a:solidFill>
              </a:rPr>
              <a:t>etc</a:t>
            </a:r>
            <a:r>
              <a:rPr lang="en-US" sz="1200">
                <a:solidFill>
                  <a:schemeClr val="bg1"/>
                </a:solidFill>
              </a:rPr>
              <a:t>/hosts'</a:t>
            </a:r>
            <a:br>
              <a:rPr lang="en-US" sz="1200">
                <a:solidFill>
                  <a:schemeClr val="bg1"/>
                </a:solidFill>
              </a:rPr>
            </a:br>
            <a:r>
              <a:rPr lang="en-US" sz="1200">
                <a:solidFill>
                  <a:schemeClr val="bg1"/>
                </a:solidFill>
              </a:rPr>
              <a:t>: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file { '/</a:t>
            </a:r>
            <a:r>
              <a:rPr lang="en-US" sz="1200" err="1">
                <a:solidFill>
                  <a:srgbClr val="92D050"/>
                </a:solidFill>
              </a:rPr>
              <a:t>etc</a:t>
            </a:r>
            <a:r>
              <a:rPr lang="en-US" sz="1200">
                <a:solidFill>
                  <a:srgbClr val="92D050"/>
                </a:solidFill>
              </a:rPr>
              <a:t>/hosts':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ensure   =&gt; 'file',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content  =&gt; '{sha256}674a2d0859a6ed81ce1e3513f6ee1f710b47c3b97301b284124d5b95cf566b47',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</a:t>
            </a:r>
            <a:r>
              <a:rPr lang="en-US" sz="1200" err="1">
                <a:solidFill>
                  <a:srgbClr val="92D050"/>
                </a:solidFill>
              </a:rPr>
              <a:t>ctime</a:t>
            </a:r>
            <a:r>
              <a:rPr lang="en-US" sz="1200">
                <a:solidFill>
                  <a:srgbClr val="92D050"/>
                </a:solidFill>
              </a:rPr>
              <a:t>    =&gt; '2022-05-21 12:17:40 +0000',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group    =&gt; 0,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mode     =&gt; '0644',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</a:t>
            </a:r>
            <a:r>
              <a:rPr lang="en-US" sz="1200" err="1">
                <a:solidFill>
                  <a:srgbClr val="92D050"/>
                </a:solidFill>
              </a:rPr>
              <a:t>mtime</a:t>
            </a:r>
            <a:r>
              <a:rPr lang="en-US" sz="1200">
                <a:solidFill>
                  <a:srgbClr val="92D050"/>
                </a:solidFill>
              </a:rPr>
              <a:t>    =&gt; '2022-05-21 12:17:40 +0000',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owner    =&gt; 0,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provider =&gt; '</a:t>
            </a:r>
            <a:r>
              <a:rPr lang="en-US" sz="1200" err="1">
                <a:solidFill>
                  <a:srgbClr val="92D050"/>
                </a:solidFill>
              </a:rPr>
              <a:t>posix</a:t>
            </a:r>
            <a:r>
              <a:rPr lang="en-US" sz="1200">
                <a:solidFill>
                  <a:srgbClr val="92D050"/>
                </a:solidFill>
              </a:rPr>
              <a:t>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type     =&gt; 'file',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}</a:t>
            </a:r>
            <a:br>
              <a:rPr lang="en-US" sz="1200">
                <a:solidFill>
                  <a:srgbClr val="00B050"/>
                </a:solidFill>
              </a:rPr>
            </a:br>
            <a:br>
              <a:rPr lang="en-US">
                <a:solidFill>
                  <a:srgbClr val="00B050"/>
                </a:solidFill>
              </a:rPr>
            </a:br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74A3A-3DDE-2A3A-7009-D318B751A585}"/>
              </a:ext>
            </a:extLst>
          </p:cNvPr>
          <p:cNvSpPr txBox="1"/>
          <p:nvPr/>
        </p:nvSpPr>
        <p:spPr>
          <a:xfrm>
            <a:off x="353682" y="3186022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Check the existent resources 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cs typeface="Calibri"/>
              </a:rPr>
              <a:t>file </a:t>
            </a:r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260218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Resources Examples in Debian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9CB9B-4489-5928-0501-A61322B104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1828" y="1960341"/>
            <a:ext cx="6291103" cy="2131035"/>
          </a:xfrm>
          <a:solidFill>
            <a:schemeClr val="tx1"/>
          </a:solidFill>
        </p:spPr>
        <p:txBody>
          <a:bodyPr/>
          <a:lstStyle/>
          <a:p>
            <a:pPr marL="182880" indent="0"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service --status-all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 </a:t>
            </a:r>
            <a:r>
              <a:rPr lang="en-US" sz="1200">
                <a:solidFill>
                  <a:srgbClr val="92D050"/>
                </a:solidFill>
              </a:rPr>
              <a:t>[ ? ]  hwclock.sh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[ - ]  </a:t>
            </a:r>
            <a:r>
              <a:rPr lang="en-US" sz="1200" err="1">
                <a:solidFill>
                  <a:srgbClr val="92D050"/>
                </a:solidFill>
              </a:rPr>
              <a:t>procps</a:t>
            </a:r>
            <a:endParaRPr lang="en-US">
              <a:solidFill>
                <a:srgbClr val="92D050"/>
              </a:solidFill>
            </a:endParaRPr>
          </a:p>
          <a:p>
            <a:pPr marL="182880" indent="0"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resource service '</a:t>
            </a:r>
            <a:r>
              <a:rPr lang="en-US" sz="1200" err="1">
                <a:solidFill>
                  <a:schemeClr val="bg1">
                    <a:lumMod val="95000"/>
                  </a:schemeClr>
                </a:solidFill>
              </a:rPr>
              <a:t>procps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'</a:t>
            </a: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service { '</a:t>
            </a:r>
            <a:r>
              <a:rPr lang="en-US" sz="1200" err="1">
                <a:solidFill>
                  <a:srgbClr val="92D050"/>
                </a:solidFill>
              </a:rPr>
              <a:t>procps</a:t>
            </a:r>
            <a:r>
              <a:rPr lang="en-US" sz="1200">
                <a:solidFill>
                  <a:srgbClr val="92D050"/>
                </a:solidFill>
              </a:rPr>
              <a:t>':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ensure   =&gt; 'running',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enable   =&gt; 'false',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provider =&gt; '</a:t>
            </a:r>
            <a:r>
              <a:rPr lang="en-US" sz="1200" err="1">
                <a:solidFill>
                  <a:srgbClr val="92D050"/>
                </a:solidFill>
              </a:rPr>
              <a:t>debian</a:t>
            </a:r>
            <a:r>
              <a:rPr lang="en-US" sz="1200">
                <a:solidFill>
                  <a:srgbClr val="92D050"/>
                </a:solidFill>
              </a:rPr>
              <a:t>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}</a:t>
            </a:r>
            <a:br>
              <a:rPr lang="en-US" sz="1200"/>
            </a:br>
            <a:br>
              <a:rPr lang="en-US" sz="1200"/>
            </a:br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1944B-45AA-9129-4B30-1AF400557EC4}"/>
              </a:ext>
            </a:extLst>
          </p:cNvPr>
          <p:cNvSpPr txBox="1"/>
          <p:nvPr/>
        </p:nvSpPr>
        <p:spPr>
          <a:xfrm>
            <a:off x="353683" y="1587682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Check the existent resource 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cs typeface="Calibri"/>
              </a:rPr>
              <a:t>service </a:t>
            </a:r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type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65ACBCF-75FD-7DD5-E0F9-994F5CBCC9EF}"/>
              </a:ext>
            </a:extLst>
          </p:cNvPr>
          <p:cNvSpPr txBox="1">
            <a:spLocks/>
          </p:cNvSpPr>
          <p:nvPr/>
        </p:nvSpPr>
        <p:spPr>
          <a:xfrm>
            <a:off x="415370" y="4647715"/>
            <a:ext cx="6291103" cy="13248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182880" indent="0"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resource package 'tree' ensure=present</a:t>
            </a:r>
            <a:br>
              <a:rPr lang="en-US" sz="1200"/>
            </a:br>
            <a:r>
              <a:rPr lang="en-US" sz="1200" b="1">
                <a:solidFill>
                  <a:srgbClr val="92D050"/>
                </a:solidFill>
              </a:rPr>
              <a:t>Notice: /Package[tree]/ensure: created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package { 'tree':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ensure   =&gt; 'purged',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  provider =&gt; 'apt',</a:t>
            </a:r>
            <a:br>
              <a:rPr lang="en-US" sz="1200">
                <a:solidFill>
                  <a:srgbClr val="92D050"/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}</a:t>
            </a:r>
            <a:br>
              <a:rPr lang="en-US" sz="1200">
                <a:solidFill>
                  <a:srgbClr val="92D050"/>
                </a:solidFill>
              </a:rPr>
            </a:br>
            <a:endParaRPr lang="en-US" b="1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74A3A-3DDE-2A3A-7009-D318B751A585}"/>
              </a:ext>
            </a:extLst>
          </p:cNvPr>
          <p:cNvSpPr txBox="1"/>
          <p:nvPr/>
        </p:nvSpPr>
        <p:spPr>
          <a:xfrm>
            <a:off x="325804" y="4273266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Installing a resources 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cs typeface="Calibri"/>
              </a:rPr>
              <a:t>package </a:t>
            </a:r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82B0A-857C-F5A9-701B-CA5284D0FFF2}"/>
              </a:ext>
            </a:extLst>
          </p:cNvPr>
          <p:cNvSpPr txBox="1"/>
          <p:nvPr/>
        </p:nvSpPr>
        <p:spPr>
          <a:xfrm>
            <a:off x="347546" y="6127595"/>
            <a:ext cx="62837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See also in 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of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Puppet Language Basics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in Puppet channel in YouTube and homepage.</a:t>
            </a:r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54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Classes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49CB9B-4489-5928-0501-A61322B104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507" y="1457255"/>
            <a:ext cx="6454690" cy="1279046"/>
          </a:xfrm>
        </p:spPr>
        <p:txBody>
          <a:bodyPr/>
          <a:lstStyle/>
          <a:p>
            <a:pPr marL="182880" indent="0">
              <a:buNone/>
            </a:pPr>
            <a:r>
              <a:rPr lang="en-US" b="1"/>
              <a:t>Multiple Puppet Resources</a:t>
            </a:r>
            <a:r>
              <a:rPr lang="en-US"/>
              <a:t> can be collected and distributed together using </a:t>
            </a:r>
            <a:r>
              <a:rPr lang="en-US" b="1"/>
              <a:t>Classes</a:t>
            </a:r>
            <a:r>
              <a:rPr lang="en-US"/>
              <a:t>, by combining Resources into a Class. A Class can configure a </a:t>
            </a:r>
            <a:r>
              <a:rPr lang="en-US" u="sng">
                <a:solidFill>
                  <a:schemeClr val="accent1"/>
                </a:solidFill>
              </a:rPr>
              <a:t>large block of functionality</a:t>
            </a:r>
            <a:r>
              <a:rPr lang="en-US"/>
              <a:t>.</a:t>
            </a:r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6E22658A-F463-E31F-FABA-5EBA2A407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1" y="3006391"/>
            <a:ext cx="2843260" cy="2453884"/>
          </a:xfrm>
          <a:prstGeom prst="rect">
            <a:avLst/>
          </a:prstGeom>
        </p:spPr>
      </p:pic>
      <p:pic>
        <p:nvPicPr>
          <p:cNvPr id="5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E812474-5162-C047-D017-D7C2C1560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825" y="3005378"/>
            <a:ext cx="3620654" cy="24405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30FE00-B16D-BEBC-0DEA-27D4AA5FD0EB}"/>
              </a:ext>
            </a:extLst>
          </p:cNvPr>
          <p:cNvSpPr txBox="1"/>
          <p:nvPr/>
        </p:nvSpPr>
        <p:spPr>
          <a:xfrm>
            <a:off x="475673" y="5840460"/>
            <a:ext cx="64223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See also in 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Classes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of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Puppet Language Basics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in Puppet channel in YouTube and homepage. </a:t>
            </a:r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4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Modules 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2B675C-91F3-3251-EF59-3F2AD19CB8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1416" y="1572709"/>
            <a:ext cx="6454690" cy="1309834"/>
          </a:xfrm>
        </p:spPr>
        <p:txBody>
          <a:bodyPr/>
          <a:lstStyle/>
          <a:p>
            <a:pPr marL="182880" indent="0">
              <a:buNone/>
            </a:pPr>
            <a:r>
              <a:rPr lang="en-US" b="1"/>
              <a:t>Modules </a:t>
            </a:r>
            <a:r>
              <a:rPr lang="en-US"/>
              <a:t>are one of the most basic building blocks of the Puppet Language. They are used to manage o specific task or an application such as installing or configuring a piece of software.</a:t>
            </a:r>
            <a:br>
              <a:rPr lang="en-US"/>
            </a:br>
            <a:endParaRPr lang="en-US"/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10D11696-712C-7352-6297-9FFBC9D62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12" y="3271323"/>
            <a:ext cx="4628957" cy="279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7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Modules 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2B675C-91F3-3251-EF59-3F2AD19CB8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6810" y="1387982"/>
            <a:ext cx="6454690" cy="1294440"/>
          </a:xfrm>
        </p:spPr>
        <p:txBody>
          <a:bodyPr/>
          <a:lstStyle/>
          <a:p>
            <a:pPr marL="182880" indent="0">
              <a:buNone/>
            </a:pPr>
            <a:r>
              <a:rPr lang="en-US" b="1"/>
              <a:t>Module</a:t>
            </a:r>
            <a:r>
              <a:rPr lang="en-US"/>
              <a:t> is simply a directory tree that contains the files needed for a given configuration. This directory structure allows nodes to discover and loads Classes, Resources Types and more.</a:t>
            </a:r>
            <a:br>
              <a:rPr lang="en-US"/>
            </a:br>
            <a:endParaRPr 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886738B-46AD-DE4A-CC63-ACF8F35D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20" y="2842121"/>
            <a:ext cx="2173625" cy="2590003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07FFE8A-FC27-8896-1E73-12A74454770C}"/>
              </a:ext>
            </a:extLst>
          </p:cNvPr>
          <p:cNvSpPr txBox="1">
            <a:spLocks/>
          </p:cNvSpPr>
          <p:nvPr/>
        </p:nvSpPr>
        <p:spPr>
          <a:xfrm>
            <a:off x="155271" y="5627472"/>
            <a:ext cx="6454690" cy="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182880" indent="0">
              <a:buNone/>
            </a:pPr>
            <a:r>
              <a:rPr lang="en-US" sz="1400" b="1"/>
              <a:t>module-name</a:t>
            </a:r>
            <a:r>
              <a:rPr lang="en-US" sz="1400"/>
              <a:t> is the name of the top's directory tree. If a Class is defined in a Module you can declare that name in any Manifest. When Puppet Master compiles the catalog it </a:t>
            </a:r>
            <a:r>
              <a:rPr lang="en-US" sz="1400" err="1"/>
              <a:t>wil</a:t>
            </a:r>
            <a:r>
              <a:rPr lang="en-US" sz="1400"/>
              <a:t> dynamic load the Manifest  that contain the Class definition.</a:t>
            </a:r>
          </a:p>
        </p:txBody>
      </p:sp>
    </p:spTree>
    <p:extLst>
      <p:ext uri="{BB962C8B-B14F-4D97-AF65-F5344CB8AC3E}">
        <p14:creationId xmlns:p14="http://schemas.microsoft.com/office/powerpoint/2010/main" val="316991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4766-0CBE-E294-10B3-20A51205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48738-5423-6510-6D52-547BC1BB13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3719" y="1357194"/>
            <a:ext cx="6454690" cy="1340622"/>
          </a:xfrm>
        </p:spPr>
        <p:txBody>
          <a:bodyPr/>
          <a:lstStyle/>
          <a:p>
            <a:pPr marL="182880" indent="0">
              <a:buNone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There are thousand of Modules available for downloading at </a:t>
            </a:r>
            <a:r>
              <a:rPr lang="en-US" b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Puppet Forge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, written by Puppet developers and community members. There are compatible with multi-platforms.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39F6221-B2BA-E2CB-5616-5BE890208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Modules</a:t>
            </a:r>
          </a:p>
        </p:txBody>
      </p:sp>
      <p:pic>
        <p:nvPicPr>
          <p:cNvPr id="5" name="Picture 5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C7D4ABC2-50CA-BC1D-4279-7678EE83D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0" y="2761650"/>
            <a:ext cx="6306896" cy="3536035"/>
          </a:xfrm>
          <a:prstGeom prst="rect">
            <a:avLst/>
          </a:prstGeom>
        </p:spPr>
      </p:pic>
      <p:pic>
        <p:nvPicPr>
          <p:cNvPr id="6" name="Picture 6" descr="Qr code&#10;&#10;Description automatically generated">
            <a:extLst>
              <a:ext uri="{FF2B5EF4-FFF2-40B4-BE49-F238E27FC236}">
                <a16:creationId xmlns:a16="http://schemas.microsoft.com/office/drawing/2014/main" id="{4B88FE19-5DED-4099-9353-98A1EAFD4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248" y="3619885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06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3205-1B35-AF25-6CE8-4B6987E4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343176C-10C9-3F44-4C13-5F54DA117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Modules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98F616-3C13-2F6B-2772-39BE4566BB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1828" y="1960341"/>
            <a:ext cx="6291103" cy="1907823"/>
          </a:xfrm>
          <a:solidFill>
            <a:schemeClr val="tx1"/>
          </a:solidFill>
        </p:spPr>
        <p:txBody>
          <a:bodyPr/>
          <a:lstStyle/>
          <a:p>
            <a:pPr marL="182880" indent="0">
              <a:buNone/>
            </a:pPr>
            <a:br>
              <a:rPr lang="en-US" sz="1200"/>
            </a:br>
            <a:r>
              <a:rPr lang="en-US" sz="1200">
                <a:solidFill>
                  <a:srgbClr val="92D050"/>
                </a:solidFill>
              </a:rPr>
              <a:t># list puppet modules and its path, usually has to be execute with </a:t>
            </a:r>
            <a:r>
              <a:rPr lang="en-US" sz="1200" err="1">
                <a:solidFill>
                  <a:srgbClr val="92D050"/>
                </a:solidFill>
              </a:rPr>
              <a:t>sudo</a:t>
            </a:r>
            <a:r>
              <a:rPr lang="en-US" sz="1200"/>
              <a:t> </a:t>
            </a:r>
            <a:br>
              <a:rPr lang="en-US" sz="1200"/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module list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: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config print </a:t>
            </a:r>
            <a:r>
              <a:rPr lang="en-US" sz="1200" err="1">
                <a:solidFill>
                  <a:schemeClr val="bg1">
                    <a:lumMod val="95000"/>
                  </a:schemeClr>
                </a:solidFill>
              </a:rPr>
              <a:t>modulepath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: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rgbClr val="92D050"/>
                </a:solidFill>
              </a:rPr>
              <a:t># install puppet modules, usually has to be execute with </a:t>
            </a:r>
            <a:r>
              <a:rPr lang="en-US" sz="1200" err="1">
                <a:solidFill>
                  <a:srgbClr val="92D050"/>
                </a:solidFill>
              </a:rPr>
              <a:t>sudo</a:t>
            </a:r>
            <a:r>
              <a:rPr lang="en-US" sz="1200">
                <a:solidFill>
                  <a:srgbClr val="92D050"/>
                </a:solidFill>
              </a:rPr>
              <a:t> 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$ puppet module install </a:t>
            </a:r>
            <a:r>
              <a:rPr lang="en-US" sz="1200" err="1">
                <a:solidFill>
                  <a:schemeClr val="bg1">
                    <a:lumMod val="95000"/>
                  </a:schemeClr>
                </a:solidFill>
              </a:rPr>
              <a:t>stdlib</a:t>
            </a:r>
            <a:br>
              <a:rPr lang="en-US" sz="120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DEB4F-21ED-0F03-BC56-9397B063F908}"/>
              </a:ext>
            </a:extLst>
          </p:cNvPr>
          <p:cNvSpPr txBox="1"/>
          <p:nvPr/>
        </p:nvSpPr>
        <p:spPr>
          <a:xfrm>
            <a:off x="353683" y="1587682"/>
            <a:ext cx="6466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Puppet Module relevant commands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BD06C-296E-FB02-C784-9D1D8767C636}"/>
              </a:ext>
            </a:extLst>
          </p:cNvPr>
          <p:cNvSpPr txBox="1"/>
          <p:nvPr/>
        </p:nvSpPr>
        <p:spPr>
          <a:xfrm>
            <a:off x="353683" y="5913378"/>
            <a:ext cx="64669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50000"/>
                  </a:schemeClr>
                </a:solidFill>
                <a:cs typeface="Calibri"/>
              </a:rPr>
              <a:t>See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also in 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Modules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of </a:t>
            </a:r>
            <a:r>
              <a:rPr lang="en-US" b="1">
                <a:solidFill>
                  <a:schemeClr val="accent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Puppet Language Basics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 </a:t>
            </a:r>
            <a:r>
              <a:rPr lang="en-US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in Puppet channel in YouTube and homepage. </a:t>
            </a:r>
            <a:endParaRPr lang="en-US">
              <a:solidFill>
                <a:schemeClr val="bg2">
                  <a:lumMod val="5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200752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338ADD-1F34-9296-E97A-496A64FE40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7598" y="1434164"/>
            <a:ext cx="6454690" cy="755652"/>
          </a:xfrm>
        </p:spPr>
        <p:txBody>
          <a:bodyPr/>
          <a:lstStyle/>
          <a:p>
            <a:pPr marL="182880" indent="0">
              <a:buNone/>
            </a:pPr>
            <a:r>
              <a:rPr lang="en-US"/>
              <a:t>Variables exists in order to be interpolated in strings to avoid rework in case the value is updated.</a:t>
            </a:r>
          </a:p>
        </p:txBody>
      </p:sp>
      <p:pic>
        <p:nvPicPr>
          <p:cNvPr id="7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06E8E59-6E7C-4E58-D5C7-F06769F7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8" y="2280634"/>
            <a:ext cx="3112655" cy="1858007"/>
          </a:xfrm>
          <a:prstGeom prst="rect">
            <a:avLst/>
          </a:prstGeom>
        </p:spPr>
      </p:pic>
      <p:pic>
        <p:nvPicPr>
          <p:cNvPr id="8" name="Picture 8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6F5E747C-8DAE-0BDF-F04D-322505E3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734" y="2282075"/>
            <a:ext cx="3559079" cy="2201484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946D2D-EC5B-F6AE-4372-02479FC835CA}"/>
              </a:ext>
            </a:extLst>
          </p:cNvPr>
          <p:cNvSpPr txBox="1">
            <a:spLocks/>
          </p:cNvSpPr>
          <p:nvPr/>
        </p:nvSpPr>
        <p:spPr>
          <a:xfrm>
            <a:off x="247634" y="5812201"/>
            <a:ext cx="6454690" cy="75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182880" indent="0">
              <a:buFont typeface="IBM Plex Sans"/>
              <a:buNone/>
            </a:pPr>
            <a:r>
              <a:rPr lang="en-US">
                <a:solidFill>
                  <a:schemeClr val="bg2">
                    <a:lumMod val="50000"/>
                  </a:schemeClr>
                </a:solidFill>
                <a:latin typeface="-apple-system"/>
                <a:ea typeface="-apple-system"/>
                <a:cs typeface="-apple-system"/>
              </a:rPr>
              <a:t>See also in  </a:t>
            </a:r>
            <a:r>
              <a:rPr lang="en-US" b="1">
                <a:solidFill>
                  <a:schemeClr val="accent1"/>
                </a:solidFill>
                <a:latin typeface="-apple-system"/>
                <a:ea typeface="-apple-system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latin typeface="-apple-system"/>
                <a:ea typeface="-apple-system"/>
                <a:cs typeface="-apple-system"/>
              </a:rPr>
              <a:t> </a:t>
            </a:r>
            <a:r>
              <a:rPr lang="en-US">
                <a:solidFill>
                  <a:schemeClr val="bg2">
                    <a:lumMod val="50000"/>
                  </a:schemeClr>
                </a:solidFill>
                <a:latin typeface="-apple-system"/>
                <a:ea typeface="-apple-system"/>
                <a:cs typeface="-apple-system"/>
              </a:rPr>
              <a:t>of </a:t>
            </a:r>
            <a:r>
              <a:rPr lang="en-US" b="1">
                <a:solidFill>
                  <a:schemeClr val="accent1"/>
                </a:solidFill>
                <a:latin typeface="-apple-system"/>
                <a:ea typeface="-apple-system"/>
                <a:cs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Puppet Language Basics</a:t>
            </a:r>
            <a:r>
              <a:rPr lang="en-US">
                <a:solidFill>
                  <a:schemeClr val="bg2">
                    <a:lumMod val="50000"/>
                  </a:schemeClr>
                </a:solidFill>
                <a:latin typeface="-apple-system"/>
                <a:ea typeface="-apple-system"/>
                <a:cs typeface="-apple-system"/>
              </a:rPr>
              <a:t> in Puppet channel in YouTube and homepage. </a:t>
            </a:r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07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 err="1"/>
              <a:t>Metaparameters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6D3DD9-FF80-DE9B-1FC0-AD2D63F705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9234" y="1434164"/>
            <a:ext cx="6454690" cy="2387410"/>
          </a:xfrm>
        </p:spPr>
        <p:txBody>
          <a:bodyPr/>
          <a:lstStyle/>
          <a:p>
            <a:pPr marL="182880" indent="0">
              <a:buNone/>
            </a:pPr>
            <a:r>
              <a:rPr lang="en-US"/>
              <a:t>When a Puppet manifest is loaded the resources inside the manifest are  managed the order they are declared. But when you need a group of resources to be managed in different or specific order you must explicit  declare the relationships there where the </a:t>
            </a:r>
            <a:r>
              <a:rPr lang="en-US" b="1" err="1"/>
              <a:t>Metaparameters</a:t>
            </a:r>
            <a:r>
              <a:rPr lang="en-US" b="1"/>
              <a:t> </a:t>
            </a:r>
            <a:r>
              <a:rPr lang="en-US"/>
              <a:t>come in. </a:t>
            </a:r>
            <a:r>
              <a:rPr lang="en-US" b="1" err="1"/>
              <a:t>Metaparameters</a:t>
            </a:r>
            <a:r>
              <a:rPr lang="en-US" b="1"/>
              <a:t> </a:t>
            </a:r>
            <a:r>
              <a:rPr lang="en-US"/>
              <a:t>are special attributes that can be used in any resource type, and specify how your system act to the resource rather than mapping directly to the system state.</a:t>
            </a:r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A3D438FC-42FC-F291-02F3-D4B98E62E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15" y="4070890"/>
            <a:ext cx="4567381" cy="229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0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Language Basics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 err="1"/>
              <a:t>Metaparameters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6D3DD9-FF80-DE9B-1FC0-AD2D63F705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9234" y="1434164"/>
            <a:ext cx="6454690" cy="801835"/>
          </a:xfrm>
        </p:spPr>
        <p:txBody>
          <a:bodyPr/>
          <a:lstStyle/>
          <a:p>
            <a:pPr marL="182880" indent="0">
              <a:buNone/>
            </a:pPr>
            <a:r>
              <a:rPr lang="en-US"/>
              <a:t>The Puppet Language uses four </a:t>
            </a:r>
            <a:r>
              <a:rPr lang="en-US" err="1"/>
              <a:t>Metaparameters</a:t>
            </a:r>
            <a:r>
              <a:rPr lang="en-US"/>
              <a:t> to establish relationships.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6B9A39CC-1E38-A002-00FB-F66D07A7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55" y="2308448"/>
            <a:ext cx="2743200" cy="2164135"/>
          </a:xfrm>
          <a:prstGeom prst="rect">
            <a:avLst/>
          </a:prstGeom>
        </p:spPr>
      </p:pic>
      <p:pic>
        <p:nvPicPr>
          <p:cNvPr id="10" name="Picture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B6E0C75-B397-2A70-42D9-3829B27DC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553" y="3430905"/>
            <a:ext cx="3174231" cy="742796"/>
          </a:xfrm>
          <a:prstGeom prst="rect">
            <a:avLst/>
          </a:prstGeom>
        </p:spPr>
      </p:pic>
      <p:pic>
        <p:nvPicPr>
          <p:cNvPr id="11" name="Picture 1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32F15D8-4C07-9088-98A5-02D81DFFB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551" y="2309000"/>
            <a:ext cx="3451321" cy="977698"/>
          </a:xfrm>
          <a:prstGeom prst="rect">
            <a:avLst/>
          </a:prstGeom>
        </p:spPr>
      </p:pic>
      <p:pic>
        <p:nvPicPr>
          <p:cNvPr id="12" name="Picture 1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DAD9D51-E9D3-281A-70DB-AE1DC24D9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552" y="4312140"/>
            <a:ext cx="3081866" cy="766022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AC7C048-393B-E175-7B4E-20E72CF2E1C1}"/>
              </a:ext>
            </a:extLst>
          </p:cNvPr>
          <p:cNvSpPr txBox="1">
            <a:spLocks/>
          </p:cNvSpPr>
          <p:nvPr/>
        </p:nvSpPr>
        <p:spPr>
          <a:xfrm>
            <a:off x="347695" y="5812201"/>
            <a:ext cx="6454690" cy="80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47675" marR="0" lvl="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2000"/>
              <a:buFont typeface="IBM Plex Sans"/>
              <a:buChar char="●"/>
              <a:tabLst/>
              <a:defRPr sz="18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85838" marR="0" lvl="1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33500" marR="0" lvl="2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689100" marR="0" lvl="3" indent="-2651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090738" marR="0" lvl="4" indent="-3095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447925" marR="0" lvl="5" indent="-3111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>
                <a:tab pos="2036763" algn="l"/>
              </a:tabLst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803525" marR="0" lvl="6" indent="-2635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Arial" panose="020B0604020202020204" pitchFamily="34" charset="0"/>
              <a:buChar char="•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160713" marR="0" lvl="7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Courier New" panose="02070309020205020404" pitchFamily="49" charset="0"/>
              <a:buChar char="o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3536950" marR="0" lvl="8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197E"/>
              </a:buClr>
              <a:buSzPct val="100000"/>
              <a:buFont typeface="Wingdings" pitchFamily="2" charset="2"/>
              <a:buChar char="§"/>
              <a:tabLst/>
              <a:defRPr sz="1400" b="0" i="0" u="none" strike="noStrike" kern="1200" cap="non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182880" indent="0">
              <a:buNone/>
            </a:pPr>
            <a:r>
              <a:rPr lang="en-US"/>
              <a:t>See also in  </a:t>
            </a:r>
            <a:r>
              <a:rPr lang="en-US" b="1">
                <a:hlinkClick r:id="rId6"/>
              </a:rPr>
              <a:t>Metaparameters</a:t>
            </a:r>
            <a:r>
              <a:rPr lang="en-US"/>
              <a:t> of </a:t>
            </a:r>
            <a:r>
              <a:rPr lang="en-US" b="1">
                <a:hlinkClick r:id="rId7"/>
              </a:rPr>
              <a:t>Puppet Language Basics</a:t>
            </a:r>
            <a:r>
              <a:rPr lang="en-US"/>
              <a:t> in Puppet channel in YouTube and homepage. </a:t>
            </a:r>
          </a:p>
        </p:txBody>
      </p:sp>
    </p:spTree>
    <p:extLst>
      <p:ext uri="{BB962C8B-B14F-4D97-AF65-F5344CB8AC3E}">
        <p14:creationId xmlns:p14="http://schemas.microsoft.com/office/powerpoint/2010/main" val="386851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AEB98-04EC-3F49-BBF9-6FB184058F3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indent="-264795" fontAlgn="base"/>
            <a:r>
              <a:rPr lang="en-US" dirty="0"/>
              <a:t>Puppet Code and Language Evaluator</a:t>
            </a:r>
          </a:p>
          <a:p>
            <a:pPr indent="-264795" fontAlgn="base"/>
            <a:r>
              <a:rPr lang="en-US" dirty="0"/>
              <a:t>Fully Featured </a:t>
            </a:r>
            <a:r>
              <a:rPr lang="en-US" b="1" dirty="0"/>
              <a:t>REPL</a:t>
            </a:r>
          </a:p>
          <a:p>
            <a:pPr indent="-264795"/>
            <a:r>
              <a:rPr lang="en-US" dirty="0"/>
              <a:t>Mock real or fake systems using </a:t>
            </a:r>
            <a:r>
              <a:rPr lang="en-US" b="1" dirty="0" err="1"/>
              <a:t>facterdb</a:t>
            </a:r>
            <a:endParaRPr lang="en-US" b="1" dirty="0"/>
          </a:p>
          <a:p>
            <a:pPr indent="-264795"/>
            <a:r>
              <a:rPr lang="en-US" dirty="0"/>
              <a:t>Works with puppet </a:t>
            </a:r>
            <a:r>
              <a:rPr lang="en-US" b="1" dirty="0"/>
              <a:t>4.x</a:t>
            </a:r>
            <a:r>
              <a:rPr lang="en-US" dirty="0"/>
              <a:t>, </a:t>
            </a:r>
            <a:r>
              <a:rPr lang="en-US" b="1" dirty="0"/>
              <a:t>5.x</a:t>
            </a:r>
            <a:r>
              <a:rPr lang="en-US" dirty="0"/>
              <a:t>, </a:t>
            </a:r>
            <a:r>
              <a:rPr lang="en-US" b="1" dirty="0"/>
              <a:t>6.x </a:t>
            </a:r>
            <a:r>
              <a:rPr lang="en-US" dirty="0"/>
              <a:t>and </a:t>
            </a:r>
            <a:r>
              <a:rPr lang="en-US" b="1" dirty="0"/>
              <a:t>7.x</a:t>
            </a:r>
          </a:p>
          <a:p>
            <a:pPr indent="-264795"/>
            <a:r>
              <a:rPr lang="en-US" dirty="0"/>
              <a:t>Easy Gem installation</a:t>
            </a:r>
          </a:p>
          <a:p>
            <a:pPr indent="-264795"/>
            <a:r>
              <a:rPr lang="en-US" dirty="0"/>
              <a:t>Easy Code Playback</a:t>
            </a:r>
          </a:p>
          <a:p>
            <a:pPr indent="-264795"/>
            <a:r>
              <a:rPr lang="en-US" dirty="0"/>
              <a:t>Set Breakpoints</a:t>
            </a:r>
          </a:p>
          <a:p>
            <a:pPr indent="-264795"/>
            <a:r>
              <a:rPr lang="en-US" dirty="0"/>
              <a:t>List all functions, datatypes, types</a:t>
            </a:r>
          </a:p>
          <a:p>
            <a:pPr indent="-264795"/>
            <a:r>
              <a:rPr lang="en-US" dirty="0"/>
              <a:t>Plugin system for additional functionality</a:t>
            </a:r>
          </a:p>
          <a:p>
            <a:pPr indent="-264795"/>
            <a:r>
              <a:rPr lang="en-US" dirty="0"/>
              <a:t>Test snippets of code in </a:t>
            </a:r>
            <a:r>
              <a:rPr lang="en-US" dirty="0" err="1"/>
              <a:t>realtime</a:t>
            </a:r>
            <a:endParaRPr lang="en-US" dirty="0"/>
          </a:p>
          <a:p>
            <a:pPr indent="-264795"/>
            <a:endParaRPr lang="en-US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 b="1"/>
          </a:p>
          <a:p>
            <a:pPr indent="-264795"/>
            <a:endParaRPr lang="en-US"/>
          </a:p>
          <a:p>
            <a:pPr indent="-264795" fontAlgn="base"/>
            <a:endParaRPr lang="en-US"/>
          </a:p>
          <a:p>
            <a:pPr indent="-264795"/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Features </a:t>
            </a:r>
          </a:p>
        </p:txBody>
      </p:sp>
      <p:pic>
        <p:nvPicPr>
          <p:cNvPr id="5" name="Picture 5" descr="Qr code&#10;&#10;Description automatically generated">
            <a:extLst>
              <a:ext uri="{FF2B5EF4-FFF2-40B4-BE49-F238E27FC236}">
                <a16:creationId xmlns:a16="http://schemas.microsoft.com/office/drawing/2014/main" id="{086AFE49-9856-F109-96EF-4CA3ABDC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430" y="35814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Puppet Debugger Commands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101" y="1350353"/>
            <a:ext cx="7686291" cy="843129"/>
          </a:xfrm>
        </p:spPr>
        <p:txBody>
          <a:bodyPr lIns="91440" tIns="45720" rIns="91440" bIns="45720" anchor="ctr"/>
          <a:lstStyle/>
          <a:p>
            <a:pPr marL="182880"/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The debugger comes with many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commands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that allow you to inspect the catalog, your code or reference items currently in scope. </a:t>
            </a:r>
            <a:endParaRPr lang="en-US" i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5" descr="Qr code&#10;&#10;Description automatically generated">
            <a:extLst>
              <a:ext uri="{FF2B5EF4-FFF2-40B4-BE49-F238E27FC236}">
                <a16:creationId xmlns:a16="http://schemas.microsoft.com/office/drawing/2014/main" id="{27A7EFA3-ABC6-0AC7-E20E-B51D9677D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248" y="3566006"/>
            <a:ext cx="2743200" cy="2743200"/>
          </a:xfrm>
          <a:prstGeom prst="rect">
            <a:avLst/>
          </a:prstGeom>
        </p:spPr>
      </p:pic>
      <p:pic>
        <p:nvPicPr>
          <p:cNvPr id="7" name="Picture 8" descr="Text&#10;&#10;Description automatically generated">
            <a:extLst>
              <a:ext uri="{FF2B5EF4-FFF2-40B4-BE49-F238E27FC236}">
                <a16:creationId xmlns:a16="http://schemas.microsoft.com/office/drawing/2014/main" id="{D7DB2942-DA47-DEC4-CB34-7223EC082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6" y="2494900"/>
            <a:ext cx="7457267" cy="37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9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660" y="1337438"/>
            <a:ext cx="7492562" cy="998111"/>
          </a:xfrm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List all the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resources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currently in the catalog. Remember the puppet debugger is like an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interactive manifest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 file. When you type puppet code, puppet will evaluate it and add it to the catalog.</a:t>
            </a:r>
          </a:p>
        </p:txBody>
      </p:sp>
      <p:pic>
        <p:nvPicPr>
          <p:cNvPr id="3" name="Picture 5" descr="Text&#10;&#10;Description automatically generated">
            <a:extLst>
              <a:ext uri="{FF2B5EF4-FFF2-40B4-BE49-F238E27FC236}">
                <a16:creationId xmlns:a16="http://schemas.microsoft.com/office/drawing/2014/main" id="{8BAFB931-C06E-2623-1493-C40FE9FB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20" y="2590892"/>
            <a:ext cx="7431436" cy="398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6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Variables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406" y="1376183"/>
            <a:ext cx="7247171" cy="675230"/>
          </a:xfrm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Variables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in puppet code help us remove statically defined data. </a:t>
            </a: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F7051484-5F6A-4ED5-D107-46BBD7677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20" y="1961445"/>
            <a:ext cx="7431436" cy="1178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03F389-AE0E-109E-FBFF-76E17C83ABC3}"/>
              </a:ext>
            </a:extLst>
          </p:cNvPr>
          <p:cNvSpPr txBox="1"/>
          <p:nvPr/>
        </p:nvSpPr>
        <p:spPr>
          <a:xfrm>
            <a:off x="423620" y="3316638"/>
            <a:ext cx="64627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/>
              </a:rPr>
              <a:t>Listing all the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Work Sans"/>
              </a:rPr>
              <a:t>variables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Picture 9" descr="Text&#10;&#10;Description automatically generated">
            <a:extLst>
              <a:ext uri="{FF2B5EF4-FFF2-40B4-BE49-F238E27FC236}">
                <a16:creationId xmlns:a16="http://schemas.microsoft.com/office/drawing/2014/main" id="{E73C8A49-5B11-23B6-8D3D-66C3B53B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7" y="3725352"/>
            <a:ext cx="7431436" cy="303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22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Ls or Vars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829" y="1208284"/>
            <a:ext cx="7492561" cy="946451"/>
          </a:xfrm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i="0" dirty="0">
                <a:latin typeface="IBM Plex Sans Medium"/>
              </a:rPr>
              <a:t>T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he 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ls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 or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vars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command will list all the variables currently set, in the current scope and even an the scope of a evaluated resource.</a:t>
            </a:r>
          </a:p>
        </p:txBody>
      </p:sp>
      <p:pic>
        <p:nvPicPr>
          <p:cNvPr id="3" name="Picture 7" descr="Text&#10;&#10;Description automatically generated">
            <a:extLst>
              <a:ext uri="{FF2B5EF4-FFF2-40B4-BE49-F238E27FC236}">
                <a16:creationId xmlns:a16="http://schemas.microsoft.com/office/drawing/2014/main" id="{5C733800-555F-3905-42D0-0AC7A224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20" y="2309130"/>
            <a:ext cx="7508928" cy="38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02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Classes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830" y="1272861"/>
            <a:ext cx="7492562" cy="1114349"/>
          </a:xfrm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The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classes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command list all the class level resources found in the current catalog. A new catalog is compiled with each entry so the list will grow over as you use more classes.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A9BC9CB-58FA-E6C6-1A1C-ACA84607C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29" y="2591152"/>
            <a:ext cx="7508928" cy="16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10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Facts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830" y="1414928"/>
            <a:ext cx="7492562" cy="1178926"/>
          </a:xfrm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The debugger will get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facts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from </a:t>
            </a:r>
            <a:r>
              <a:rPr lang="en-US" b="1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FacterDB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to speed up the </a:t>
            </a:r>
            <a:r>
              <a:rPr lang="en-US" i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inital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 loading process. These facts are then used in the scope during compilation.</a:t>
            </a:r>
            <a:br>
              <a:rPr lang="en-US" i="0" dirty="0"/>
            </a:b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To list the facts in the scope simply run the 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facts 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command or 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$::facts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10BF5553-8FAB-7DCF-020E-6D0431004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29" y="2795807"/>
            <a:ext cx="7508928" cy="2557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98890C-DC5A-C8C4-D7A5-200361002DB7}"/>
              </a:ext>
            </a:extLst>
          </p:cNvPr>
          <p:cNvSpPr txBox="1"/>
          <p:nvPr/>
        </p:nvSpPr>
        <p:spPr>
          <a:xfrm>
            <a:off x="281553" y="5499315"/>
            <a:ext cx="757350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323232"/>
                </a:solidFill>
                <a:latin typeface="IBM Plex Sans"/>
              </a:rPr>
              <a:t>You can force the debugger to use real facts from the current node by </a:t>
            </a:r>
            <a:r>
              <a:rPr lang="en-US" u="sng" dirty="0" err="1">
                <a:solidFill>
                  <a:srgbClr val="323232"/>
                </a:solidFill>
                <a:latin typeface="IBM Plex Sans"/>
              </a:rPr>
              <a:t>disablabling</a:t>
            </a:r>
            <a:r>
              <a:rPr lang="en-US" u="sng" dirty="0">
                <a:solidFill>
                  <a:srgbClr val="323232"/>
                </a:solidFill>
                <a:latin typeface="IBM Plex Sans"/>
              </a:rPr>
              <a:t> </a:t>
            </a:r>
            <a:r>
              <a:rPr lang="en-US" b="1" u="sng" dirty="0" err="1">
                <a:solidFill>
                  <a:srgbClr val="323232"/>
                </a:solidFill>
                <a:latin typeface="IBM Plex Sans"/>
              </a:rPr>
              <a:t>FacterDB</a:t>
            </a:r>
            <a:r>
              <a:rPr lang="en-US" dirty="0">
                <a:solidFill>
                  <a:srgbClr val="323232"/>
                </a:solidFill>
                <a:latin typeface="IBM Plex Sans"/>
              </a:rPr>
              <a:t>:</a:t>
            </a:r>
            <a:br>
              <a:rPr lang="en-US" dirty="0">
                <a:solidFill>
                  <a:srgbClr val="323232"/>
                </a:solidFill>
                <a:latin typeface="IBM Plex Sans"/>
              </a:rPr>
            </a:br>
            <a:endParaRPr lang="en-US" dirty="0">
              <a:solidFill>
                <a:srgbClr val="323232"/>
              </a:solidFill>
              <a:latin typeface="IBM Plex Sans"/>
            </a:endParaRPr>
          </a:p>
          <a:p>
            <a:r>
              <a:rPr lang="en-US" sz="1600" b="1" dirty="0">
                <a:solidFill>
                  <a:srgbClr val="323232"/>
                </a:solidFill>
                <a:latin typeface="Consolas"/>
              </a:rPr>
              <a:t>puppet debugger --no-</a:t>
            </a:r>
            <a:r>
              <a:rPr lang="en-US" sz="1600" b="1" dirty="0" err="1">
                <a:solidFill>
                  <a:srgbClr val="323232"/>
                </a:solidFill>
                <a:latin typeface="Consolas"/>
              </a:rPr>
              <a:t>facterdb</a:t>
            </a:r>
            <a:r>
              <a:rPr lang="en-US" sz="1600" b="1" dirty="0">
                <a:solidFill>
                  <a:srgbClr val="323232"/>
                </a:solidFill>
                <a:latin typeface="Consolas"/>
              </a:rPr>
              <a:t> --test -e '$</a:t>
            </a:r>
            <a:r>
              <a:rPr lang="en-US" sz="1600" b="1" dirty="0" err="1">
                <a:solidFill>
                  <a:srgbClr val="323232"/>
                </a:solidFill>
                <a:latin typeface="Consolas"/>
              </a:rPr>
              <a:t>os</a:t>
            </a:r>
            <a:r>
              <a:rPr lang="en-US" sz="1600" b="1" dirty="0">
                <a:solidFill>
                  <a:srgbClr val="323232"/>
                </a:solidFill>
                <a:latin typeface="Consolas"/>
              </a:rPr>
              <a:t>[family]'</a:t>
            </a:r>
          </a:p>
        </p:txBody>
      </p:sp>
    </p:spTree>
    <p:extLst>
      <p:ext uri="{BB962C8B-B14F-4D97-AF65-F5344CB8AC3E}">
        <p14:creationId xmlns:p14="http://schemas.microsoft.com/office/powerpoint/2010/main" val="1081055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FacterDB</a:t>
            </a:r>
            <a:r>
              <a:rPr lang="en-US" dirty="0"/>
              <a:t> </a:t>
            </a:r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puppet-debugger</a:t>
            </a:r>
            <a:r>
              <a:rPr lang="en-US" dirty="0"/>
              <a:t> internally leverages the </a:t>
            </a:r>
            <a:r>
              <a:rPr lang="en-US" dirty="0">
                <a:hlinkClick r:id="rId2"/>
              </a:rPr>
              <a:t>facterdb</a:t>
            </a:r>
            <a:r>
              <a:rPr lang="en-US" dirty="0"/>
              <a:t> gem to load pre-cached facts into the debugger session. </a:t>
            </a:r>
            <a:r>
              <a:rPr lang="en-US" u="sng" dirty="0"/>
              <a:t>You can tell the debugger to use a different set of facts from a different kernel, </a:t>
            </a:r>
            <a:r>
              <a:rPr lang="en-US" b="1" u="sng" dirty="0"/>
              <a:t>OS version</a:t>
            </a:r>
            <a:r>
              <a:rPr lang="en-US" dirty="0"/>
              <a:t>, </a:t>
            </a:r>
            <a:r>
              <a:rPr lang="en-US" dirty="0" err="1"/>
              <a:t>facter</a:t>
            </a:r>
            <a:r>
              <a:rPr lang="en-US" dirty="0"/>
              <a:t> version or any custom combination that </a:t>
            </a:r>
            <a:r>
              <a:rPr lang="en-US" dirty="0" err="1"/>
              <a:t>facterdb</a:t>
            </a:r>
            <a:r>
              <a:rPr lang="en-US" dirty="0"/>
              <a:t> supports. This is all controlled via the </a:t>
            </a:r>
            <a:r>
              <a:rPr lang="en-US" dirty="0" err="1"/>
              <a:t>facterdb</a:t>
            </a:r>
            <a:r>
              <a:rPr lang="en-US" dirty="0"/>
              <a:t>-filter.</a:t>
            </a:r>
          </a:p>
          <a:p>
            <a:pPr indent="-264795">
              <a:buNone/>
            </a:pPr>
            <a:endParaRPr lang="en-US" dirty="0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FE183A29-9EBC-E0FF-7283-777622A43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81" y="2555929"/>
            <a:ext cx="8735877" cy="102288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FA2346E-07BE-29F8-9750-CB634A137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81" y="3873250"/>
            <a:ext cx="8735877" cy="16041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22D35A-69E3-1B94-B0F0-E791A9420E58}"/>
              </a:ext>
            </a:extLst>
          </p:cNvPr>
          <p:cNvSpPr txBox="1"/>
          <p:nvPr/>
        </p:nvSpPr>
        <p:spPr>
          <a:xfrm>
            <a:off x="475281" y="5757621"/>
            <a:ext cx="873587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323232"/>
                </a:solidFill>
                <a:latin typeface="IBM Plex Sans"/>
              </a:rPr>
              <a:t>You can force the debugger to use real facts from the </a:t>
            </a:r>
            <a:r>
              <a:rPr lang="en-US" b="1" dirty="0">
                <a:solidFill>
                  <a:srgbClr val="323232"/>
                </a:solidFill>
                <a:latin typeface="IBM Plex Sans"/>
              </a:rPr>
              <a:t>current node</a:t>
            </a:r>
            <a:r>
              <a:rPr lang="en-US" dirty="0">
                <a:solidFill>
                  <a:srgbClr val="323232"/>
                </a:solidFill>
                <a:latin typeface="IBM Plex Sans"/>
              </a:rPr>
              <a:t> too:</a:t>
            </a:r>
            <a:br>
              <a:rPr lang="en-US" dirty="0">
                <a:solidFill>
                  <a:srgbClr val="323232"/>
                </a:solidFill>
                <a:latin typeface="IBM Plex Sans"/>
              </a:rPr>
            </a:br>
            <a:endParaRPr lang="en-US" dirty="0">
              <a:solidFill>
                <a:srgbClr val="323232"/>
              </a:solidFill>
              <a:latin typeface="IBM Plex Sans"/>
            </a:endParaRPr>
          </a:p>
          <a:p>
            <a:r>
              <a:rPr lang="en-US" sz="1600" b="1" dirty="0">
                <a:solidFill>
                  <a:srgbClr val="323232"/>
                </a:solidFill>
                <a:latin typeface="Consolas"/>
              </a:rPr>
              <a:t>puppet debugger --no-</a:t>
            </a:r>
            <a:r>
              <a:rPr lang="en-US" sz="1600" b="1" dirty="0" err="1">
                <a:solidFill>
                  <a:srgbClr val="323232"/>
                </a:solidFill>
                <a:latin typeface="Consolas"/>
              </a:rPr>
              <a:t>facterdb</a:t>
            </a:r>
            <a:r>
              <a:rPr lang="en-US" sz="1600" b="1" dirty="0">
                <a:solidFill>
                  <a:srgbClr val="323232"/>
                </a:solidFill>
                <a:latin typeface="Consolas"/>
              </a:rPr>
              <a:t> --test -e '$</a:t>
            </a:r>
            <a:r>
              <a:rPr lang="en-US" sz="1600" b="1" dirty="0" err="1">
                <a:solidFill>
                  <a:srgbClr val="323232"/>
                </a:solidFill>
                <a:latin typeface="Consolas"/>
              </a:rPr>
              <a:t>os</a:t>
            </a:r>
            <a:r>
              <a:rPr lang="en-US" sz="1600" b="1" dirty="0">
                <a:solidFill>
                  <a:srgbClr val="323232"/>
                </a:solidFill>
                <a:latin typeface="Consolas"/>
              </a:rPr>
              <a:t>[family]'</a:t>
            </a:r>
          </a:p>
        </p:txBody>
      </p:sp>
    </p:spTree>
    <p:extLst>
      <p:ext uri="{BB962C8B-B14F-4D97-AF65-F5344CB8AC3E}">
        <p14:creationId xmlns:p14="http://schemas.microsoft.com/office/powerpoint/2010/main" val="39681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404040"/>
                </a:solidFill>
              </a:rPr>
              <a:t>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830" y="1324522"/>
            <a:ext cx="7492562" cy="894789"/>
          </a:xfrm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The 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types 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command is used to list all the discoverable native resource types you can use in your puppet code.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4CD8CDDB-49E6-CE3D-3E22-49D24044F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29" y="2383710"/>
            <a:ext cx="7508928" cy="344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40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Functions </a:t>
            </a:r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830" y="1221200"/>
            <a:ext cx="7492562" cy="2392957"/>
          </a:xfrm>
        </p:spPr>
        <p:txBody>
          <a:bodyPr lIns="91440" tIns="45720" rIns="91440" bIns="45720" anchor="ctr"/>
          <a:lstStyle/>
          <a:p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Puppet Debugger</a:t>
            </a: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 was designed to help you determine what a function returns in real time as well as what functions are available from each module.</a:t>
            </a:r>
            <a:br>
              <a:rPr lang="en-US" i="0" dirty="0"/>
            </a:br>
            <a:br>
              <a:rPr lang="en-US" dirty="0">
                <a:latin typeface="IBM Plex Sans Medium"/>
              </a:rPr>
            </a:b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The debugger will search your module path for functions and present you with a nice list of functions for you to explorer and execute.</a:t>
            </a:r>
            <a:br>
              <a:rPr lang="en-US" dirty="0"/>
            </a:br>
            <a:br>
              <a:rPr lang="en-US" dirty="0">
                <a:latin typeface="IBM Plex Sans Medium"/>
              </a:rPr>
            </a:br>
            <a:r>
              <a:rPr lang="en-US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To list the functions just use the command 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Medium"/>
              </a:rPr>
              <a:t>functions.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B59EDAD-C532-1F43-7905-8C9BA9E88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90" y="4064834"/>
            <a:ext cx="7508928" cy="208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24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Play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(Playback Support)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9233" y="1506050"/>
            <a:ext cx="8118448" cy="4187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Playing back </a:t>
            </a:r>
            <a:r>
              <a:rPr lang="en-US" b="1" dirty="0"/>
              <a:t>files </a:t>
            </a:r>
            <a:r>
              <a:rPr lang="en-US" dirty="0"/>
              <a:t>or </a:t>
            </a:r>
            <a:r>
              <a:rPr lang="en-US" b="1" dirty="0" err="1"/>
              <a:t>urls</a:t>
            </a:r>
            <a:r>
              <a:rPr lang="en-US" b="1" dirty="0"/>
              <a:t> </a:t>
            </a:r>
            <a:r>
              <a:rPr lang="en-US" dirty="0"/>
              <a:t>simply loads the content into the debugger session. </a:t>
            </a:r>
            <a:endParaRPr lang="en-US"/>
          </a:p>
          <a:p>
            <a:pPr indent="-264795">
              <a:buNone/>
            </a:pPr>
            <a:endParaRPr lang="en-US" dirty="0"/>
          </a:p>
          <a:p>
            <a:pPr indent="-264795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B555A-CC10-9AA7-B7A5-2277443383DA}"/>
              </a:ext>
            </a:extLst>
          </p:cNvPr>
          <p:cNvSpPr txBox="1"/>
          <p:nvPr/>
        </p:nvSpPr>
        <p:spPr>
          <a:xfrm>
            <a:off x="344681" y="1923352"/>
            <a:ext cx="64635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  <a:hlinkClick r:id="rId2"/>
              </a:rPr>
              <a:t>https://gist.githubusercontent.com/logicminds/f9b1ac65a3a440d562b0/raw</a:t>
            </a:r>
            <a:br>
              <a:rPr lang="en-US" sz="1400" dirty="0">
                <a:ea typeface="+mn-lt"/>
                <a:cs typeface="+mn-lt"/>
              </a:rPr>
            </a:br>
            <a:endParaRPr lang="en-US" sz="1400">
              <a:cs typeface="Calibri"/>
            </a:endParaRPr>
          </a:p>
        </p:txBody>
      </p:sp>
      <p:pic>
        <p:nvPicPr>
          <p:cNvPr id="12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5902CB49-F0C8-35D6-7FF1-4D79FFA82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8" y="2184989"/>
            <a:ext cx="7569849" cy="1675336"/>
          </a:xfrm>
          <a:prstGeom prst="rect">
            <a:avLst/>
          </a:prstGeom>
        </p:spPr>
      </p:pic>
      <p:pic>
        <p:nvPicPr>
          <p:cNvPr id="13" name="Picture 13" descr="Text&#10;&#10;Description automatically generated">
            <a:extLst>
              <a:ext uri="{FF2B5EF4-FFF2-40B4-BE49-F238E27FC236}">
                <a16:creationId xmlns:a16="http://schemas.microsoft.com/office/drawing/2014/main" id="{B3604E35-84A3-AF31-8C69-BAD394B62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03" y="3870056"/>
            <a:ext cx="7411942" cy="288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6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(Web Based Playback Support)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562FE-8FAA-A53B-BE7F-EA28654A5C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using the </a:t>
            </a:r>
            <a:r>
              <a:rPr lang="en-US" dirty="0">
                <a:hlinkClick r:id="rId2"/>
              </a:rPr>
              <a:t>web based debugger</a:t>
            </a:r>
            <a:r>
              <a:rPr lang="en-US" dirty="0"/>
              <a:t> you can playback a shared </a:t>
            </a:r>
            <a:r>
              <a:rPr lang="en-US" dirty="0" err="1"/>
              <a:t>url</a:t>
            </a:r>
            <a:r>
              <a:rPr lang="en-US" dirty="0"/>
              <a:t> which would start a debugger session and then load the content from the </a:t>
            </a:r>
            <a:r>
              <a:rPr lang="en-US" dirty="0" err="1"/>
              <a:t>url</a:t>
            </a:r>
            <a:r>
              <a:rPr lang="en-US" dirty="0"/>
              <a:t> or parameter.</a:t>
            </a:r>
            <a:br>
              <a:rPr lang="en-US" dirty="0"/>
            </a:br>
            <a:br>
              <a:rPr lang="en-US" dirty="0"/>
            </a:br>
            <a:r>
              <a:rPr lang="en-US" sz="1600" dirty="0"/>
              <a:t>Examples:</a:t>
            </a:r>
            <a:br>
              <a:rPr lang="en-US" sz="1600" dirty="0"/>
            </a:br>
            <a:br>
              <a:rPr lang="en-US" sz="1600" dirty="0"/>
            </a:br>
            <a:r>
              <a:rPr lang="en-US" sz="1400" b="1" dirty="0" err="1"/>
              <a:t>Urls</a:t>
            </a:r>
            <a:br>
              <a:rPr lang="en-US" sz="2800" dirty="0"/>
            </a:br>
            <a:r>
              <a:rPr lang="en-US" sz="1400" dirty="0">
                <a:hlinkClick r:id="rId3"/>
              </a:rPr>
              <a:t>https://demo.puppet-debugger.com/play?url=https://gist.github.com/logicminds/64f0fe9f64339f18f097a9f42acd6276</a:t>
            </a:r>
            <a:br>
              <a:rPr lang="en-US" sz="1100" dirty="0"/>
            </a:br>
            <a:r>
              <a:rPr lang="en-US" sz="1400" dirty="0">
                <a:hlinkClick r:id="rId4"/>
              </a:rPr>
              <a:t>https://demo.puppet-debugger.com/play?url=https://gist.github.com/logicminds/4f6bcfd723c92aad1f01f6a800319fa4</a:t>
            </a:r>
            <a:br>
              <a:rPr lang="en-US" sz="900" dirty="0"/>
            </a:br>
            <a:br>
              <a:rPr lang="en-US" sz="900" dirty="0"/>
            </a:br>
            <a:r>
              <a:rPr lang="en-US" sz="1400" b="1" dirty="0"/>
              <a:t>Simple commands</a:t>
            </a:r>
            <a:br>
              <a:rPr lang="en-US" sz="1400" dirty="0"/>
            </a:br>
            <a:r>
              <a:rPr lang="en-US" sz="1400" dirty="0">
                <a:hlinkClick r:id="rId5"/>
              </a:rPr>
              <a:t>https://demo.puppet-debugger.com/play?content=vars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Content Parameter</a:t>
            </a:r>
            <a:br>
              <a:rPr lang="en-US" sz="1400" dirty="0"/>
            </a:br>
            <a:r>
              <a:rPr lang="en-US" sz="1400" dirty="0">
                <a:hlinkClick r:id="rId6"/>
              </a:rPr>
              <a:t>https://demo.puppet-debugger.com/play?content=md5('dafsdfdsfasdfds')</a:t>
            </a:r>
            <a:br>
              <a:rPr lang="en-US" sz="1400" dirty="0"/>
            </a:br>
            <a:endParaRPr lang="en-US" sz="900">
              <a:hlinkClick r:id="" action="ppaction://noaction"/>
            </a:endParaRP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hlinkClick r:id="rId7"/>
              </a:rPr>
              <a:t>demo</a:t>
            </a:r>
            <a:r>
              <a:rPr lang="en-US" dirty="0"/>
              <a:t> site is a web application that runs a local instance of the debugger per session.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create a link, test it and share it.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indent="-264795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787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3D37-C6AA-FCD8-3CBB-E0BC6F0E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0CEE47A-4004-399D-F65C-B49D3A123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Play</a:t>
            </a:r>
            <a:r>
              <a:rPr lang="en-US" dirty="0">
                <a:solidFill>
                  <a:srgbClr val="404040"/>
                </a:solidFill>
              </a:rPr>
              <a:t> 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(Web Based Playback Support)</a:t>
            </a:r>
          </a:p>
        </p:txBody>
      </p:sp>
      <p:pic>
        <p:nvPicPr>
          <p:cNvPr id="7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60F8B95-42A5-FB40-CF72-ED68CB56E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44" y="1713776"/>
            <a:ext cx="8232183" cy="4244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E986C1-9827-E40A-25A2-168AD6787F3C}"/>
              </a:ext>
            </a:extLst>
          </p:cNvPr>
          <p:cNvSpPr txBox="1"/>
          <p:nvPr/>
        </p:nvSpPr>
        <p:spPr>
          <a:xfrm>
            <a:off x="352967" y="1414296"/>
            <a:ext cx="646355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  <a:hlinkClick r:id="rId3"/>
              </a:rPr>
              <a:t>https://gist.github.com/logicminds/4f6bcfd723c92aad1f01f6a800319fa4</a:t>
            </a:r>
            <a:endParaRPr lang="en-US" sz="1600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2670E2-B74E-D4E1-8C34-7CD7BCDF33C6}"/>
              </a:ext>
            </a:extLst>
          </p:cNvPr>
          <p:cNvSpPr txBox="1"/>
          <p:nvPr/>
        </p:nvSpPr>
        <p:spPr>
          <a:xfrm>
            <a:off x="346129" y="6196739"/>
            <a:ext cx="105440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  <a:hlinkClick r:id="rId4"/>
              </a:rPr>
              <a:t>https://demo.puppet-debugger.com/play?url=https://gist.github.com/logicminds/4f6bcfd723c92aad1f01f6a800319fa4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07897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3D37-C6AA-FCD8-3CBB-E0BC6F0E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Puppet Debugger Commands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0CEE47A-4004-399D-F65C-B49D3A123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Play</a:t>
            </a:r>
            <a:r>
              <a:rPr lang="en-US" dirty="0">
                <a:solidFill>
                  <a:srgbClr val="404040"/>
                </a:solidFill>
              </a:rPr>
              <a:t> 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(Web Based Playback Support)</a:t>
            </a:r>
          </a:p>
        </p:txBody>
      </p:sp>
      <p:pic>
        <p:nvPicPr>
          <p:cNvPr id="3" name="Picture 4" descr="Text&#10;&#10;Description automatically generated">
            <a:extLst>
              <a:ext uri="{FF2B5EF4-FFF2-40B4-BE49-F238E27FC236}">
                <a16:creationId xmlns:a16="http://schemas.microsoft.com/office/drawing/2014/main" id="{90B0BE86-C03E-F4A5-4B94-19C89BD17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05" y="1385931"/>
            <a:ext cx="10053233" cy="514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19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6C5-67F4-DA4E-AB1D-FE63FB0A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96EC04-B8B9-1344-BD2B-2A44F3CE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134" y="760688"/>
            <a:ext cx="6454776" cy="432241"/>
          </a:xfrm>
        </p:spPr>
        <p:txBody>
          <a:bodyPr/>
          <a:lstStyle/>
          <a:p>
            <a:r>
              <a:rPr lang="en-US"/>
              <a:t>Puppet Extensions </a:t>
            </a:r>
          </a:p>
        </p:txBody>
      </p:sp>
      <p:pic>
        <p:nvPicPr>
          <p:cNvPr id="7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EAB8B01-8FF5-DF60-66E3-2FFAF44C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1" y="2041994"/>
            <a:ext cx="5754028" cy="3396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392B1-F162-0324-39E0-8468D1B00574}"/>
              </a:ext>
            </a:extLst>
          </p:cNvPr>
          <p:cNvSpPr txBox="1"/>
          <p:nvPr/>
        </p:nvSpPr>
        <p:spPr>
          <a:xfrm>
            <a:off x="375424" y="1323277"/>
            <a:ext cx="581907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  <a:hlinkClick r:id="rId3"/>
              </a:rPr>
              <a:t>Chrome</a:t>
            </a:r>
            <a:r>
              <a:rPr lang="en-US" sz="1600">
                <a:ea typeface="+mn-lt"/>
                <a:cs typeface="+mn-lt"/>
              </a:rPr>
              <a:t> </a:t>
            </a:r>
            <a:r>
              <a:rPr lang="en-US" sz="1600" err="1">
                <a:ea typeface="+mn-lt"/>
                <a:cs typeface="+mn-lt"/>
              </a:rPr>
              <a:t>ans</a:t>
            </a:r>
            <a:r>
              <a:rPr lang="en-US" sz="1600">
                <a:ea typeface="+mn-lt"/>
                <a:cs typeface="+mn-lt"/>
              </a:rPr>
              <a:t> </a:t>
            </a:r>
            <a:r>
              <a:rPr lang="en-US" sz="1600" b="1">
                <a:ea typeface="+mn-lt"/>
                <a:cs typeface="+mn-lt"/>
                <a:hlinkClick r:id="rId4"/>
              </a:rPr>
              <a:t>VSCode</a:t>
            </a:r>
            <a:r>
              <a:rPr lang="en-US" sz="1600">
                <a:ea typeface="+mn-lt"/>
                <a:cs typeface="+mn-lt"/>
              </a:rPr>
              <a:t> can help you stay productive and get more out of your browser and code editor.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F787F-16FF-9C9E-9D47-1B57258BE00B}"/>
              </a:ext>
            </a:extLst>
          </p:cNvPr>
          <p:cNvSpPr txBox="1"/>
          <p:nvPr/>
        </p:nvSpPr>
        <p:spPr>
          <a:xfrm>
            <a:off x="375425" y="5532862"/>
            <a:ext cx="581907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+mn-lt"/>
                <a:cs typeface="+mn-lt"/>
                <a:hlinkClick r:id="rId5"/>
              </a:rPr>
              <a:t>Puppet</a:t>
            </a:r>
            <a:r>
              <a:rPr lang="en-US" sz="1200">
                <a:ea typeface="+mn-lt"/>
                <a:cs typeface="+mn-lt"/>
              </a:rPr>
              <a:t> - Chrome apps for Puppet configuration management.</a:t>
            </a:r>
            <a:br>
              <a:rPr lang="en-US" sz="1200"/>
            </a:br>
            <a:r>
              <a:rPr lang="en-US" sz="1200">
                <a:ea typeface="+mn-lt"/>
                <a:cs typeface="+mn-lt"/>
              </a:rPr>
              <a:t>For </a:t>
            </a:r>
            <a:r>
              <a:rPr lang="en-US" sz="1200" err="1">
                <a:ea typeface="+mn-lt"/>
                <a:cs typeface="+mn-lt"/>
              </a:rPr>
              <a:t>futher</a:t>
            </a:r>
            <a:r>
              <a:rPr lang="en-US" sz="1200">
                <a:ea typeface="+mn-lt"/>
                <a:cs typeface="+mn-lt"/>
              </a:rPr>
              <a:t> info about Chrome Apps check  </a:t>
            </a:r>
            <a:r>
              <a:rPr lang="en-US" sz="1200">
                <a:ea typeface="+mn-lt"/>
                <a:cs typeface="+mn-lt"/>
                <a:hlinkClick r:id="rId6"/>
              </a:rPr>
              <a:t>Create and publish custom Chrome apps &amp; extensions</a:t>
            </a:r>
            <a:r>
              <a:rPr lang="en-US" sz="1200">
                <a:ea typeface="+mn-lt"/>
                <a:cs typeface="+mn-lt"/>
              </a:rPr>
              <a:t>.</a:t>
            </a:r>
            <a:br>
              <a:rPr lang="en-US" sz="1200">
                <a:ea typeface="+mn-lt"/>
                <a:cs typeface="+mn-lt"/>
              </a:rPr>
            </a:br>
            <a:br>
              <a:rPr lang="en-US" sz="1200">
                <a:ea typeface="+mn-lt"/>
                <a:cs typeface="+mn-lt"/>
              </a:rPr>
            </a:br>
            <a:r>
              <a:rPr lang="en-US" sz="1200" b="1">
                <a:ea typeface="+mn-lt"/>
                <a:cs typeface="+mn-lt"/>
                <a:hlinkClick r:id="rId7"/>
              </a:rPr>
              <a:t>puppet.puppet-vscode</a:t>
            </a:r>
            <a:r>
              <a:rPr lang="en-US" sz="1200">
                <a:ea typeface="+mn-lt"/>
                <a:cs typeface="+mn-lt"/>
              </a:rPr>
              <a:t> - Puppet Visual Studio Code Extension.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For further extensions check </a:t>
            </a:r>
            <a:r>
              <a:rPr lang="en-US" sz="1200">
                <a:ea typeface="+mn-lt"/>
                <a:cs typeface="+mn-lt"/>
                <a:hlinkClick r:id="rId8"/>
              </a:rPr>
              <a:t>VSCode marketplace</a:t>
            </a:r>
            <a:r>
              <a:rPr lang="en-US" sz="1200">
                <a:ea typeface="+mn-lt"/>
                <a:cs typeface="+mn-lt"/>
              </a:rPr>
              <a:t>.</a:t>
            </a:r>
          </a:p>
        </p:txBody>
      </p:sp>
      <p:pic>
        <p:nvPicPr>
          <p:cNvPr id="3" name="Picture 4" descr="Qr code&#10;&#10;Description automatically generated">
            <a:extLst>
              <a:ext uri="{FF2B5EF4-FFF2-40B4-BE49-F238E27FC236}">
                <a16:creationId xmlns:a16="http://schemas.microsoft.com/office/drawing/2014/main" id="{60802D3F-7820-C0E0-25A7-0BED16552F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4036" y="35814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2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CD5D-F0C8-4C46-A615-E476A184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Puppet Debugger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728C7-4E23-0D43-ABBB-743BB6D983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8325" y="3765407"/>
            <a:ext cx="6454690" cy="2649107"/>
          </a:xfrm>
        </p:spPr>
        <p:txBody>
          <a:bodyPr/>
          <a:lstStyle/>
          <a:p>
            <a:pPr indent="-264795">
              <a:buNone/>
            </a:pPr>
            <a:r>
              <a:rPr lang="en-US" sz="1400" dirty="0"/>
              <a:t>      1. </a:t>
            </a:r>
            <a:r>
              <a:rPr lang="en-US" sz="1400" dirty="0">
                <a:hlinkClick r:id="rId2"/>
              </a:rPr>
              <a:t>Puppet in Wikipedia</a:t>
            </a:r>
            <a:br>
              <a:rPr lang="en-US" sz="1400" dirty="0"/>
            </a:br>
            <a:r>
              <a:rPr lang="en-US" sz="1400" dirty="0"/>
              <a:t>2. </a:t>
            </a:r>
            <a:r>
              <a:rPr lang="en-US" sz="1400" dirty="0">
                <a:hlinkClick r:id="rId3"/>
              </a:rPr>
              <a:t>Docker Installation</a:t>
            </a:r>
            <a:br>
              <a:rPr lang="en-US" sz="1400" dirty="0"/>
            </a:br>
            <a:r>
              <a:rPr lang="en-US" sz="1400" dirty="0"/>
              <a:t>3. </a:t>
            </a:r>
            <a:r>
              <a:rPr lang="en-US" sz="1400" dirty="0">
                <a:hlinkClick r:id="rId4"/>
              </a:rPr>
              <a:t>Puppet Language Basics</a:t>
            </a:r>
            <a:br>
              <a:rPr lang="en-US" sz="1400" dirty="0"/>
            </a:br>
            <a:r>
              <a:rPr lang="en-US" sz="1400" dirty="0"/>
              <a:t>4. </a:t>
            </a:r>
            <a:r>
              <a:rPr lang="en-US" sz="1400" dirty="0">
                <a:hlinkClick r:id="rId5"/>
              </a:rPr>
              <a:t>Puppet Forge</a:t>
            </a:r>
            <a:br>
              <a:rPr lang="en-US" sz="1400" dirty="0"/>
            </a:br>
            <a:r>
              <a:rPr lang="en-US" sz="1400" dirty="0"/>
              <a:t>5.</a:t>
            </a:r>
            <a:r>
              <a:rPr lang="en-US" sz="1400" dirty="0">
                <a:hlinkClick r:id="rId6"/>
              </a:rPr>
              <a:t> </a:t>
            </a:r>
            <a:r>
              <a:rPr lang="en-US" sz="1400" dirty="0">
                <a:hlinkClick r:id="rId7"/>
              </a:rPr>
              <a:t>Puppet Debugger</a:t>
            </a:r>
            <a:br>
              <a:rPr lang="en-US" sz="1400" dirty="0"/>
            </a:br>
            <a:r>
              <a:rPr lang="en-US" sz="1400" dirty="0"/>
              <a:t>6. </a:t>
            </a:r>
            <a:r>
              <a:rPr lang="en-US" sz="1400" dirty="0">
                <a:hlinkClick r:id="rId8"/>
              </a:rPr>
              <a:t>Using the Puppet Debugger for Lightweight Exploration -Corey Osman</a:t>
            </a:r>
            <a:br>
              <a:rPr lang="en-US" sz="1400" dirty="0"/>
            </a:br>
            <a:r>
              <a:rPr lang="en-US" sz="1400" dirty="0"/>
              <a:t>7. </a:t>
            </a:r>
            <a:r>
              <a:rPr lang="en-US" sz="1400" dirty="0">
                <a:hlinkClick r:id="rId9"/>
              </a:rPr>
              <a:t>Puppet VS Code Tips and tricks</a:t>
            </a:r>
            <a:br>
              <a:rPr lang="en-US" sz="1400" dirty="0"/>
            </a:br>
            <a:r>
              <a:rPr lang="en-US" sz="1400" dirty="0"/>
              <a:t>8. </a:t>
            </a:r>
            <a:r>
              <a:rPr lang="en-US" sz="1400" dirty="0">
                <a:hlinkClick r:id="rId10"/>
              </a:rPr>
              <a:t>Puppet YouTube Channel</a:t>
            </a:r>
            <a:br>
              <a:rPr lang="en-US" sz="1400" dirty="0"/>
            </a:br>
            <a:r>
              <a:rPr lang="en-US" sz="1400" dirty="0"/>
              <a:t>9. </a:t>
            </a:r>
            <a:r>
              <a:rPr lang="en-US" sz="1400" dirty="0">
                <a:hlinkClick r:id="rId11"/>
              </a:rPr>
              <a:t>Puppet Cookbook</a:t>
            </a:r>
            <a:br>
              <a:rPr lang="en-US" sz="1400" dirty="0"/>
            </a:br>
            <a:r>
              <a:rPr lang="en-US" sz="1400" dirty="0"/>
              <a:t>0. </a:t>
            </a:r>
            <a:r>
              <a:rPr lang="en-US" sz="1400" dirty="0">
                <a:hlinkClick r:id="rId12"/>
              </a:rPr>
              <a:t>Awesome Puppet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C8B4B8-79A1-4B41-8801-39D2A5685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References</a:t>
            </a:r>
            <a:endParaRPr lang="en-US"/>
          </a:p>
        </p:txBody>
      </p:sp>
      <p:pic>
        <p:nvPicPr>
          <p:cNvPr id="5" name="Picture 5" descr="Icon&#10;&#10;Description automatically generated">
            <a:extLst>
              <a:ext uri="{FF2B5EF4-FFF2-40B4-BE49-F238E27FC236}">
                <a16:creationId xmlns:a16="http://schemas.microsoft.com/office/drawing/2014/main" id="{E4F9AA8C-7A3A-2901-0647-0F639B48EDD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670" y="1437844"/>
            <a:ext cx="2204225" cy="199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6497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089B-02B1-B14D-BBDA-C2F6DB57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Accelerate with Confidence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9493A-7B0C-C546-9515-045C460E5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Experience with Hundreds of tools and Platforms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E59AC-BCFB-D247-ADB6-8DC926983D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200"/>
              <a:t>Our experience with software development</a:t>
            </a:r>
            <a:br>
              <a:rPr lang="en-US" sz="2200"/>
            </a:br>
            <a:r>
              <a:rPr lang="en-US" sz="2200"/>
              <a:t>tools and technologies </a:t>
            </a:r>
            <a:r>
              <a:rPr lang="en-US" sz="2200">
                <a:solidFill>
                  <a:srgbClr val="FABD00"/>
                </a:solidFill>
              </a:rPr>
              <a:t>accelerates deliverables and remove risks </a:t>
            </a:r>
            <a:r>
              <a:rPr lang="en-US" sz="2200"/>
              <a:t>from schedules and budgets</a:t>
            </a:r>
          </a:p>
        </p:txBody>
      </p:sp>
    </p:spTree>
    <p:extLst>
      <p:ext uri="{BB962C8B-B14F-4D97-AF65-F5344CB8AC3E}">
        <p14:creationId xmlns:p14="http://schemas.microsoft.com/office/powerpoint/2010/main" val="470067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3BBBFC-4BEC-E14F-B631-281F22254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912686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aitan is Now Enco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Daitan is Now Encora</vt:lpstr>
      <vt:lpstr>Puppet Debugger</vt:lpstr>
      <vt:lpstr>Puppet Debugger</vt:lpstr>
      <vt:lpstr>Puppet Debugger</vt:lpstr>
      <vt:lpstr>Puppet Debugger</vt:lpstr>
      <vt:lpstr>PowerPoint Presentation</vt:lpstr>
      <vt:lpstr>Puppet </vt:lpstr>
      <vt:lpstr>Puppet</vt:lpstr>
      <vt:lpstr>Puppet Debugger </vt:lpstr>
      <vt:lpstr>Puppet Language Basics </vt:lpstr>
      <vt:lpstr>Puppet Language Basics </vt:lpstr>
      <vt:lpstr>Puppet Language Basics</vt:lpstr>
      <vt:lpstr>Puppet Language Basics </vt:lpstr>
      <vt:lpstr>Puppet Language Basics </vt:lpstr>
      <vt:lpstr>Puppet Language Basics </vt:lpstr>
      <vt:lpstr>Puppet Language Basics </vt:lpstr>
      <vt:lpstr>Puppet Language Basics </vt:lpstr>
      <vt:lpstr>Puppet Language Basics</vt:lpstr>
      <vt:lpstr>Puppet Language Basics</vt:lpstr>
      <vt:lpstr>Puppet Language Basics</vt:lpstr>
      <vt:lpstr>Puppet Language Basics</vt:lpstr>
      <vt:lpstr>Puppet Language Basics</vt:lpstr>
      <vt:lpstr>Puppet Debugger</vt:lpstr>
      <vt:lpstr>Puppet Debugger </vt:lpstr>
      <vt:lpstr>Puppet Debugger Commands </vt:lpstr>
      <vt:lpstr>Puppet Debugger Commands </vt:lpstr>
      <vt:lpstr>Puppet Debugger Commands </vt:lpstr>
      <vt:lpstr>Puppet Debugger Commands </vt:lpstr>
      <vt:lpstr>Puppet Debugger Commands </vt:lpstr>
      <vt:lpstr>Puppet Debugger Commands </vt:lpstr>
      <vt:lpstr>Puppet Debugger Commands </vt:lpstr>
      <vt:lpstr>Puppet Debugger Commands </vt:lpstr>
      <vt:lpstr>Puppet Debugger Commands </vt:lpstr>
      <vt:lpstr>Puppet Debugger Commands </vt:lpstr>
      <vt:lpstr>Puppet Debugger Commands</vt:lpstr>
      <vt:lpstr>Puppet Debugger Commands</vt:lpstr>
      <vt:lpstr>Puppet Debugger </vt:lpstr>
      <vt:lpstr>Puppet Debugger</vt:lpstr>
      <vt:lpstr>Accelerate with Confidence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608</cp:revision>
  <dcterms:created xsi:type="dcterms:W3CDTF">2022-04-09T05:13:41Z</dcterms:created>
  <dcterms:modified xsi:type="dcterms:W3CDTF">2022-05-25T03:15:51Z</dcterms:modified>
</cp:coreProperties>
</file>